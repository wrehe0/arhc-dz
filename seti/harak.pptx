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Средний стиль 3 -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Светлый стиль 1 -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1109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F4852-1B11-460D-8B42-1378789DD831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CFB2D-CF64-40A7-9AB9-85CF1037781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CFB2D-CF64-40A7-9AB9-85CF1037781B}" type="slidenum">
              <a:rPr lang="ru-RU" smtClean="0"/>
              <a:t>21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39942" cy="6858001"/>
          </a:xfrm>
          <a:prstGeom prst="rect">
            <a:avLst/>
          </a:prstGeom>
          <a:noFill/>
        </p:spPr>
      </p:pic>
      <p:sp>
        <p:nvSpPr>
          <p:cNvPr id="6" name="Скругленный прямоугольник 5"/>
          <p:cNvSpPr/>
          <p:nvPr/>
        </p:nvSpPr>
        <p:spPr>
          <a:xfrm>
            <a:off x="827584" y="4221088"/>
            <a:ext cx="7632848" cy="172819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717032"/>
            <a:ext cx="9144000" cy="2664296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SemiBold" pitchFamily="34" charset="0"/>
              </a:rPr>
              <a:t>Сетевые характеристики и качество обслуживания</a:t>
            </a:r>
            <a:endParaRPr lang="ru-RU" dirty="0">
              <a:latin typeface="Bahnschrift SemiBold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5445224"/>
            <a:ext cx="104056" cy="193576"/>
          </a:xfrm>
        </p:spPr>
        <p:txBody>
          <a:bodyPr>
            <a:normAutofit fontScale="25000" lnSpcReduction="20000"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96552" y="116632"/>
            <a:ext cx="6588224" cy="1143000"/>
          </a:xfrm>
        </p:spPr>
        <p:txBody>
          <a:bodyPr>
            <a:noAutofit/>
          </a:bodyPr>
          <a:lstStyle/>
          <a:p>
            <a:r>
              <a:rPr lang="ru-RU" sz="3600" dirty="0" smtClean="0">
                <a:latin typeface="Bahnschrift SemiBold" pitchFamily="34" charset="0"/>
              </a:rPr>
              <a:t>Что такое качество обслуживания?</a:t>
            </a:r>
            <a:endParaRPr lang="ru-RU" sz="36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12776"/>
            <a:ext cx="7499176" cy="211683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Bahnschrift SemiCondensed" pitchFamily="34" charset="0"/>
              </a:rPr>
              <a:t>Субъективные оценки пользователя:</a:t>
            </a:r>
          </a:p>
          <a:p>
            <a:r>
              <a:rPr lang="ru-RU" dirty="0" smtClean="0">
                <a:latin typeface="Bahnschrift SemiCondensed" pitchFamily="34" charset="0"/>
              </a:rPr>
              <a:t>"Быстро, без задержек"</a:t>
            </a:r>
          </a:p>
          <a:p>
            <a:r>
              <a:rPr lang="ru-RU" dirty="0" smtClean="0">
                <a:latin typeface="Bahnschrift SemiCondensed" pitchFamily="34" charset="0"/>
              </a:rPr>
              <a:t>"Данные не теряются"</a:t>
            </a:r>
          </a:p>
          <a:p>
            <a:r>
              <a:rPr lang="ru-RU" dirty="0" smtClean="0">
                <a:latin typeface="Bahnschrift SemiCondensed" pitchFamily="34" charset="0"/>
              </a:rPr>
              <a:t>"Доступно 24/7"</a:t>
            </a:r>
          </a:p>
          <a:p>
            <a:r>
              <a:rPr lang="ru-RU" dirty="0" smtClean="0">
                <a:latin typeface="Bahnschrift SemiCondensed" pitchFamily="34" charset="0"/>
              </a:rPr>
              <a:t>"Служба поддержки помогает"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3789040"/>
          <a:ext cx="5256584" cy="288032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2304256"/>
                <a:gridCol w="2952328"/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Пользователь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Поставщик услуг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Скорость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Баланс ресурсов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Надежность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Производительность оборудования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Безопасность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Планирование и контроль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338" name="Picture 2" descr="https://i.pinimg.com/736x/90/67/9e/90679e23ef4460ec849f1d15e826ff5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9" y="0"/>
            <a:ext cx="3419872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5157192"/>
            <a:ext cx="1800200" cy="1800200"/>
          </a:xfrm>
          <a:prstGeom prst="rect">
            <a:avLst/>
          </a:prstGeom>
          <a:noFill/>
        </p:spPr>
      </p:pic>
      <p:pic>
        <p:nvPicPr>
          <p:cNvPr id="15364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07400"/>
            <a:ext cx="1979712" cy="1850600"/>
          </a:xfrm>
          <a:prstGeom prst="rect">
            <a:avLst/>
          </a:prstGeom>
          <a:noFill/>
        </p:spPr>
      </p:pic>
      <p:pic>
        <p:nvPicPr>
          <p:cNvPr id="15362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5436096" y="3227221"/>
            <a:ext cx="4104456" cy="363077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SemiBold" pitchFamily="34" charset="0"/>
              </a:rPr>
              <a:t>Шкала времени и </a:t>
            </a:r>
            <a:r>
              <a:rPr lang="en-US" dirty="0" smtClean="0">
                <a:latin typeface="Bahnschrift SemiBold" pitchFamily="34" charset="0"/>
              </a:rPr>
              <a:t>SLA</a:t>
            </a:r>
            <a:endParaRPr lang="ru-RU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8229600" cy="4493096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latin typeface="Bahnschrift SemiCondensed" pitchFamily="34" charset="0"/>
              </a:rPr>
              <a:t>Характеристики по времени: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b="1" dirty="0" smtClean="0">
                <a:latin typeface="Bahnschrift SemiCondensed" pitchFamily="34" charset="0"/>
              </a:rPr>
              <a:t>Долгосрочные</a:t>
            </a:r>
            <a:r>
              <a:rPr lang="ru-RU" sz="2800" dirty="0" smtClean="0">
                <a:latin typeface="Bahnschrift SemiCondensed" pitchFamily="34" charset="0"/>
              </a:rPr>
              <a:t> (годы): топология, оборудование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Среднесрочные</a:t>
            </a:r>
            <a:r>
              <a:rPr lang="ru-RU" sz="2800" dirty="0" smtClean="0">
                <a:latin typeface="Bahnschrift SemiCondensed" pitchFamily="34" charset="0"/>
              </a:rPr>
              <a:t> (дни): средняя задержка, загрузка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Краткосрочные</a:t>
            </a:r>
            <a:r>
              <a:rPr lang="ru-RU" sz="2800" dirty="0" smtClean="0">
                <a:latin typeface="Bahnschrift SemiCondensed" pitchFamily="34" charset="0"/>
              </a:rPr>
              <a:t> (мкс-мс): время в очереди, </a:t>
            </a:r>
            <a:r>
              <a:rPr lang="ru-RU" sz="2800" dirty="0" err="1" smtClean="0">
                <a:latin typeface="Bahnschrift SemiCondensed" pitchFamily="34" charset="0"/>
              </a:rPr>
              <a:t>джиттер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b="1" dirty="0" smtClean="0">
                <a:latin typeface="Bahnschrift SemiCondensed" pitchFamily="34" charset="0"/>
              </a:rPr>
              <a:t>SLA (</a:t>
            </a:r>
            <a:r>
              <a:rPr lang="ru-RU" sz="2800" b="1" dirty="0" err="1" smtClean="0">
                <a:latin typeface="Bahnschrift SemiCondensed" pitchFamily="34" charset="0"/>
              </a:rPr>
              <a:t>Service</a:t>
            </a:r>
            <a:r>
              <a:rPr lang="ru-RU" sz="2800" b="1" dirty="0" smtClean="0">
                <a:latin typeface="Bahnschrift SemiCondensed" pitchFamily="34" charset="0"/>
              </a:rPr>
              <a:t> </a:t>
            </a:r>
            <a:r>
              <a:rPr lang="ru-RU" sz="2800" b="1" dirty="0" err="1" smtClean="0">
                <a:latin typeface="Bahnschrift SemiCondensed" pitchFamily="34" charset="0"/>
              </a:rPr>
              <a:t>Level</a:t>
            </a:r>
            <a:r>
              <a:rPr lang="ru-RU" sz="2800" b="1" dirty="0" smtClean="0">
                <a:latin typeface="Bahnschrift SemiCondensed" pitchFamily="34" charset="0"/>
              </a:rPr>
              <a:t> </a:t>
            </a:r>
            <a:r>
              <a:rPr lang="ru-RU" sz="2800" b="1" dirty="0" err="1" smtClean="0">
                <a:latin typeface="Bahnschrift SemiCondensed" pitchFamily="34" charset="0"/>
              </a:rPr>
              <a:t>Agreement</a:t>
            </a:r>
            <a:r>
              <a:rPr lang="ru-RU" sz="2800" b="1" dirty="0" smtClean="0">
                <a:latin typeface="Bahnschrift SemiCondensed" pitchFamily="34" charset="0"/>
              </a:rPr>
              <a:t>):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dirty="0" smtClean="0">
                <a:latin typeface="Bahnschrift SemiCondensed" pitchFamily="34" charset="0"/>
              </a:rPr>
              <a:t>Договор в КОЛИЧЕСТВЕННЫХ терминах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Пример: "скорость ≥ 3 Мбит/с, потери = 0"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Оговариваются методы измерений</a:t>
            </a:r>
          </a:p>
        </p:txBody>
      </p:sp>
      <p:pic>
        <p:nvPicPr>
          <p:cNvPr id="15370" name="Picture 10" descr="Изображение пина-истории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373216"/>
            <a:ext cx="1296144" cy="12961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SemiBold" pitchFamily="34" charset="0"/>
              </a:rPr>
              <a:t>Идеальная </a:t>
            </a:r>
            <a:r>
              <a:rPr lang="en-US" dirty="0" err="1" smtClean="0">
                <a:latin typeface="Bahnschrift SemiBold" pitchFamily="34" charset="0"/>
              </a:rPr>
              <a:t>vs</a:t>
            </a:r>
            <a:r>
              <a:rPr lang="en-US" dirty="0" smtClean="0">
                <a:latin typeface="Bahnschrift SemiBold" pitchFamily="34" charset="0"/>
              </a:rPr>
              <a:t> </a:t>
            </a:r>
            <a:r>
              <a:rPr lang="ru-RU" dirty="0" smtClean="0">
                <a:latin typeface="Bahnschrift SemiBold" pitchFamily="34" charset="0"/>
              </a:rPr>
              <a:t>Реальная сеть</a:t>
            </a:r>
            <a:endParaRPr lang="ru-RU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4896543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>
                <a:latin typeface="Bahnschrift SemiCondensed" pitchFamily="34" charset="0"/>
              </a:rPr>
              <a:t>Идеал:</a:t>
            </a:r>
            <a:r>
              <a:rPr lang="ru-RU" dirty="0" smtClean="0">
                <a:latin typeface="Bahnschrift SemiCondensed" pitchFamily="34" charset="0"/>
              </a:rPr>
              <a:t> все пакеты доставлены с минимальной задержкой, без потерь, в исходном порядке</a:t>
            </a:r>
          </a:p>
          <a:p>
            <a:pPr algn="just"/>
            <a:r>
              <a:rPr lang="ru-RU" b="1" dirty="0" smtClean="0">
                <a:latin typeface="Bahnschrift SemiCondensed" pitchFamily="34" charset="0"/>
              </a:rPr>
              <a:t>Реальность:</a:t>
            </a:r>
            <a:endParaRPr lang="ru-RU" dirty="0" smtClean="0">
              <a:latin typeface="Bahnschrift SemiCondensed" pitchFamily="34" charset="0"/>
            </a:endParaRPr>
          </a:p>
          <a:p>
            <a:pPr algn="just"/>
            <a:r>
              <a:rPr lang="ru-RU" dirty="0" smtClean="0">
                <a:latin typeface="Bahnschrift SemiCondensed" pitchFamily="34" charset="0"/>
              </a:rPr>
              <a:t>Задержки разные (d1 ≠ d2)</a:t>
            </a:r>
          </a:p>
          <a:p>
            <a:pPr algn="just"/>
            <a:r>
              <a:rPr lang="ru-RU" dirty="0" err="1" smtClean="0">
                <a:latin typeface="Bahnschrift SemiCondensed" pitchFamily="34" charset="0"/>
              </a:rPr>
              <a:t>Джиттер</a:t>
            </a:r>
            <a:r>
              <a:rPr lang="ru-RU" dirty="0" smtClean="0">
                <a:latin typeface="Bahnschrift SemiCondensed" pitchFamily="34" charset="0"/>
              </a:rPr>
              <a:t> — вариация задержки</a:t>
            </a:r>
          </a:p>
          <a:p>
            <a:pPr algn="just"/>
            <a:r>
              <a:rPr lang="ru-RU" dirty="0" smtClean="0">
                <a:latin typeface="Bahnschrift SemiCondensed" pitchFamily="34" charset="0"/>
              </a:rPr>
              <a:t>Потери и дублирование</a:t>
            </a:r>
          </a:p>
          <a:p>
            <a:pPr algn="just"/>
            <a:r>
              <a:rPr lang="ru-RU" dirty="0" smtClean="0">
                <a:latin typeface="Bahnschrift SemiCondensed" pitchFamily="34" charset="0"/>
              </a:rPr>
              <a:t>Пакеты меняют порядок</a:t>
            </a:r>
          </a:p>
          <a:p>
            <a:pPr algn="just"/>
            <a:r>
              <a:rPr lang="ru-RU" dirty="0" smtClean="0">
                <a:latin typeface="Bahnschrift SemiCondensed" pitchFamily="34" charset="0"/>
              </a:rPr>
              <a:t>Скорость на входе ≠ скорости на выходе</a:t>
            </a:r>
          </a:p>
        </p:txBody>
      </p:sp>
      <p:pic>
        <p:nvPicPr>
          <p:cNvPr id="16388" name="Picture 4" descr="https://i.pinimg.com/236x/56/a4/bc/56a4bc9edbd2304c94f857b6124b5cb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348880"/>
            <a:ext cx="2915816" cy="30647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.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139952" y="5301208"/>
            <a:ext cx="1018456" cy="32089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544616" cy="338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3284984"/>
            <a:ext cx="6174258" cy="3434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861048"/>
            <a:ext cx="2664296" cy="2324019"/>
          </a:xfrm>
          <a:prstGeom prst="rect">
            <a:avLst/>
          </a:prstGeom>
          <a:noFill/>
        </p:spPr>
      </p:pic>
      <p:pic>
        <p:nvPicPr>
          <p:cNvPr id="8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404664"/>
            <a:ext cx="2664296" cy="23240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435280" cy="83671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SemiBold" pitchFamily="34" charset="0"/>
              </a:rPr>
              <a:t>Активные и пассивные измерения</a:t>
            </a:r>
            <a:endParaRPr lang="ru-RU" dirty="0">
              <a:latin typeface="Bahnschrift SemiBold" pitchFamily="34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836712"/>
          <a:ext cx="8229600" cy="1526768"/>
        </p:xfrm>
        <a:graphic>
          <a:graphicData uri="http://schemas.openxmlformats.org/drawingml/2006/table">
            <a:tbl>
              <a:tblPr firstRow="1">
                <a:tableStyleId>{85BE263C-DBD7-4A20-BB59-AAB30ACAA65A}</a:tableStyleId>
              </a:tblPr>
              <a:tblGrid>
                <a:gridCol w="4114800"/>
                <a:gridCol w="4114800"/>
              </a:tblGrid>
              <a:tr h="414248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Активные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Пассивные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Тестовые</a:t>
                      </a:r>
                      <a:r>
                        <a:rPr lang="ru-RU" baseline="0" dirty="0" smtClean="0">
                          <a:latin typeface="Bahnschrift SemiCondensed" pitchFamily="34" charset="0"/>
                        </a:rPr>
                        <a:t> пакеты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Анализ реального трафика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Высокая точность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Не влияет на сеть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Создают доп.нагрузку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Bahnschrift SemiCondensed" pitchFamily="34" charset="0"/>
                        </a:rPr>
                        <a:t>Сложная синхронизация</a:t>
                      </a:r>
                      <a:endParaRPr lang="ru-RU" dirty="0">
                        <a:latin typeface="Bahnschrift SemiCondensed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492896"/>
            <a:ext cx="4896544" cy="220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649563"/>
            <a:ext cx="4598304" cy="220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26065" y="2636912"/>
            <a:ext cx="3610431" cy="41145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291264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SemiBold" pitchFamily="34" charset="0"/>
              </a:rPr>
              <a:t>Характеристики задержек и скорости</a:t>
            </a:r>
            <a:endParaRPr lang="ru-RU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3168352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latin typeface="Bahnschrift SemiCondensed" pitchFamily="34" charset="0"/>
              </a:rPr>
              <a:t>Задержки: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b="1" dirty="0" smtClean="0">
                <a:latin typeface="Bahnschrift SemiCondensed" pitchFamily="34" charset="0"/>
              </a:rPr>
              <a:t>OWD</a:t>
            </a:r>
            <a:r>
              <a:rPr lang="ru-RU" sz="2000" dirty="0" smtClean="0">
                <a:latin typeface="Bahnschrift SemiCondensed" pitchFamily="34" charset="0"/>
              </a:rPr>
              <a:t> — время от первого бита до последнего (одна сторона)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RTT</a:t>
            </a:r>
            <a:r>
              <a:rPr lang="ru-RU" sz="2000" dirty="0" smtClean="0">
                <a:latin typeface="Bahnschrift SemiCondensed" pitchFamily="34" charset="0"/>
              </a:rPr>
              <a:t> — туда и обратно (удобно для измерения, но теряет детали)</a:t>
            </a:r>
          </a:p>
          <a:p>
            <a:r>
              <a:rPr lang="ru-RU" sz="2000" b="1" dirty="0" err="1" smtClean="0">
                <a:latin typeface="Bahnschrift SemiCondensed" pitchFamily="34" charset="0"/>
              </a:rPr>
              <a:t>Jitter</a:t>
            </a:r>
            <a:r>
              <a:rPr lang="ru-RU" sz="2000" dirty="0" smtClean="0">
                <a:latin typeface="Bahnschrift SemiCondensed" pitchFamily="34" charset="0"/>
              </a:rPr>
              <a:t> — разница задержек между пакетами (критично для голоса/видео)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Скорость: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b="1" dirty="0" smtClean="0">
                <a:latin typeface="Bahnschrift SemiCondensed" pitchFamily="34" charset="0"/>
              </a:rPr>
              <a:t>SIR (средняя)</a:t>
            </a:r>
            <a:r>
              <a:rPr lang="ru-RU" sz="2000" dirty="0" smtClean="0">
                <a:latin typeface="Bahnschrift SemiCondensed" pitchFamily="34" charset="0"/>
              </a:rPr>
              <a:t> — на большом периоде (для тарификации)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IIR (мгновенная)</a:t>
            </a:r>
            <a:r>
              <a:rPr lang="ru-RU" sz="2000" dirty="0" smtClean="0">
                <a:latin typeface="Bahnschrift SemiCondensed" pitchFamily="34" charset="0"/>
              </a:rPr>
              <a:t> — в данный момент (0 или 1 Гбит/с)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PIR (пиковая)</a:t>
            </a:r>
            <a:r>
              <a:rPr lang="ru-RU" sz="2000" dirty="0" smtClean="0">
                <a:latin typeface="Bahnschrift SemiCondensed" pitchFamily="34" charset="0"/>
              </a:rPr>
              <a:t> — во время всплеска (коэффициент пульсации = PIR/SIR)</a:t>
            </a: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09120"/>
            <a:ext cx="39624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4149080"/>
            <a:ext cx="5220072" cy="249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sz="4000" b="1" dirty="0" smtClean="0">
                <a:latin typeface="Bahnschrift SemiBold" pitchFamily="34" charset="0"/>
              </a:rPr>
              <a:t>Надежность и доступность</a:t>
            </a:r>
            <a:endParaRPr lang="ru-RU" sz="40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5"/>
            <a:ext cx="8229600" cy="3168352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Bahnschrift SemiCondensed" pitchFamily="34" charset="0"/>
              </a:rPr>
              <a:t>Потери пакетов (L):</a:t>
            </a:r>
            <a:r>
              <a:rPr lang="ru-RU" sz="2800" dirty="0" smtClean="0">
                <a:latin typeface="Bahnschrift SemiCondensed" pitchFamily="34" charset="0"/>
              </a:rPr>
              <a:t> L = потерянные / всего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Доступность: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dirty="0" smtClean="0">
                <a:latin typeface="Bahnschrift SemiCondensed" pitchFamily="34" charset="0"/>
              </a:rPr>
              <a:t>"3 девятки" (99.9%) ≈ 8.8 часов простоя в год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"5 девяток" (0.99999%) ≈ 5 минут простоя в год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Отказоустойчивость:</a:t>
            </a:r>
            <a:r>
              <a:rPr lang="ru-RU" sz="2800" dirty="0" smtClean="0">
                <a:latin typeface="Bahnschrift SemiCondensed" pitchFamily="34" charset="0"/>
              </a:rPr>
              <a:t> сохранение работы (возможно, с деградацией) при отказе компонентов</a:t>
            </a:r>
          </a:p>
          <a:p>
            <a:endParaRPr lang="ru-RU" dirty="0"/>
          </a:p>
        </p:txBody>
      </p:sp>
      <p:pic>
        <p:nvPicPr>
          <p:cNvPr id="20482" name="Picture 2" descr="https://i.pinimg.com/736x/b3/c1/e0/b3c1e074af7be93b054e1e6f48ac72ea.jpg"/>
          <p:cNvPicPr>
            <a:picLocks noChangeAspect="1" noChangeArrowheads="1"/>
          </p:cNvPicPr>
          <p:nvPr/>
        </p:nvPicPr>
        <p:blipFill>
          <a:blip r:embed="rId2" cstate="print"/>
          <a:srcRect r="6041"/>
          <a:stretch>
            <a:fillRect/>
          </a:stretch>
        </p:blipFill>
        <p:spPr bwMode="auto">
          <a:xfrm>
            <a:off x="0" y="3861048"/>
            <a:ext cx="9144000" cy="29969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02322" y="1340768"/>
            <a:ext cx="494167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latin typeface="Bahnschrift SemiBold" pitchFamily="34" charset="0"/>
              </a:rPr>
              <a:t>Классификация приложений по трафику</a:t>
            </a:r>
            <a:endParaRPr lang="ru-RU" sz="36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12776"/>
            <a:ext cx="442798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 smtClean="0">
                <a:latin typeface="Bahnschrift SemiCondensed" pitchFamily="34" charset="0"/>
              </a:rPr>
              <a:t>Потоковый (CBR):</a:t>
            </a:r>
            <a:endParaRPr lang="ru-RU" sz="2400" dirty="0" smtClean="0">
              <a:latin typeface="Bahnschrift SemiCondensed" pitchFamily="34" charset="0"/>
            </a:endParaRPr>
          </a:p>
          <a:p>
            <a:pPr>
              <a:buNone/>
            </a:pPr>
            <a:r>
              <a:rPr lang="ru-RU" sz="2400" dirty="0" smtClean="0">
                <a:latin typeface="Bahnschrift SemiCondensed" pitchFamily="34" charset="0"/>
              </a:rPr>
              <a:t>Постоянная скорость, равные интервалы</a:t>
            </a:r>
          </a:p>
          <a:p>
            <a:pPr>
              <a:buNone/>
            </a:pPr>
            <a:r>
              <a:rPr lang="ru-RU" sz="2400" dirty="0" smtClean="0">
                <a:latin typeface="Bahnschrift SemiCondensed" pitchFamily="34" charset="0"/>
              </a:rPr>
              <a:t>Пример: голос, видеоконференция</a:t>
            </a:r>
          </a:p>
          <a:p>
            <a:pPr>
              <a:buNone/>
            </a:pPr>
            <a:r>
              <a:rPr lang="ru-RU" sz="2400" b="1" dirty="0" smtClean="0">
                <a:latin typeface="Bahnschrift SemiCondensed" pitchFamily="34" charset="0"/>
              </a:rPr>
              <a:t>Пульсирующий (VBR):</a:t>
            </a:r>
            <a:endParaRPr lang="ru-RU" sz="2400" dirty="0" smtClean="0">
              <a:latin typeface="Bahnschrift SemiCondensed" pitchFamily="34" charset="0"/>
            </a:endParaRPr>
          </a:p>
          <a:p>
            <a:pPr>
              <a:buNone/>
            </a:pPr>
            <a:r>
              <a:rPr lang="ru-RU" sz="2400" dirty="0" smtClean="0">
                <a:latin typeface="Bahnschrift SemiCondensed" pitchFamily="34" charset="0"/>
              </a:rPr>
              <a:t>Переменная скорость, всплески и паузы</a:t>
            </a:r>
          </a:p>
          <a:p>
            <a:pPr>
              <a:buNone/>
            </a:pPr>
            <a:r>
              <a:rPr lang="ru-RU" sz="2400" dirty="0" smtClean="0">
                <a:latin typeface="Bahnschrift SemiCondensed" pitchFamily="34" charset="0"/>
              </a:rPr>
              <a:t>Коэффициент пульсации = 2–100</a:t>
            </a:r>
          </a:p>
          <a:p>
            <a:pPr>
              <a:buNone/>
            </a:pPr>
            <a:r>
              <a:rPr lang="ru-RU" sz="2400" dirty="0" smtClean="0">
                <a:latin typeface="Bahnschrift SemiCondensed" pitchFamily="34" charset="0"/>
              </a:rPr>
              <a:t>Пример: </a:t>
            </a:r>
            <a:r>
              <a:rPr lang="ru-RU" sz="2400" dirty="0" err="1" smtClean="0">
                <a:latin typeface="Bahnschrift SemiCondensed" pitchFamily="34" charset="0"/>
              </a:rPr>
              <a:t>веб-серфинг</a:t>
            </a:r>
            <a:r>
              <a:rPr lang="ru-RU" sz="2400" dirty="0" smtClean="0">
                <a:latin typeface="Bahnschrift SemiCondensed" pitchFamily="34" charset="0"/>
              </a:rPr>
              <a:t>, файлы</a:t>
            </a:r>
          </a:p>
        </p:txBody>
      </p:sp>
      <p:pic>
        <p:nvPicPr>
          <p:cNvPr id="21508" name="Picture 4" descr="https://i.pinimg.com/736x/2a/e4/39/2ae4390785d24aad546058fb68a827d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301208"/>
            <a:ext cx="9144000" cy="15567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https://i.pinimg.com/736x/85/6d/43/856d43895956a222b34e15b9aea23070.jpg"/>
          <p:cNvPicPr>
            <a:picLocks noChangeAspect="1" noChangeArrowheads="1"/>
          </p:cNvPicPr>
          <p:nvPr/>
        </p:nvPicPr>
        <p:blipFill>
          <a:blip r:embed="rId2" cstate="print"/>
          <a:srcRect l="36000" t="27771" r="37258" b="29030"/>
          <a:stretch>
            <a:fillRect/>
          </a:stretch>
        </p:blipFill>
        <p:spPr bwMode="auto">
          <a:xfrm flipH="1">
            <a:off x="6084168" y="4509120"/>
            <a:ext cx="1584176" cy="853018"/>
          </a:xfrm>
          <a:prstGeom prst="rect">
            <a:avLst/>
          </a:prstGeom>
          <a:noFill/>
        </p:spPr>
      </p:pic>
      <p:pic>
        <p:nvPicPr>
          <p:cNvPr id="22530" name="Picture 2" descr="https://i.pinimg.com/736x/54/93/06/5493064e05a4630f475fa91522e4c123.jpg"/>
          <p:cNvPicPr>
            <a:picLocks noChangeAspect="1" noChangeArrowheads="1"/>
          </p:cNvPicPr>
          <p:nvPr/>
        </p:nvPicPr>
        <p:blipFill>
          <a:blip r:embed="rId3" cstate="print"/>
          <a:srcRect l="38057" t="20106" r="41372"/>
          <a:stretch>
            <a:fillRect/>
          </a:stretch>
        </p:blipFill>
        <p:spPr bwMode="auto">
          <a:xfrm>
            <a:off x="7236296" y="2420888"/>
            <a:ext cx="1440160" cy="143066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Bahnschrift SemiBold" pitchFamily="34" charset="0"/>
              </a:rPr>
              <a:t>Чувствительность к задержкам и потерям</a:t>
            </a:r>
            <a:endParaRPr lang="ru-RU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b="1" dirty="0" smtClean="0">
                <a:latin typeface="Bahnschrift SemiCondensed" pitchFamily="34" charset="0"/>
              </a:rPr>
              <a:t>Чувствительность к задержкам (от низкой к высокой):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dirty="0" smtClean="0">
                <a:latin typeface="Bahnschrift SemiCondensed" pitchFamily="34" charset="0"/>
              </a:rPr>
              <a:t>Почта, файлы (секунды не страшны)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Удаленный редактор (заметно, но терпимо)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Голос/видео — порог 100-150 мс, дальше искажение</a:t>
            </a:r>
          </a:p>
          <a:p>
            <a:r>
              <a:rPr lang="ru-RU" sz="2800" dirty="0" smtClean="0">
                <a:latin typeface="Bahnschrift SemiCondensed" pitchFamily="34" charset="0"/>
              </a:rPr>
              <a:t>Управление роботами — опоздание = авария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Чувствительность к потерям:</a:t>
            </a:r>
            <a:endParaRPr lang="ru-RU" sz="2800" dirty="0" smtClean="0">
              <a:latin typeface="Bahnschrift SemiCondensed" pitchFamily="34" charset="0"/>
            </a:endParaRPr>
          </a:p>
          <a:p>
            <a:r>
              <a:rPr lang="ru-RU" sz="2800" b="1" dirty="0" smtClean="0">
                <a:latin typeface="Bahnschrift SemiCondensed" pitchFamily="34" charset="0"/>
              </a:rPr>
              <a:t>Высокая:</a:t>
            </a:r>
            <a:r>
              <a:rPr lang="ru-RU" sz="2800" dirty="0" smtClean="0">
                <a:latin typeface="Bahnschrift SemiCondensed" pitchFamily="34" charset="0"/>
              </a:rPr>
              <a:t> файлы, код, базы (потеря байта = ошибка)</a:t>
            </a:r>
          </a:p>
          <a:p>
            <a:r>
              <a:rPr lang="ru-RU" sz="2800" b="1" dirty="0" smtClean="0">
                <a:latin typeface="Bahnschrift SemiCondensed" pitchFamily="34" charset="0"/>
              </a:rPr>
              <a:t>Низкая:</a:t>
            </a:r>
            <a:r>
              <a:rPr lang="ru-RU" sz="2800" dirty="0" smtClean="0">
                <a:latin typeface="Bahnschrift SemiCondensed" pitchFamily="34" charset="0"/>
              </a:rPr>
              <a:t> голос, видео (можно интерполировать)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6300192" cy="1143000"/>
          </a:xfrm>
        </p:spPr>
        <p:txBody>
          <a:bodyPr>
            <a:noAutofit/>
          </a:bodyPr>
          <a:lstStyle/>
          <a:p>
            <a:r>
              <a:rPr lang="ru-RU" sz="3600" dirty="0" smtClean="0">
                <a:latin typeface="Bahnschrift SemiBold" pitchFamily="34" charset="0"/>
              </a:rPr>
              <a:t>Характеристики сети поставщика услуг</a:t>
            </a:r>
            <a:endParaRPr lang="ru-RU" sz="36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412776"/>
            <a:ext cx="5976664" cy="5328592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latin typeface="Bahnschrift SemiCondensed" pitchFamily="34" charset="0"/>
              </a:rPr>
              <a:t>Качественные характеристики (не измеряются числами):</a:t>
            </a:r>
          </a:p>
          <a:p>
            <a:r>
              <a:rPr lang="ru-RU" dirty="0" smtClean="0">
                <a:latin typeface="Bahnschrift SemiCondensed" pitchFamily="34" charset="0"/>
              </a:rPr>
              <a:t>Расширяемость — легко добавить узел (но есть пределы)</a:t>
            </a:r>
          </a:p>
          <a:p>
            <a:r>
              <a:rPr lang="ru-RU" dirty="0" err="1" smtClean="0">
                <a:latin typeface="Bahnschrift SemiCondensed" pitchFamily="34" charset="0"/>
              </a:rPr>
              <a:t>Масштабируемость</a:t>
            </a:r>
            <a:r>
              <a:rPr lang="ru-RU" dirty="0" smtClean="0">
                <a:latin typeface="Bahnschrift SemiCondensed" pitchFamily="34" charset="0"/>
              </a:rPr>
              <a:t> — рост без потери производительности</a:t>
            </a:r>
          </a:p>
          <a:p>
            <a:r>
              <a:rPr lang="ru-RU" dirty="0" smtClean="0">
                <a:latin typeface="Bahnschrift SemiCondensed" pitchFamily="34" charset="0"/>
              </a:rPr>
              <a:t>Управляемость — централизованный контроль</a:t>
            </a:r>
          </a:p>
          <a:p>
            <a:r>
              <a:rPr lang="ru-RU" dirty="0" smtClean="0">
                <a:latin typeface="Bahnschrift SemiCondensed" pitchFamily="34" charset="0"/>
              </a:rPr>
              <a:t>Совместимость — работа разнородного оборудования</a:t>
            </a:r>
            <a:endParaRPr lang="ru-RU" dirty="0">
              <a:latin typeface="Bahnschrift SemiCondensed" pitchFamily="34" charset="0"/>
            </a:endParaRPr>
          </a:p>
        </p:txBody>
      </p:sp>
      <p:pic>
        <p:nvPicPr>
          <p:cNvPr id="23554" name="Picture 2" descr="https://i.pinimg.com/736x/23/06/78/2306788fd8348e50a36e47497c70547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3680" y="0"/>
            <a:ext cx="288032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4365104"/>
            <a:ext cx="3645105" cy="225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140968"/>
            <a:ext cx="510804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Bahnschrift SemiBold" pitchFamily="34" charset="0"/>
              </a:rPr>
              <a:t>Анализ очередей (теория массового обслуживания</a:t>
            </a:r>
            <a:r>
              <a:rPr lang="ru-RU" sz="3200" dirty="0" smtClean="0">
                <a:latin typeface="Bahnschrift SemiBold" pitchFamily="34" charset="0"/>
              </a:rPr>
              <a:t>)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124745"/>
            <a:ext cx="8229600" cy="2160239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latin typeface="Bahnschrift SemiCondensed" pitchFamily="34" charset="0"/>
              </a:rPr>
              <a:t>Модель:</a:t>
            </a:r>
            <a:r>
              <a:rPr lang="ru-RU" sz="2000" dirty="0" smtClean="0">
                <a:latin typeface="Bahnschrift SemiCondensed" pitchFamily="34" charset="0"/>
              </a:rPr>
              <a:t> </a:t>
            </a:r>
            <a:r>
              <a:rPr lang="ru-RU" sz="2000" dirty="0" err="1" smtClean="0">
                <a:latin typeface="Bahnschrift SemiCondensed" pitchFamily="34" charset="0"/>
              </a:rPr>
              <a:t>λ </a:t>
            </a:r>
            <a:r>
              <a:rPr lang="ru-RU" sz="2000" dirty="0" smtClean="0">
                <a:latin typeface="Bahnschrift SemiCondensed" pitchFamily="34" charset="0"/>
              </a:rPr>
              <a:t>— интенсивность поступления, </a:t>
            </a:r>
            <a:r>
              <a:rPr lang="ru-RU" sz="2000" dirty="0" err="1" smtClean="0">
                <a:latin typeface="Bahnschrift SemiCondensed" pitchFamily="34" charset="0"/>
              </a:rPr>
              <a:t>μ </a:t>
            </a:r>
            <a:r>
              <a:rPr lang="ru-RU" sz="2000" dirty="0" smtClean="0">
                <a:latin typeface="Bahnschrift SemiCondensed" pitchFamily="34" charset="0"/>
              </a:rPr>
              <a:t>— скорость обработки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Коэффициент загрузки:</a:t>
            </a:r>
            <a:r>
              <a:rPr lang="ru-RU" sz="2000" dirty="0" smtClean="0">
                <a:latin typeface="Bahnschrift SemiCondensed" pitchFamily="34" charset="0"/>
              </a:rPr>
              <a:t> </a:t>
            </a:r>
            <a:r>
              <a:rPr lang="ru-RU" sz="2000" dirty="0" err="1" smtClean="0">
                <a:latin typeface="Bahnschrift SemiCondensed" pitchFamily="34" charset="0"/>
              </a:rPr>
              <a:t>ρ </a:t>
            </a:r>
            <a:r>
              <a:rPr lang="ru-RU" sz="2000" dirty="0" smtClean="0">
                <a:latin typeface="Bahnschrift SemiCondensed" pitchFamily="34" charset="0"/>
              </a:rPr>
              <a:t>= </a:t>
            </a:r>
            <a:r>
              <a:rPr lang="ru-RU" sz="2000" dirty="0" err="1" smtClean="0">
                <a:latin typeface="Bahnschrift SemiCondensed" pitchFamily="34" charset="0"/>
              </a:rPr>
              <a:t>λ/μ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b="1" dirty="0" smtClean="0">
                <a:latin typeface="Bahnschrift SemiCondensed" pitchFamily="34" charset="0"/>
              </a:rPr>
              <a:t>Главный вывод:</a:t>
            </a:r>
            <a:r>
              <a:rPr lang="ru-RU" sz="2000" dirty="0" smtClean="0">
                <a:latin typeface="Bahnschrift SemiCondensed" pitchFamily="34" charset="0"/>
              </a:rPr>
              <a:t> задержка W начинает РЕЗКО расти, когда </a:t>
            </a:r>
            <a:r>
              <a:rPr lang="ru-RU" sz="2000" dirty="0" err="1" smtClean="0">
                <a:latin typeface="Bahnschrift SemiCondensed" pitchFamily="34" charset="0"/>
              </a:rPr>
              <a:t>ρ </a:t>
            </a:r>
            <a:r>
              <a:rPr lang="ru-RU" sz="2000" dirty="0" smtClean="0">
                <a:latin typeface="Bahnschrift SemiCondensed" pitchFamily="34" charset="0"/>
              </a:rPr>
              <a:t>→ 1 (при загрузке 70-80%)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Аналогия:</a:t>
            </a:r>
            <a:r>
              <a:rPr lang="ru-RU" sz="2000" dirty="0" smtClean="0">
                <a:latin typeface="Bahnschrift SemiCondensed" pitchFamily="34" charset="0"/>
              </a:rPr>
              <a:t> магазин с одним кассиром. Покупатели приходят быстрее, чем он обслуживает — очередь растет НЕЛИНЕЙНО</a:t>
            </a:r>
            <a:r>
              <a:rPr lang="ru-RU" sz="2000" dirty="0" smtClean="0">
                <a:latin typeface="Bahnschrift SemiCondensed" pitchFamily="34" charset="0"/>
              </a:rPr>
              <a:t>.</a:t>
            </a:r>
            <a:endParaRPr lang="ru-RU" sz="2000" dirty="0" smtClean="0">
              <a:latin typeface="Bahnschrift SemiCondensed" pitchFamily="34" charset="0"/>
            </a:endParaRPr>
          </a:p>
        </p:txBody>
      </p:sp>
      <p:pic>
        <p:nvPicPr>
          <p:cNvPr id="1031" name="Picture 7" descr="https://i.pinimg.com/736x/a7/ec/5c/a7ec5c868329a9acf66e7d875e9402a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67323" y="5517232"/>
            <a:ext cx="5887395" cy="1512168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1033" name="Picture 9" descr="https://i.pinimg.com/736x/54/9c/10/549c10713685a3162b9f71387c7f1914.jpg"/>
          <p:cNvPicPr>
            <a:picLocks noChangeAspect="1" noChangeArrowheads="1"/>
          </p:cNvPicPr>
          <p:nvPr/>
        </p:nvPicPr>
        <p:blipFill>
          <a:blip r:embed="rId5" cstate="print"/>
          <a:srcRect l="3333" t="12475" r="3333"/>
          <a:stretch>
            <a:fillRect/>
          </a:stretch>
        </p:blipFill>
        <p:spPr bwMode="auto">
          <a:xfrm>
            <a:off x="6372200" y="3068960"/>
            <a:ext cx="1656184" cy="12450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Bahnschrift SemiBold" pitchFamily="34" charset="0"/>
              </a:rPr>
              <a:t>Техника управления очередями (FIFO и </a:t>
            </a:r>
            <a:r>
              <a:rPr lang="ru-RU" sz="2800" dirty="0" err="1" smtClean="0">
                <a:latin typeface="Bahnschrift SemiBold" pitchFamily="34" charset="0"/>
              </a:rPr>
              <a:t>Priority</a:t>
            </a:r>
            <a:r>
              <a:rPr lang="ru-RU" sz="2800" dirty="0" smtClean="0">
                <a:latin typeface="Bahnschrift SemiBold" pitchFamily="34" charset="0"/>
              </a:rPr>
              <a:t>)</a:t>
            </a:r>
            <a:endParaRPr lang="ru-RU" sz="28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908720"/>
            <a:ext cx="7200800" cy="3124944"/>
          </a:xfrm>
        </p:spPr>
        <p:txBody>
          <a:bodyPr>
            <a:normAutofit fontScale="92500"/>
          </a:bodyPr>
          <a:lstStyle/>
          <a:p>
            <a:r>
              <a:rPr lang="ru-RU" sz="2400" b="1" dirty="0" smtClean="0">
                <a:latin typeface="Bahnschrift SemiCondensed" pitchFamily="34" charset="0"/>
              </a:rPr>
              <a:t>FIFO (первый пришел — первый ушел):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Плюс: простота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Минус: чувствительный к задержкам пакет ждет файл</a:t>
            </a:r>
          </a:p>
          <a:p>
            <a:r>
              <a:rPr lang="ru-RU" sz="2400" b="1" dirty="0" err="1" smtClean="0">
                <a:latin typeface="Bahnschrift SemiCondensed" pitchFamily="34" charset="0"/>
              </a:rPr>
              <a:t>Priority</a:t>
            </a:r>
            <a:r>
              <a:rPr lang="ru-RU" sz="2400" b="1" dirty="0" smtClean="0">
                <a:latin typeface="Bahnschrift SemiCondensed" pitchFamily="34" charset="0"/>
              </a:rPr>
              <a:t> </a:t>
            </a:r>
            <a:r>
              <a:rPr lang="ru-RU" sz="2400" b="1" dirty="0" err="1" smtClean="0">
                <a:latin typeface="Bahnschrift SemiCondensed" pitchFamily="34" charset="0"/>
              </a:rPr>
              <a:t>Queuing</a:t>
            </a:r>
            <a:r>
              <a:rPr lang="ru-RU" sz="2400" b="1" dirty="0" smtClean="0">
                <a:latin typeface="Bahnschrift SemiCondensed" pitchFamily="34" charset="0"/>
              </a:rPr>
              <a:t> (приоритетная):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err="1" smtClean="0">
                <a:latin typeface="Bahnschrift SemiCondensed" pitchFamily="34" charset="0"/>
              </a:rPr>
              <a:t>High</a:t>
            </a:r>
            <a:r>
              <a:rPr lang="ru-RU" sz="2400" dirty="0" smtClean="0">
                <a:latin typeface="Bahnschrift SemiCondensed" pitchFamily="34" charset="0"/>
              </a:rPr>
              <a:t> → </a:t>
            </a:r>
            <a:r>
              <a:rPr lang="ru-RU" sz="2400" dirty="0" err="1" smtClean="0">
                <a:latin typeface="Bahnschrift SemiCondensed" pitchFamily="34" charset="0"/>
              </a:rPr>
              <a:t>Medium</a:t>
            </a:r>
            <a:r>
              <a:rPr lang="ru-RU" sz="2400" dirty="0" smtClean="0">
                <a:latin typeface="Bahnschrift SemiCondensed" pitchFamily="34" charset="0"/>
              </a:rPr>
              <a:t> → </a:t>
            </a:r>
            <a:r>
              <a:rPr lang="ru-RU" sz="2400" dirty="0" err="1" smtClean="0">
                <a:latin typeface="Bahnschrift SemiCondensed" pitchFamily="34" charset="0"/>
              </a:rPr>
              <a:t>Normal</a:t>
            </a:r>
            <a:r>
              <a:rPr lang="ru-RU" sz="2400" dirty="0" smtClean="0">
                <a:latin typeface="Bahnschrift SemiCondensed" pitchFamily="34" charset="0"/>
              </a:rPr>
              <a:t> → </a:t>
            </a:r>
            <a:r>
              <a:rPr lang="ru-RU" sz="2400" dirty="0" err="1" smtClean="0">
                <a:latin typeface="Bahnschrift SemiCondensed" pitchFamily="34" charset="0"/>
              </a:rPr>
              <a:t>Low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Плюс: минимальная задержка для </a:t>
            </a:r>
            <a:r>
              <a:rPr lang="ru-RU" sz="2400" dirty="0" err="1" smtClean="0">
                <a:latin typeface="Bahnschrift SemiCondensed" pitchFamily="34" charset="0"/>
              </a:rPr>
              <a:t>High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Минус: "голодание" низких </a:t>
            </a:r>
            <a:r>
              <a:rPr lang="ru-RU" sz="2400" dirty="0" smtClean="0">
                <a:latin typeface="Bahnschrift SemiCondensed" pitchFamily="34" charset="0"/>
              </a:rPr>
              <a:t>приоритетов</a:t>
            </a:r>
            <a:endParaRPr lang="ru-RU" sz="2400" dirty="0" smtClean="0">
              <a:latin typeface="Bahnschrift SemiCondensed" pitchFamily="34" charset="0"/>
            </a:endParaRPr>
          </a:p>
        </p:txBody>
      </p:sp>
      <p:pic>
        <p:nvPicPr>
          <p:cNvPr id="25602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11083"/>
            <a:ext cx="9144000" cy="2646917"/>
          </a:xfrm>
          <a:prstGeom prst="rect">
            <a:avLst/>
          </a:prstGeom>
          <a:noFill/>
        </p:spPr>
      </p:pic>
      <p:pic>
        <p:nvPicPr>
          <p:cNvPr id="25604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 l="29787" t="34923" r="33235" b="35289"/>
          <a:stretch>
            <a:fillRect/>
          </a:stretch>
        </p:blipFill>
        <p:spPr bwMode="auto">
          <a:xfrm>
            <a:off x="6588224" y="2708920"/>
            <a:ext cx="1152128" cy="928103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25606" name="Picture 6" descr="https://i.pinimg.com/736x/4b/72/f9/4b72f91c1e07056c6c47edb3d4e961ac.jpg"/>
          <p:cNvPicPr>
            <a:picLocks noChangeAspect="1" noChangeArrowheads="1"/>
          </p:cNvPicPr>
          <p:nvPr/>
        </p:nvPicPr>
        <p:blipFill>
          <a:blip r:embed="rId4" cstate="print"/>
          <a:srcRect l="29788" t="26706" r="21936" b="19882"/>
          <a:stretch>
            <a:fillRect/>
          </a:stretch>
        </p:blipFill>
        <p:spPr bwMode="auto">
          <a:xfrm>
            <a:off x="5508104" y="2564904"/>
            <a:ext cx="1008112" cy="1115358"/>
          </a:xfrm>
          <a:prstGeom prst="rect">
            <a:avLst/>
          </a:prstGeom>
          <a:noFill/>
        </p:spPr>
      </p:pic>
      <p:pic>
        <p:nvPicPr>
          <p:cNvPr id="7" name="Picture 6" descr="https://i.pinimg.com/736x/4b/72/f9/4b72f91c1e07056c6c47edb3d4e961ac.jpg"/>
          <p:cNvPicPr>
            <a:picLocks noChangeAspect="1" noChangeArrowheads="1"/>
          </p:cNvPicPr>
          <p:nvPr/>
        </p:nvPicPr>
        <p:blipFill>
          <a:blip r:embed="rId4" cstate="print"/>
          <a:srcRect l="29788" t="26706" r="21936" b="19882"/>
          <a:stretch>
            <a:fillRect/>
          </a:stretch>
        </p:blipFill>
        <p:spPr bwMode="auto">
          <a:xfrm flipH="1">
            <a:off x="7884368" y="2564904"/>
            <a:ext cx="1008112" cy="11153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6300192" cy="11430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Bahnschrift SemiBold" pitchFamily="34" charset="0"/>
              </a:rPr>
              <a:t>Управление очередями (WFQ и комбинированные</a:t>
            </a:r>
            <a:r>
              <a:rPr lang="ru-RU" sz="3200" dirty="0" smtClean="0">
                <a:latin typeface="Bahnschrift SemiBold" pitchFamily="34" charset="0"/>
              </a:rPr>
              <a:t>)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6300192" cy="3196952"/>
          </a:xfrm>
        </p:spPr>
        <p:txBody>
          <a:bodyPr>
            <a:normAutofit fontScale="92500" lnSpcReduction="20000"/>
          </a:bodyPr>
          <a:lstStyle/>
          <a:p>
            <a:r>
              <a:rPr lang="ru-RU" sz="2400" b="1" dirty="0" smtClean="0">
                <a:latin typeface="Bahnschrift SemiCondensed" pitchFamily="34" charset="0"/>
              </a:rPr>
              <a:t>WFQ (взвешенная справедливая):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Каждой очереди — гарантированная ДОЛЯ полосы (вес)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Циклическое обслуживание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Результат: справедливый дележ</a:t>
            </a:r>
          </a:p>
          <a:p>
            <a:r>
              <a:rPr lang="ru-RU" sz="2400" b="1" dirty="0" smtClean="0">
                <a:latin typeface="Bahnschrift SemiCondensed" pitchFamily="34" charset="0"/>
              </a:rPr>
              <a:t>Комбинированные алгоритмы: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Одна приоритетная (для голоса) + остальные (WFQ)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Лучшее из двух </a:t>
            </a:r>
            <a:r>
              <a:rPr lang="ru-RU" sz="2400" dirty="0" smtClean="0">
                <a:latin typeface="Bahnschrift SemiCondensed" pitchFamily="34" charset="0"/>
              </a:rPr>
              <a:t>миров</a:t>
            </a:r>
            <a:endParaRPr lang="ru-RU" sz="2400" dirty="0" smtClean="0">
              <a:latin typeface="Bahnschrift SemiCondensed" pitchFamily="34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65104"/>
            <a:ext cx="6084168" cy="2276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 descr="https://i.pinimg.com/736x/de/11/a1/de11a14bdc6e4935f1f858e5e567b78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0"/>
            <a:ext cx="2843808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 l="24652" t="27733" r="25017" b="28099"/>
          <a:stretch>
            <a:fillRect/>
          </a:stretch>
        </p:blipFill>
        <p:spPr bwMode="auto">
          <a:xfrm rot="20258443">
            <a:off x="6479619" y="4094706"/>
            <a:ext cx="1944216" cy="170614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Bahnschrift SemiBold" pitchFamily="34" charset="0"/>
              </a:rPr>
              <a:t>Слайд 14: Кондиционирование трафика (</a:t>
            </a:r>
            <a:r>
              <a:rPr lang="ru-RU" sz="3200" b="1" dirty="0" err="1" smtClean="0">
                <a:latin typeface="Bahnschrift SemiBold" pitchFamily="34" charset="0"/>
              </a:rPr>
              <a:t>Policing</a:t>
            </a:r>
            <a:r>
              <a:rPr lang="ru-RU" sz="3200" b="1" dirty="0" smtClean="0">
                <a:latin typeface="Bahnschrift SemiBold" pitchFamily="34" charset="0"/>
              </a:rPr>
              <a:t> и </a:t>
            </a:r>
            <a:r>
              <a:rPr lang="ru-RU" sz="3200" b="1" dirty="0" err="1" smtClean="0">
                <a:latin typeface="Bahnschrift SemiBold" pitchFamily="34" charset="0"/>
              </a:rPr>
              <a:t>Shaping</a:t>
            </a:r>
            <a:r>
              <a:rPr lang="ru-RU" sz="3200" b="1" dirty="0" smtClean="0">
                <a:latin typeface="Bahnschrift SemiBold" pitchFamily="34" charset="0"/>
              </a:rPr>
              <a:t>)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460648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latin typeface="Bahnschrift SemiCondensed" pitchFamily="34" charset="0"/>
              </a:rPr>
              <a:t>Цель:</a:t>
            </a:r>
            <a:r>
              <a:rPr lang="ru-RU" sz="2000" dirty="0" smtClean="0">
                <a:latin typeface="Bahnschrift SemiCondensed" pitchFamily="34" charset="0"/>
              </a:rPr>
              <a:t> привести поток к заданному "профилю" (скорость + пульсация)</a:t>
            </a:r>
            <a:endParaRPr lang="ru-RU" sz="2000" dirty="0">
              <a:latin typeface="Bahnschrift SemiCondensed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0" y="2132856"/>
          <a:ext cx="9144000" cy="1728193"/>
        </p:xfrm>
        <a:graphic>
          <a:graphicData uri="http://schemas.openxmlformats.org/drawingml/2006/table">
            <a:tbl>
              <a:tblPr firstCol="1" bandRow="1">
                <a:tableStyleId>{3B4B98B0-60AC-42C2-AFA5-B58CD77FA1E5}</a:tableStyleId>
              </a:tblPr>
              <a:tblGrid>
                <a:gridCol w="4572000"/>
                <a:gridCol w="4572000"/>
              </a:tblGrid>
              <a:tr h="427594">
                <a:tc>
                  <a:txBody>
                    <a:bodyPr/>
                    <a:lstStyle/>
                    <a:p>
                      <a:r>
                        <a:rPr lang="en-US" dirty="0" smtClean="0"/>
                        <a:t>Policing</a:t>
                      </a:r>
                      <a:endParaRPr lang="ru-RU" b="0" dirty="0">
                        <a:latin typeface="Bahnschrift Semi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Shaping</a:t>
                      </a:r>
                      <a:endParaRPr lang="ru-RU" dirty="0">
                        <a:latin typeface="Bahnschrift SemiBold" pitchFamily="34" charset="0"/>
                      </a:endParaRPr>
                    </a:p>
                  </a:txBody>
                  <a:tcPr/>
                </a:tc>
              </a:tr>
              <a:tr h="433533">
                <a:tc>
                  <a:txBody>
                    <a:bodyPr/>
                    <a:lstStyle/>
                    <a:p>
                      <a:r>
                        <a:rPr lang="ru-RU" dirty="0" smtClean="0"/>
                        <a:t>На входе провайдера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 стороне клиента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  <a:tr h="433533">
                <a:tc>
                  <a:txBody>
                    <a:bodyPr/>
                    <a:lstStyle/>
                    <a:p>
                      <a:r>
                        <a:rPr lang="ru-RU" dirty="0" smtClean="0"/>
                        <a:t>Пакеты сверх лимита = выброс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Пакеты сверх лимита = буфер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  <a:tr h="433533"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 скорость падает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 скорость не меняется</a:t>
                      </a:r>
                      <a:endParaRPr lang="ru-RU" b="0" dirty="0">
                        <a:latin typeface="Bahnschrift SemiCondense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4077072"/>
            <a:ext cx="579613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>
                <a:latin typeface="Bahnschrift SemiCondensed" pitchFamily="34" charset="0"/>
              </a:rPr>
              <a:t>     Алгоритм </a:t>
            </a:r>
            <a:r>
              <a:rPr lang="ru-RU" sz="2000" b="1" dirty="0" smtClean="0">
                <a:latin typeface="Bahnschrift SemiCondensed" pitchFamily="34" charset="0"/>
              </a:rPr>
              <a:t>ведра маркеров (</a:t>
            </a:r>
            <a:r>
              <a:rPr lang="ru-RU" sz="2000" b="1" dirty="0" err="1" smtClean="0">
                <a:latin typeface="Bahnschrift SemiCondensed" pitchFamily="34" charset="0"/>
              </a:rPr>
              <a:t>Token</a:t>
            </a:r>
            <a:r>
              <a:rPr lang="ru-RU" sz="2000" b="1" dirty="0" smtClean="0">
                <a:latin typeface="Bahnschrift SemiCondensed" pitchFamily="34" charset="0"/>
              </a:rPr>
              <a:t> </a:t>
            </a:r>
            <a:r>
              <a:rPr lang="ru-RU" sz="2000" b="1" dirty="0" err="1" smtClean="0">
                <a:latin typeface="Bahnschrift SemiCondensed" pitchFamily="34" charset="0"/>
              </a:rPr>
              <a:t>Bucket</a:t>
            </a:r>
            <a:r>
              <a:rPr lang="ru-RU" sz="2000" b="1" dirty="0" smtClean="0">
                <a:latin typeface="Bahnschrift SemiCondensed" pitchFamily="34" charset="0"/>
              </a:rPr>
              <a:t>):</a:t>
            </a:r>
            <a:endParaRPr lang="ru-RU" sz="2000" dirty="0" smtClean="0">
              <a:latin typeface="Bahnschrift SemiCondensed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2000" dirty="0" smtClean="0">
                <a:latin typeface="Bahnschrift SemiCondensed" pitchFamily="34" charset="0"/>
              </a:rPr>
              <a:t>Ведро пополняется </a:t>
            </a:r>
            <a:r>
              <a:rPr lang="ru-RU" sz="2000" dirty="0" err="1" smtClean="0">
                <a:latin typeface="Bahnschrift SemiCondensed" pitchFamily="34" charset="0"/>
              </a:rPr>
              <a:t>токенами</a:t>
            </a:r>
            <a:r>
              <a:rPr lang="ru-RU" sz="2000" dirty="0" smtClean="0">
                <a:latin typeface="Bahnschrift SemiCondensed" pitchFamily="34" charset="0"/>
              </a:rPr>
              <a:t> со скоростью CIR</a:t>
            </a:r>
          </a:p>
          <a:p>
            <a:pPr>
              <a:spcBef>
                <a:spcPts val="600"/>
              </a:spcBef>
            </a:pPr>
            <a:r>
              <a:rPr lang="ru-RU" sz="2000" dirty="0" smtClean="0">
                <a:latin typeface="Bahnschrift SemiCondensed" pitchFamily="34" charset="0"/>
              </a:rPr>
              <a:t>Пакет берет </a:t>
            </a:r>
            <a:r>
              <a:rPr lang="ru-RU" sz="2000" dirty="0" err="1" smtClean="0">
                <a:latin typeface="Bahnschrift SemiCondensed" pitchFamily="34" charset="0"/>
              </a:rPr>
              <a:t>токен</a:t>
            </a:r>
            <a:r>
              <a:rPr lang="ru-RU" sz="2000" dirty="0" smtClean="0">
                <a:latin typeface="Bahnschrift SemiCondensed" pitchFamily="34" charset="0"/>
              </a:rPr>
              <a:t> и уходит</a:t>
            </a:r>
          </a:p>
          <a:p>
            <a:pPr>
              <a:spcBef>
                <a:spcPts val="600"/>
              </a:spcBef>
            </a:pPr>
            <a:r>
              <a:rPr lang="ru-RU" sz="2000" dirty="0" smtClean="0">
                <a:latin typeface="Bahnschrift SemiCondensed" pitchFamily="34" charset="0"/>
              </a:rPr>
              <a:t>Нет </a:t>
            </a:r>
            <a:r>
              <a:rPr lang="ru-RU" sz="2000" dirty="0" err="1" smtClean="0">
                <a:latin typeface="Bahnschrift SemiCondensed" pitchFamily="34" charset="0"/>
              </a:rPr>
              <a:t>токенов</a:t>
            </a:r>
            <a:r>
              <a:rPr lang="ru-RU" sz="2000" dirty="0" smtClean="0">
                <a:latin typeface="Bahnschrift SemiCondensed" pitchFamily="34" charset="0"/>
              </a:rPr>
              <a:t> → отброс (</a:t>
            </a:r>
            <a:r>
              <a:rPr lang="ru-RU" sz="2000" dirty="0" err="1" smtClean="0">
                <a:latin typeface="Bahnschrift SemiCondensed" pitchFamily="34" charset="0"/>
              </a:rPr>
              <a:t>Policer</a:t>
            </a:r>
            <a:r>
              <a:rPr lang="ru-RU" sz="2000" dirty="0" smtClean="0">
                <a:latin typeface="Bahnschrift SemiCondensed" pitchFamily="34" charset="0"/>
              </a:rPr>
              <a:t>) или в буфер (</a:t>
            </a:r>
            <a:r>
              <a:rPr lang="ru-RU" sz="2000" dirty="0" err="1" smtClean="0">
                <a:latin typeface="Bahnschrift SemiCondensed" pitchFamily="34" charset="0"/>
              </a:rPr>
              <a:t>Shaper</a:t>
            </a:r>
            <a:r>
              <a:rPr lang="ru-RU" sz="2000" dirty="0" smtClean="0">
                <a:latin typeface="Bahnschrift SemiCondensed" pitchFamily="34" charset="0"/>
              </a:rPr>
              <a:t>)</a:t>
            </a:r>
            <a:endParaRPr lang="ru-RU" sz="2000" dirty="0" smtClean="0">
              <a:latin typeface="Bahnschrift SemiCondensed" pitchFamily="34" charset="0"/>
            </a:endParaRPr>
          </a:p>
        </p:txBody>
      </p:sp>
      <p:pic>
        <p:nvPicPr>
          <p:cNvPr id="27652" name="Picture 4" descr="https://i.pinimg.com/736x/a1/fd/de/a1fdde08cb77d96ba27792103019f343.jpg"/>
          <p:cNvPicPr>
            <a:picLocks noChangeAspect="1" noChangeArrowheads="1"/>
          </p:cNvPicPr>
          <p:nvPr/>
        </p:nvPicPr>
        <p:blipFill>
          <a:blip r:embed="rId3" cstate="print"/>
          <a:srcRect l="2362" t="39789" r="1958" b="39631"/>
          <a:stretch>
            <a:fillRect/>
          </a:stretch>
        </p:blipFill>
        <p:spPr bwMode="auto">
          <a:xfrm>
            <a:off x="0" y="5777880"/>
            <a:ext cx="5832648" cy="1080120"/>
          </a:xfrm>
          <a:prstGeom prst="rect">
            <a:avLst/>
          </a:prstGeom>
          <a:noFill/>
        </p:spPr>
      </p:pic>
      <p:pic>
        <p:nvPicPr>
          <p:cNvPr id="9" name="Picture 4" descr="https://i.pinimg.com/736x/a1/fd/de/a1fdde08cb77d96ba27792103019f343.jpg"/>
          <p:cNvPicPr>
            <a:picLocks noChangeAspect="1" noChangeArrowheads="1"/>
          </p:cNvPicPr>
          <p:nvPr/>
        </p:nvPicPr>
        <p:blipFill>
          <a:blip r:embed="rId3" cstate="print"/>
          <a:srcRect l="5323" t="39789" r="1958" b="39631"/>
          <a:stretch>
            <a:fillRect/>
          </a:stretch>
        </p:blipFill>
        <p:spPr bwMode="auto">
          <a:xfrm rot="10800000">
            <a:off x="3491880" y="5777880"/>
            <a:ext cx="5652120" cy="1080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24744"/>
            <a:ext cx="226368" cy="292894"/>
          </a:xfrm>
        </p:spPr>
        <p:txBody>
          <a:bodyPr>
            <a:normAutofit/>
          </a:bodyPr>
          <a:lstStyle/>
          <a:p>
            <a:r>
              <a:rPr lang="en-US" sz="1000" dirty="0" smtClean="0"/>
              <a:t>‘</a:t>
            </a:r>
            <a:endParaRPr lang="ru-RU" sz="1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805264"/>
            <a:ext cx="298376" cy="32089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‘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4499992" cy="3495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3068960"/>
            <a:ext cx="4682281" cy="3635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7" name="Picture 5" descr="https://i.pinimg.com/736x/ef/ae/03/efae039016997e124810be03cb990f27.jpg"/>
          <p:cNvPicPr>
            <a:picLocks noChangeAspect="1" noChangeArrowheads="1"/>
          </p:cNvPicPr>
          <p:nvPr/>
        </p:nvPicPr>
        <p:blipFill>
          <a:blip r:embed="rId4" cstate="print"/>
          <a:srcRect l="5660" t="11321" r="5660" b="11321"/>
          <a:stretch>
            <a:fillRect/>
          </a:stretch>
        </p:blipFill>
        <p:spPr bwMode="auto">
          <a:xfrm>
            <a:off x="251520" y="3645024"/>
            <a:ext cx="3672408" cy="3015143"/>
          </a:xfrm>
          <a:prstGeom prst="rect">
            <a:avLst/>
          </a:prstGeom>
          <a:noFill/>
        </p:spPr>
      </p:pic>
      <p:pic>
        <p:nvPicPr>
          <p:cNvPr id="28679" name="Picture 7" descr="https://i.pinimg.com/736x/c0/94/25/c0942503832b19cb4e9ef0fac1c099b4.jpg"/>
          <p:cNvPicPr>
            <a:picLocks noChangeAspect="1" noChangeArrowheads="1"/>
          </p:cNvPicPr>
          <p:nvPr/>
        </p:nvPicPr>
        <p:blipFill>
          <a:blip r:embed="rId5" cstate="print"/>
          <a:srcRect l="29788" t="19125" r="20909" b="24381"/>
          <a:stretch>
            <a:fillRect/>
          </a:stretch>
        </p:blipFill>
        <p:spPr bwMode="auto">
          <a:xfrm>
            <a:off x="6804248" y="620688"/>
            <a:ext cx="2088232" cy="2392766"/>
          </a:xfrm>
          <a:prstGeom prst="rect">
            <a:avLst/>
          </a:prstGeom>
          <a:noFill/>
        </p:spPr>
      </p:pic>
      <p:pic>
        <p:nvPicPr>
          <p:cNvPr id="8" name="Picture 7" descr="https://i.pinimg.com/736x/c0/94/25/c0942503832b19cb4e9ef0fac1c099b4.jpg"/>
          <p:cNvPicPr>
            <a:picLocks noChangeAspect="1" noChangeArrowheads="1"/>
          </p:cNvPicPr>
          <p:nvPr/>
        </p:nvPicPr>
        <p:blipFill>
          <a:blip r:embed="rId5" cstate="print"/>
          <a:srcRect l="29788" t="19125" r="20909" b="24381"/>
          <a:stretch>
            <a:fillRect/>
          </a:stretch>
        </p:blipFill>
        <p:spPr bwMode="auto">
          <a:xfrm flipH="1">
            <a:off x="4644008" y="620688"/>
            <a:ext cx="2088232" cy="23927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1" name="Picture 5" descr="https://i.pinimg.com/736x/c6/4d/09/c64d0944c5513aa3365f18f173ce1c5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5615608" y="1844824"/>
            <a:ext cx="3528392" cy="198551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Bahnschrift SemiBold" pitchFamily="34" charset="0"/>
              </a:rPr>
              <a:t>Обратная связь и резервирование </a:t>
            </a:r>
            <a:r>
              <a:rPr lang="ru-RU" sz="3200" dirty="0" smtClean="0">
                <a:latin typeface="Bahnschrift SemiBold" pitchFamily="34" charset="0"/>
              </a:rPr>
              <a:t>ресурсов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7092280" cy="2764904"/>
          </a:xfrm>
        </p:spPr>
        <p:txBody>
          <a:bodyPr>
            <a:normAutofit fontScale="92500" lnSpcReduction="20000"/>
          </a:bodyPr>
          <a:lstStyle/>
          <a:p>
            <a:r>
              <a:rPr lang="ru-RU" sz="2000" b="1" dirty="0" smtClean="0">
                <a:latin typeface="Bahnschrift SemiCondensed" pitchFamily="34" charset="0"/>
              </a:rPr>
              <a:t>5 видов обратной связи (от медленной к быстрой):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dirty="0" smtClean="0">
                <a:latin typeface="Bahnschrift SemiCondensed" pitchFamily="34" charset="0"/>
              </a:rPr>
              <a:t>Получатель → Отправитель (TCP, эффективно, но медленно)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Соседний коммутатор → Коммутатор (быстро)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Коммутатор → Источник (устарел)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Коммутаторы по цепочке (координация)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Эмуляция через получателя (обходной путь)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Резервирование ресурсов (</a:t>
            </a:r>
            <a:r>
              <a:rPr lang="ru-RU" sz="2000" b="1" dirty="0" err="1" smtClean="0">
                <a:latin typeface="Bahnschrift SemiCondensed" pitchFamily="34" charset="0"/>
              </a:rPr>
              <a:t>Admission</a:t>
            </a:r>
            <a:r>
              <a:rPr lang="ru-RU" sz="2000" b="1" dirty="0" smtClean="0">
                <a:latin typeface="Bahnschrift SemiCondensed" pitchFamily="34" charset="0"/>
              </a:rPr>
              <a:t> </a:t>
            </a:r>
            <a:r>
              <a:rPr lang="ru-RU" sz="2000" b="1" dirty="0" err="1" smtClean="0">
                <a:latin typeface="Bahnschrift SemiCondensed" pitchFamily="34" charset="0"/>
              </a:rPr>
              <a:t>Control</a:t>
            </a:r>
            <a:r>
              <a:rPr lang="ru-RU" sz="2000" b="1" dirty="0" smtClean="0">
                <a:latin typeface="Bahnschrift SemiCondensed" pitchFamily="34" charset="0"/>
              </a:rPr>
              <a:t>):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dirty="0" smtClean="0">
                <a:latin typeface="Bahnschrift SemiCondensed" pitchFamily="34" charset="0"/>
              </a:rPr>
              <a:t>Проверка свободной полосы на ВСЕХ </a:t>
            </a:r>
            <a:r>
              <a:rPr lang="ru-RU" sz="2000" dirty="0" err="1" smtClean="0">
                <a:latin typeface="Bahnschrift SemiCondensed" pitchFamily="34" charset="0"/>
              </a:rPr>
              <a:t>маршрутизаторах</a:t>
            </a:r>
            <a:r>
              <a:rPr lang="ru-RU" sz="2000" dirty="0" smtClean="0">
                <a:latin typeface="Bahnschrift SemiCondensed" pitchFamily="34" charset="0"/>
              </a:rPr>
              <a:t> вдоль пути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Если есть — резервируем (например, через RSVP</a:t>
            </a:r>
            <a:r>
              <a:rPr lang="ru-RU" sz="2000" dirty="0" smtClean="0">
                <a:latin typeface="Bahnschrift SemiCondensed" pitchFamily="34" charset="0"/>
              </a:rPr>
              <a:t>)</a:t>
            </a:r>
            <a:endParaRPr lang="ru-RU" sz="2000" dirty="0" smtClean="0">
              <a:latin typeface="Bahnschrift SemiCondensed" pitchFamily="34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187037"/>
            <a:ext cx="4499992" cy="267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3" y="3912493"/>
            <a:ext cx="4283968" cy="2945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latin typeface="Bahnschrift SemiBold" pitchFamily="34" charset="0"/>
              </a:rPr>
              <a:t>IntServ</a:t>
            </a:r>
            <a:r>
              <a:rPr lang="ru-RU" sz="3200" b="1" dirty="0" smtClean="0">
                <a:latin typeface="Bahnschrift SemiBold" pitchFamily="34" charset="0"/>
              </a:rPr>
              <a:t> и </a:t>
            </a:r>
            <a:r>
              <a:rPr lang="ru-RU" sz="3200" b="1" dirty="0" err="1" smtClean="0">
                <a:latin typeface="Bahnschrift SemiBold" pitchFamily="34" charset="0"/>
              </a:rPr>
              <a:t>DiffServ</a:t>
            </a:r>
            <a:r>
              <a:rPr lang="ru-RU" sz="3200" b="1" dirty="0" smtClean="0">
                <a:latin typeface="Bahnschrift SemiBold" pitchFamily="34" charset="0"/>
              </a:rPr>
              <a:t> — две модели </a:t>
            </a:r>
            <a:r>
              <a:rPr lang="ru-RU" sz="3200" b="1" dirty="0" err="1" smtClean="0">
                <a:latin typeface="Bahnschrift SemiBold" pitchFamily="34" charset="0"/>
              </a:rPr>
              <a:t>QoS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4525963"/>
          </a:xfrm>
        </p:spPr>
        <p:txBody>
          <a:bodyPr>
            <a:normAutofit/>
          </a:bodyPr>
          <a:lstStyle/>
          <a:p>
            <a:r>
              <a:rPr lang="en-US" sz="2400" b="1" dirty="0" err="1" smtClean="0">
                <a:latin typeface="Bahnschrift SemiCondensed" pitchFamily="34" charset="0"/>
              </a:rPr>
              <a:t>IntServ</a:t>
            </a:r>
            <a:r>
              <a:rPr lang="en-US" sz="2400" b="1" dirty="0" smtClean="0">
                <a:latin typeface="Bahnschrift SemiCondensed" pitchFamily="34" charset="0"/>
              </a:rPr>
              <a:t> (Integrated Services):</a:t>
            </a:r>
            <a:endParaRPr lang="en-US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Персональный подход: микро-потоки, резервирование (</a:t>
            </a:r>
            <a:r>
              <a:rPr lang="en-US" sz="2400" dirty="0" smtClean="0">
                <a:latin typeface="Bahnschrift SemiCondensed" pitchFamily="34" charset="0"/>
              </a:rPr>
              <a:t>RSVP)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Проблема: плохо масштабируется</a:t>
            </a:r>
          </a:p>
          <a:p>
            <a:r>
              <a:rPr lang="en-US" sz="2400" b="1" dirty="0" err="1" smtClean="0">
                <a:latin typeface="Bahnschrift SemiCondensed" pitchFamily="34" charset="0"/>
              </a:rPr>
              <a:t>DiffServ</a:t>
            </a:r>
            <a:r>
              <a:rPr lang="en-US" sz="2400" b="1" dirty="0" smtClean="0">
                <a:latin typeface="Bahnschrift SemiCondensed" pitchFamily="34" charset="0"/>
              </a:rPr>
              <a:t> (Differentiated Services):</a:t>
            </a:r>
            <a:endParaRPr lang="en-US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Классовый подход: трафик → классы, маркировка </a:t>
            </a:r>
            <a:r>
              <a:rPr lang="en-US" sz="2400" dirty="0" smtClean="0">
                <a:latin typeface="Bahnschrift SemiCondensed" pitchFamily="34" charset="0"/>
              </a:rPr>
              <a:t>DSCP</a:t>
            </a:r>
          </a:p>
          <a:p>
            <a:r>
              <a:rPr lang="en-US" sz="2400" dirty="0" smtClean="0">
                <a:latin typeface="Bahnschrift SemiCondensed" pitchFamily="34" charset="0"/>
              </a:rPr>
              <a:t>Per-Hop Behavior (PHB) — </a:t>
            </a:r>
            <a:r>
              <a:rPr lang="ru-RU" sz="2400" dirty="0" smtClean="0">
                <a:latin typeface="Bahnschrift SemiCondensed" pitchFamily="34" charset="0"/>
              </a:rPr>
              <a:t>правило на каждом </a:t>
            </a:r>
            <a:r>
              <a:rPr lang="ru-RU" sz="2400" dirty="0" err="1" smtClean="0">
                <a:latin typeface="Bahnschrift SemiCondensed" pitchFamily="34" charset="0"/>
              </a:rPr>
              <a:t>маршрутизаторе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Масштабируемо</a:t>
            </a:r>
          </a:p>
          <a:p>
            <a:r>
              <a:rPr lang="ru-RU" sz="2400" b="1" dirty="0" smtClean="0">
                <a:latin typeface="Bahnschrift SemiCondensed" pitchFamily="34" charset="0"/>
              </a:rPr>
              <a:t>Аналогия:</a:t>
            </a:r>
            <a:r>
              <a:rPr lang="ru-RU" sz="2400" dirty="0" smtClean="0">
                <a:latin typeface="Bahnschrift SemiCondensed" pitchFamily="34" charset="0"/>
              </a:rPr>
              <a:t> </a:t>
            </a:r>
            <a:r>
              <a:rPr lang="en-US" sz="2400" dirty="0" err="1" smtClean="0">
                <a:latin typeface="Bahnschrift SemiCondensed" pitchFamily="34" charset="0"/>
              </a:rPr>
              <a:t>IntServ</a:t>
            </a:r>
            <a:r>
              <a:rPr lang="en-US" sz="2400" dirty="0" smtClean="0">
                <a:latin typeface="Bahnschrift SemiCondensed" pitchFamily="34" charset="0"/>
              </a:rPr>
              <a:t> = </a:t>
            </a:r>
            <a:r>
              <a:rPr lang="ru-RU" sz="2400" dirty="0" smtClean="0">
                <a:latin typeface="Bahnschrift SemiCondensed" pitchFamily="34" charset="0"/>
              </a:rPr>
              <a:t>лимузин для каждого, </a:t>
            </a:r>
            <a:r>
              <a:rPr lang="en-US" sz="2400" dirty="0" err="1" smtClean="0">
                <a:latin typeface="Bahnschrift SemiCondensed" pitchFamily="34" charset="0"/>
              </a:rPr>
              <a:t>DiffServ</a:t>
            </a:r>
            <a:r>
              <a:rPr lang="en-US" sz="2400" dirty="0" smtClean="0">
                <a:latin typeface="Bahnschrift SemiCondensed" pitchFamily="34" charset="0"/>
              </a:rPr>
              <a:t> = </a:t>
            </a:r>
            <a:r>
              <a:rPr lang="ru-RU" sz="2400" dirty="0" smtClean="0">
                <a:latin typeface="Bahnschrift SemiCondensed" pitchFamily="34" charset="0"/>
              </a:rPr>
              <a:t>классы в </a:t>
            </a:r>
            <a:r>
              <a:rPr lang="ru-RU" sz="2400" dirty="0" smtClean="0">
                <a:latin typeface="Bahnschrift SemiCondensed" pitchFamily="34" charset="0"/>
              </a:rPr>
              <a:t>самолете</a:t>
            </a:r>
            <a:endParaRPr lang="ru-RU" sz="2400" dirty="0" smtClean="0">
              <a:latin typeface="Bahnschrift SemiCondensed" pitchFamily="34" charset="0"/>
            </a:endParaRPr>
          </a:p>
        </p:txBody>
      </p:sp>
      <p:pic>
        <p:nvPicPr>
          <p:cNvPr id="30722" name="Picture 2" descr="https://i.pinimg.com/736x/a1/14/c3/a114c30acb75bd9fe6d2dd7e1f8805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3176"/>
            <a:ext cx="9144000" cy="18448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6300192" cy="1143000"/>
          </a:xfrm>
        </p:spPr>
        <p:txBody>
          <a:bodyPr>
            <a:normAutofit fontScale="90000"/>
          </a:bodyPr>
          <a:lstStyle/>
          <a:p>
            <a:r>
              <a:rPr lang="ru-RU" sz="2800" dirty="0" smtClean="0">
                <a:latin typeface="Bahnschrift SemiBold" pitchFamily="34" charset="0"/>
              </a:rPr>
              <a:t>Инжиниринг трафика (TE) — недостатки традиционной </a:t>
            </a:r>
            <a:r>
              <a:rPr lang="ru-RU" sz="2800" dirty="0" smtClean="0">
                <a:latin typeface="Bahnschrift SemiBold" pitchFamily="34" charset="0"/>
              </a:rPr>
              <a:t>маршрутизации</a:t>
            </a:r>
            <a:endParaRPr lang="ru-RU" sz="28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6084168" cy="2260847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latin typeface="Bahnschrift SemiCondensed" pitchFamily="34" charset="0"/>
              </a:rPr>
              <a:t>Проблема:</a:t>
            </a:r>
            <a:r>
              <a:rPr lang="ru-RU" sz="2400" dirty="0" smtClean="0">
                <a:latin typeface="Bahnschrift SemiCondensed" pitchFamily="34" charset="0"/>
              </a:rPr>
              <a:t> маршрутизация по кратчайшему пути (только топология, без учета загрузки)</a:t>
            </a:r>
          </a:p>
          <a:p>
            <a:r>
              <a:rPr lang="ru-RU" sz="2400" b="1" dirty="0" smtClean="0">
                <a:latin typeface="Bahnschrift SemiCondensed" pitchFamily="34" charset="0"/>
              </a:rPr>
              <a:t>Пример "рыба":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Верхний путь — короткий → перегружен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Нижний путь — длинный → </a:t>
            </a:r>
            <a:r>
              <a:rPr lang="ru-RU" sz="2400" dirty="0" smtClean="0">
                <a:latin typeface="Bahnschrift SemiCondensed" pitchFamily="34" charset="0"/>
              </a:rPr>
              <a:t>простаивает</a:t>
            </a:r>
            <a:endParaRPr lang="ru-RU" sz="2400" dirty="0" smtClean="0">
              <a:latin typeface="Bahnschrift SemiCondensed" pitchFamily="34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3501008"/>
            <a:ext cx="6048672" cy="29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8" name="Picture 4" descr="https://i.pinimg.com/736x/68/e5/80/68e580bf3763df7fcbecf268108693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0340" y="0"/>
            <a:ext cx="286366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Bahnschrift SemiBold" pitchFamily="34" charset="0"/>
              </a:rPr>
              <a:t>Инжиниринг трафика (TE) — методы и </a:t>
            </a:r>
            <a:r>
              <a:rPr lang="ru-RU" sz="2800" dirty="0" smtClean="0">
                <a:latin typeface="Bahnschrift SemiBold" pitchFamily="34" charset="0"/>
              </a:rPr>
              <a:t>решение</a:t>
            </a:r>
            <a:endParaRPr lang="ru-RU" sz="28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7"/>
            <a:ext cx="8229600" cy="3672408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latin typeface="Bahnschrift SemiCondensed" pitchFamily="34" charset="0"/>
              </a:rPr>
              <a:t>Исходные данные: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dirty="0" smtClean="0">
                <a:latin typeface="Bahnschrift SemiCondensed" pitchFamily="34" charset="0"/>
              </a:rPr>
              <a:t>Топология + пропускная способность каналов</a:t>
            </a:r>
          </a:p>
          <a:p>
            <a:r>
              <a:rPr lang="ru-RU" sz="2000" dirty="0" smtClean="0">
                <a:latin typeface="Bahnschrift SemiCondensed" pitchFamily="34" charset="0"/>
              </a:rPr>
              <a:t>Сведения о потоках (вход, выход, профиль)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Решение:</a:t>
            </a:r>
            <a:r>
              <a:rPr lang="ru-RU" sz="2000" dirty="0" smtClean="0">
                <a:latin typeface="Bahnschrift SemiCondensed" pitchFamily="34" charset="0"/>
              </a:rPr>
              <a:t> найти маршруты, чтобы все коэффициенты загрузки </a:t>
            </a:r>
            <a:r>
              <a:rPr lang="ru-RU" sz="2000" dirty="0" err="1" smtClean="0">
                <a:latin typeface="Bahnschrift SemiCondensed" pitchFamily="34" charset="0"/>
              </a:rPr>
              <a:t>Ki</a:t>
            </a:r>
            <a:r>
              <a:rPr lang="ru-RU" sz="2000" dirty="0" smtClean="0">
                <a:latin typeface="Bahnschrift SemiCondensed" pitchFamily="34" charset="0"/>
              </a:rPr>
              <a:t> &lt; </a:t>
            </a:r>
            <a:r>
              <a:rPr lang="ru-RU" sz="2000" dirty="0" err="1" smtClean="0">
                <a:latin typeface="Bahnschrift SemiCondensed" pitchFamily="34" charset="0"/>
              </a:rPr>
              <a:t>Kmax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dirty="0" err="1" smtClean="0">
                <a:latin typeface="Bahnschrift SemiCondensed" pitchFamily="34" charset="0"/>
              </a:rPr>
              <a:t>Kmax</a:t>
            </a:r>
            <a:r>
              <a:rPr lang="ru-RU" sz="2000" dirty="0" smtClean="0">
                <a:latin typeface="Bahnschrift SemiCondensed" pitchFamily="34" charset="0"/>
              </a:rPr>
              <a:t> для голоса ≈ 0.25</a:t>
            </a:r>
          </a:p>
          <a:p>
            <a:r>
              <a:rPr lang="ru-RU" sz="2000" dirty="0" err="1" smtClean="0">
                <a:latin typeface="Bahnschrift SemiCondensed" pitchFamily="34" charset="0"/>
              </a:rPr>
              <a:t>Kmax</a:t>
            </a:r>
            <a:r>
              <a:rPr lang="ru-RU" sz="2000" dirty="0" smtClean="0">
                <a:latin typeface="Bahnschrift SemiCondensed" pitchFamily="34" charset="0"/>
              </a:rPr>
              <a:t> для данных ≈ 0.75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Режимы работы TE:</a:t>
            </a:r>
            <a:endParaRPr lang="ru-RU" sz="2000" dirty="0" smtClean="0">
              <a:latin typeface="Bahnschrift SemiCondensed" pitchFamily="34" charset="0"/>
            </a:endParaRPr>
          </a:p>
          <a:p>
            <a:r>
              <a:rPr lang="ru-RU" sz="2000" b="1" dirty="0" smtClean="0">
                <a:latin typeface="Bahnschrift SemiCondensed" pitchFamily="34" charset="0"/>
              </a:rPr>
              <a:t>Автономный:</a:t>
            </a:r>
            <a:r>
              <a:rPr lang="ru-RU" sz="2000" dirty="0" smtClean="0">
                <a:latin typeface="Bahnschrift SemiCondensed" pitchFamily="34" charset="0"/>
              </a:rPr>
              <a:t> внешняя программа ищет оптимум (в фоне)</a:t>
            </a:r>
          </a:p>
          <a:p>
            <a:r>
              <a:rPr lang="ru-RU" sz="2000" b="1" dirty="0" smtClean="0">
                <a:latin typeface="Bahnschrift SemiCondensed" pitchFamily="34" charset="0"/>
              </a:rPr>
              <a:t>Оперативный:</a:t>
            </a:r>
            <a:r>
              <a:rPr lang="ru-RU" sz="2000" dirty="0" smtClean="0">
                <a:latin typeface="Bahnschrift SemiCondensed" pitchFamily="34" charset="0"/>
              </a:rPr>
              <a:t> маршрутизаторы обмениваются данными о свободной </a:t>
            </a:r>
            <a:r>
              <a:rPr lang="ru-RU" sz="2000" dirty="0" smtClean="0">
                <a:latin typeface="Bahnschrift SemiCondensed" pitchFamily="34" charset="0"/>
              </a:rPr>
              <a:t>полосе</a:t>
            </a:r>
            <a:endParaRPr lang="ru-RU" sz="2000" dirty="0" smtClean="0">
              <a:latin typeface="Bahnschrift SemiCondensed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4867" y="4005064"/>
            <a:ext cx="4389133" cy="2852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2" name="Picture 4" descr="https://i.pinimg.com/736x/37/f0/e1/37f0e1c9cb8696f5ddc6b047ecf9d692.jpg"/>
          <p:cNvPicPr>
            <a:picLocks noChangeAspect="1" noChangeArrowheads="1"/>
          </p:cNvPicPr>
          <p:nvPr/>
        </p:nvPicPr>
        <p:blipFill>
          <a:blip r:embed="rId3" cstate="print"/>
          <a:srcRect l="16321" t="35780" r="14733" b="26132"/>
          <a:stretch>
            <a:fillRect/>
          </a:stretch>
        </p:blipFill>
        <p:spPr bwMode="auto">
          <a:xfrm>
            <a:off x="323528" y="4365104"/>
            <a:ext cx="4104456" cy="2376264"/>
          </a:xfrm>
          <a:prstGeom prst="rect">
            <a:avLst/>
          </a:prstGeom>
          <a:noFill/>
        </p:spPr>
      </p:pic>
      <p:pic>
        <p:nvPicPr>
          <p:cNvPr id="32774" name="Picture 6" descr="https://i.pinimg.com/736x/33/27/88/332788130d6c03cc7a25ea350a9d135f.jpg"/>
          <p:cNvPicPr>
            <a:picLocks noChangeAspect="1" noChangeArrowheads="1"/>
          </p:cNvPicPr>
          <p:nvPr/>
        </p:nvPicPr>
        <p:blipFill>
          <a:blip r:embed="rId4" cstate="print"/>
          <a:srcRect l="17640" t="30240" r="19361" b="39521"/>
          <a:stretch>
            <a:fillRect/>
          </a:stretch>
        </p:blipFill>
        <p:spPr bwMode="auto">
          <a:xfrm>
            <a:off x="3059832" y="2276872"/>
            <a:ext cx="1800200" cy="864096"/>
          </a:xfrm>
          <a:prstGeom prst="rect">
            <a:avLst/>
          </a:prstGeom>
          <a:noFill/>
        </p:spPr>
      </p:pic>
      <p:pic>
        <p:nvPicPr>
          <p:cNvPr id="7" name="Picture 6" descr="https://i.pinimg.com/736x/33/27/88/332788130d6c03cc7a25ea350a9d135f.jpg"/>
          <p:cNvPicPr>
            <a:picLocks noChangeAspect="1" noChangeArrowheads="1"/>
          </p:cNvPicPr>
          <p:nvPr/>
        </p:nvPicPr>
        <p:blipFill>
          <a:blip r:embed="rId4" cstate="print"/>
          <a:srcRect l="17640" t="30240" r="19361" b="39521"/>
          <a:stretch>
            <a:fillRect/>
          </a:stretch>
        </p:blipFill>
        <p:spPr bwMode="auto">
          <a:xfrm flipH="1">
            <a:off x="5436096" y="2276872"/>
            <a:ext cx="1800200" cy="8640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 l="29788" t="23625" r="30153" b="23990"/>
          <a:stretch>
            <a:fillRect/>
          </a:stretch>
        </p:blipFill>
        <p:spPr bwMode="auto">
          <a:xfrm rot="16200000" flipH="1">
            <a:off x="5683560" y="3397560"/>
            <a:ext cx="2564904" cy="4355976"/>
          </a:xfrm>
          <a:prstGeom prst="rect">
            <a:avLst/>
          </a:prstGeom>
          <a:noFill/>
        </p:spPr>
      </p:pic>
      <p:pic>
        <p:nvPicPr>
          <p:cNvPr id="35844" name="Picture 4" descr="https://i.pinimg.com/736x/8f/dc/04/8fdc04c56febf76105cc3a2977132aee.jpg"/>
          <p:cNvPicPr>
            <a:picLocks noChangeAspect="1" noChangeArrowheads="1"/>
          </p:cNvPicPr>
          <p:nvPr/>
        </p:nvPicPr>
        <p:blipFill>
          <a:blip r:embed="rId4" cstate="print"/>
          <a:srcRect l="26460" t="7560" r="25661" b="8021"/>
          <a:stretch>
            <a:fillRect/>
          </a:stretch>
        </p:blipFill>
        <p:spPr bwMode="auto">
          <a:xfrm rot="16200000">
            <a:off x="1579613" y="3577578"/>
            <a:ext cx="1700808" cy="486003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43000"/>
          </a:xfrm>
        </p:spPr>
        <p:txBody>
          <a:bodyPr>
            <a:noAutofit/>
          </a:bodyPr>
          <a:lstStyle/>
          <a:p>
            <a:r>
              <a:rPr lang="ru-RU" sz="3600" dirty="0" smtClean="0">
                <a:latin typeface="Bahnschrift SemiBold" pitchFamily="34" charset="0"/>
              </a:rPr>
              <a:t>Работа в недогруженном режиме (</a:t>
            </a:r>
            <a:r>
              <a:rPr lang="ru-RU" sz="3600" dirty="0" err="1" smtClean="0">
                <a:latin typeface="Bahnschrift SemiBold" pitchFamily="34" charset="0"/>
              </a:rPr>
              <a:t>Overprovisioning</a:t>
            </a:r>
            <a:r>
              <a:rPr lang="ru-RU" sz="3600" dirty="0" smtClean="0">
                <a:latin typeface="Bahnschrift SemiBold" pitchFamily="34" charset="0"/>
              </a:rPr>
              <a:t>)</a:t>
            </a:r>
            <a:endParaRPr lang="ru-RU" sz="36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964704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Bahnschrift SemiCondensed" pitchFamily="34" charset="0"/>
              </a:rPr>
              <a:t>Суть:</a:t>
            </a:r>
            <a:r>
              <a:rPr lang="ru-RU" sz="2800" dirty="0" smtClean="0">
                <a:latin typeface="Bahnschrift SemiCondensed" pitchFamily="34" charset="0"/>
              </a:rPr>
              <a:t> пропускная способность ВСЕГДА больше возможного трафика (загрузка 20-30%)</a:t>
            </a:r>
            <a:endParaRPr lang="ru-RU" sz="2800" dirty="0">
              <a:latin typeface="Bahnschrift SemiCondensed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9512" y="2564904"/>
          <a:ext cx="8784976" cy="1440159"/>
        </p:xfrm>
        <a:graphic>
          <a:graphicData uri="http://schemas.openxmlformats.org/drawingml/2006/table">
            <a:tbl>
              <a:tblPr bandRow="1">
                <a:tableStyleId>{ED083AE6-46FA-4A59-8FB0-9F97EB10719F}</a:tableStyleId>
              </a:tblPr>
              <a:tblGrid>
                <a:gridCol w="4392488"/>
                <a:gridCol w="4392488"/>
              </a:tblGrid>
              <a:tr h="480053">
                <a:tc>
                  <a:txBody>
                    <a:bodyPr/>
                    <a:lstStyle/>
                    <a:p>
                      <a:r>
                        <a:rPr lang="ru-RU" dirty="0" smtClean="0"/>
                        <a:t>Достоинства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Недостатки</a:t>
                      </a:r>
                      <a:endParaRPr lang="ru-RU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r>
                        <a:rPr lang="ru-RU" dirty="0" smtClean="0"/>
                        <a:t>Не нужны сложные алгоритмы </a:t>
                      </a:r>
                      <a:r>
                        <a:rPr lang="en-US" dirty="0" err="1" smtClean="0"/>
                        <a:t>QoS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Очень дорого</a:t>
                      </a:r>
                      <a:endParaRPr lang="ru-RU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r>
                        <a:rPr lang="ru-RU" dirty="0" smtClean="0"/>
                        <a:t>Нет проблем с очередями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Нужно постоянно расширять полосу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79512" y="4149080"/>
            <a:ext cx="87849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Bahnschrift SemiCondensed" pitchFamily="34" charset="0"/>
              </a:rPr>
              <a:t>Применение:</a:t>
            </a:r>
            <a:r>
              <a:rPr lang="ru-RU" sz="2800" dirty="0" smtClean="0">
                <a:latin typeface="Bahnschrift SemiCondensed" pitchFamily="34" charset="0"/>
              </a:rPr>
              <a:t> магистрали крупных провайдеров (до определенного предела)</a:t>
            </a:r>
            <a:endParaRPr lang="ru-RU" sz="2800" dirty="0">
              <a:latin typeface="Bahnschrift SemiCondensed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08520" y="0"/>
            <a:ext cx="5940152" cy="11430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Bahnschrift SemiBold" pitchFamily="34" charset="0"/>
              </a:rPr>
              <a:t>Время жизни записи (TTL) и коэффициент </a:t>
            </a:r>
            <a:r>
              <a:rPr lang="ru-RU" sz="3200" dirty="0" smtClean="0">
                <a:latin typeface="Bahnschrift SemiBold" pitchFamily="34" charset="0"/>
              </a:rPr>
              <a:t>пульсации</a:t>
            </a:r>
            <a:endParaRPr lang="ru-RU" sz="32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40768"/>
            <a:ext cx="5940152" cy="5517232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latin typeface="Bahnschrift SemiCondensed" pitchFamily="34" charset="0"/>
              </a:rPr>
              <a:t>TTL записей в таблицах маршрутизации: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Динамические записи имеют время жизни (TTL)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Если за TTL запись не обновлена → удаляется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Важно для статистики: устаревшие маршруты искажают измерения</a:t>
            </a:r>
          </a:p>
          <a:p>
            <a:r>
              <a:rPr lang="ru-RU" sz="2400" b="1" dirty="0" smtClean="0">
                <a:latin typeface="Bahnschrift SemiCondensed" pitchFamily="34" charset="0"/>
              </a:rPr>
              <a:t>Коэффициент пульсации:</a:t>
            </a:r>
            <a:endParaRPr lang="ru-RU" sz="2400" dirty="0" smtClean="0">
              <a:latin typeface="Bahnschrift SemiCondensed" pitchFamily="34" charset="0"/>
            </a:endParaRPr>
          </a:p>
          <a:p>
            <a:r>
              <a:rPr lang="ru-RU" sz="2400" dirty="0" smtClean="0">
                <a:latin typeface="Bahnschrift SemiCondensed" pitchFamily="34" charset="0"/>
              </a:rPr>
              <a:t>Формула: PIR / SIR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Для голоса ≈ 1 (ровный поток)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Для данных: 2–100 (пульсирующий</a:t>
            </a:r>
            <a:r>
              <a:rPr lang="ru-RU" sz="2400" dirty="0" smtClean="0">
                <a:latin typeface="Bahnschrift SemiCondensed" pitchFamily="34" charset="0"/>
              </a:rPr>
              <a:t>)</a:t>
            </a:r>
            <a:endParaRPr lang="ru-RU" sz="2400" dirty="0" smtClean="0">
              <a:latin typeface="Bahnschrift SemiCondensed" pitchFamily="34" charset="0"/>
            </a:endParaRPr>
          </a:p>
        </p:txBody>
      </p:sp>
      <p:pic>
        <p:nvPicPr>
          <p:cNvPr id="36866" name="Picture 2" descr="https://i.pinimg.com/736x/5b/ba/58/5bba5891d1b771e09130c139f7bc16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0"/>
            <a:ext cx="3347864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ttps://i.pinimg.com/736x/84/f8/be/84f8beb7a892134999accfc7d6ba3e52.jpg"/>
          <p:cNvPicPr>
            <a:picLocks noChangeAspect="1" noChangeArrowheads="1"/>
          </p:cNvPicPr>
          <p:nvPr/>
        </p:nvPicPr>
        <p:blipFill>
          <a:blip r:embed="rId2" cstate="print"/>
          <a:srcRect l="14266"/>
          <a:stretch>
            <a:fillRect/>
          </a:stretch>
        </p:blipFill>
        <p:spPr bwMode="auto">
          <a:xfrm>
            <a:off x="0" y="4633393"/>
            <a:ext cx="1944216" cy="2224607"/>
          </a:xfrm>
          <a:prstGeom prst="rect">
            <a:avLst/>
          </a:prstGeom>
          <a:noFill/>
        </p:spPr>
      </p:pic>
      <p:pic>
        <p:nvPicPr>
          <p:cNvPr id="37892" name="Picture 4" descr="https://i.pinimg.com/736x/5a/66/ee/5a66eef748018fabb29442bcc6b7e39a.jpg"/>
          <p:cNvPicPr>
            <a:picLocks noChangeAspect="1" noChangeArrowheads="1"/>
          </p:cNvPicPr>
          <p:nvPr/>
        </p:nvPicPr>
        <p:blipFill>
          <a:blip r:embed="rId3" cstate="print"/>
          <a:srcRect l="26805" t="5636" r="13402" b="35923"/>
          <a:stretch>
            <a:fillRect/>
          </a:stretch>
        </p:blipFill>
        <p:spPr bwMode="auto">
          <a:xfrm>
            <a:off x="1835696" y="4605008"/>
            <a:ext cx="1800200" cy="2252992"/>
          </a:xfrm>
          <a:prstGeom prst="rect">
            <a:avLst/>
          </a:prstGeom>
          <a:noFill/>
        </p:spPr>
      </p:pic>
      <p:pic>
        <p:nvPicPr>
          <p:cNvPr id="37894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/>
          <a:srcRect l="25679" t="2054" r="32207" b="40425"/>
          <a:stretch>
            <a:fillRect/>
          </a:stretch>
        </p:blipFill>
        <p:spPr bwMode="auto">
          <a:xfrm>
            <a:off x="3563888" y="4595895"/>
            <a:ext cx="1656184" cy="2262105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Bahnschrift SemiBold" pitchFamily="34" charset="0"/>
              </a:rPr>
              <a:t>Итоговые выводы по главе </a:t>
            </a:r>
            <a:r>
              <a:rPr lang="ru-RU" sz="3600" dirty="0" smtClean="0">
                <a:latin typeface="Bahnschrift SemiBold" pitchFamily="34" charset="0"/>
              </a:rPr>
              <a:t>5</a:t>
            </a:r>
            <a:endParaRPr lang="ru-RU" sz="3600" dirty="0">
              <a:latin typeface="Bahnschrift SemiBol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9"/>
            <a:ext cx="9144000" cy="4032447"/>
          </a:xfrm>
        </p:spPr>
        <p:txBody>
          <a:bodyPr>
            <a:normAutofit/>
          </a:bodyPr>
          <a:lstStyle/>
          <a:p>
            <a:r>
              <a:rPr lang="ru-RU" sz="1800" b="1" dirty="0" smtClean="0">
                <a:latin typeface="Bahnschrift SemiCondensed" pitchFamily="34" charset="0"/>
              </a:rPr>
              <a:t>Ключевые мысли для запоминания:</a:t>
            </a:r>
            <a:endParaRPr lang="ru-RU" sz="1800" dirty="0" smtClean="0">
              <a:latin typeface="Bahnschrift SemiCondensed" pitchFamily="34" charset="0"/>
            </a:endParaRPr>
          </a:p>
          <a:p>
            <a:r>
              <a:rPr lang="ru-RU" sz="1800" b="1" dirty="0" err="1" smtClean="0">
                <a:latin typeface="Bahnschrift SemiCondensed" pitchFamily="34" charset="0"/>
              </a:rPr>
              <a:t>QoS</a:t>
            </a:r>
            <a:r>
              <a:rPr lang="ru-RU" sz="1800" b="1" dirty="0" smtClean="0">
                <a:latin typeface="Bahnschrift SemiCondensed" pitchFamily="34" charset="0"/>
              </a:rPr>
              <a:t> многомерен:</a:t>
            </a:r>
            <a:r>
              <a:rPr lang="ru-RU" sz="1800" dirty="0" smtClean="0">
                <a:latin typeface="Bahnschrift SemiCondensed" pitchFamily="34" charset="0"/>
              </a:rPr>
              <a:t> скорость, задержка, </a:t>
            </a:r>
            <a:r>
              <a:rPr lang="ru-RU" sz="1800" dirty="0" err="1" smtClean="0">
                <a:latin typeface="Bahnschrift SemiCondensed" pitchFamily="34" charset="0"/>
              </a:rPr>
              <a:t>джиттер</a:t>
            </a:r>
            <a:r>
              <a:rPr lang="ru-RU" sz="1800" dirty="0" smtClean="0">
                <a:latin typeface="Bahnschrift SemiCondensed" pitchFamily="34" charset="0"/>
              </a:rPr>
              <a:t>, потери, доступность — всё важно.</a:t>
            </a:r>
          </a:p>
          <a:p>
            <a:r>
              <a:rPr lang="ru-RU" sz="1800" b="1" dirty="0" smtClean="0">
                <a:latin typeface="Bahnschrift SemiCondensed" pitchFamily="34" charset="0"/>
              </a:rPr>
              <a:t>SLA переводит пожелания в измеримые величины</a:t>
            </a:r>
            <a:r>
              <a:rPr lang="ru-RU" sz="1800" dirty="0" smtClean="0">
                <a:latin typeface="Bahnschrift SemiCondensed" pitchFamily="34" charset="0"/>
              </a:rPr>
              <a:t> — иначе не проконтролировать.</a:t>
            </a:r>
          </a:p>
          <a:p>
            <a:r>
              <a:rPr lang="ru-RU" sz="1800" b="1" dirty="0" smtClean="0">
                <a:latin typeface="Bahnschrift SemiCondensed" pitchFamily="34" charset="0"/>
              </a:rPr>
              <a:t>Приложения диктуют правила:</a:t>
            </a:r>
            <a:r>
              <a:rPr lang="ru-RU" sz="1800" dirty="0" smtClean="0">
                <a:latin typeface="Bahnschrift SemiCondensed" pitchFamily="34" charset="0"/>
              </a:rPr>
              <a:t> голосу нужна стабильность, файлам — полоса.</a:t>
            </a:r>
          </a:p>
          <a:p>
            <a:r>
              <a:rPr lang="ru-RU" sz="1800" b="1" dirty="0" smtClean="0">
                <a:latin typeface="Bahnschrift SemiCondensed" pitchFamily="34" charset="0"/>
              </a:rPr>
              <a:t>Очереди (FIFO → PQ → WFQ)</a:t>
            </a:r>
            <a:r>
              <a:rPr lang="ru-RU" sz="1800" dirty="0" smtClean="0">
                <a:latin typeface="Bahnschrift SemiCondensed" pitchFamily="34" charset="0"/>
              </a:rPr>
              <a:t> — основа управления перегрузками.</a:t>
            </a:r>
          </a:p>
          <a:p>
            <a:r>
              <a:rPr lang="ru-RU" sz="1800" b="1" dirty="0" err="1" smtClean="0">
                <a:latin typeface="Bahnschrift SemiCondensed" pitchFamily="34" charset="0"/>
              </a:rPr>
              <a:t>Token</a:t>
            </a:r>
            <a:r>
              <a:rPr lang="ru-RU" sz="1800" b="1" dirty="0" smtClean="0">
                <a:latin typeface="Bahnschrift SemiCondensed" pitchFamily="34" charset="0"/>
              </a:rPr>
              <a:t> </a:t>
            </a:r>
            <a:r>
              <a:rPr lang="ru-RU" sz="1800" b="1" dirty="0" err="1" smtClean="0">
                <a:latin typeface="Bahnschrift SemiCondensed" pitchFamily="34" charset="0"/>
              </a:rPr>
              <a:t>Bucket</a:t>
            </a:r>
            <a:r>
              <a:rPr lang="ru-RU" sz="1800" dirty="0" smtClean="0">
                <a:latin typeface="Bahnschrift SemiCondensed" pitchFamily="34" charset="0"/>
              </a:rPr>
              <a:t> — ключевой алгоритм кондиционирования (</a:t>
            </a:r>
            <a:r>
              <a:rPr lang="ru-RU" sz="1800" dirty="0" err="1" smtClean="0">
                <a:latin typeface="Bahnschrift SemiCondensed" pitchFamily="34" charset="0"/>
              </a:rPr>
              <a:t>Policing</a:t>
            </a:r>
            <a:r>
              <a:rPr lang="ru-RU" sz="1800" dirty="0" smtClean="0">
                <a:latin typeface="Bahnschrift SemiCondensed" pitchFamily="34" charset="0"/>
              </a:rPr>
              <a:t>/</a:t>
            </a:r>
            <a:r>
              <a:rPr lang="ru-RU" sz="1800" dirty="0" err="1" smtClean="0">
                <a:latin typeface="Bahnschrift SemiCondensed" pitchFamily="34" charset="0"/>
              </a:rPr>
              <a:t>Shaping</a:t>
            </a:r>
            <a:r>
              <a:rPr lang="ru-RU" sz="1800" dirty="0" smtClean="0">
                <a:latin typeface="Bahnschrift SemiCondensed" pitchFamily="34" charset="0"/>
              </a:rPr>
              <a:t>).</a:t>
            </a:r>
          </a:p>
          <a:p>
            <a:r>
              <a:rPr lang="ru-RU" sz="1800" b="1" dirty="0" err="1" smtClean="0">
                <a:latin typeface="Bahnschrift SemiCondensed" pitchFamily="34" charset="0"/>
              </a:rPr>
              <a:t>IntServ</a:t>
            </a:r>
            <a:r>
              <a:rPr lang="ru-RU" sz="1800" b="1" dirty="0" smtClean="0">
                <a:latin typeface="Bahnschrift SemiCondensed" pitchFamily="34" charset="0"/>
              </a:rPr>
              <a:t> точен, но не масштабируется; </a:t>
            </a:r>
            <a:r>
              <a:rPr lang="ru-RU" sz="1800" b="1" dirty="0" err="1" smtClean="0">
                <a:latin typeface="Bahnschrift SemiCondensed" pitchFamily="34" charset="0"/>
              </a:rPr>
              <a:t>DiffServ</a:t>
            </a:r>
            <a:r>
              <a:rPr lang="ru-RU" sz="1800" b="1" dirty="0" smtClean="0">
                <a:latin typeface="Bahnschrift SemiCondensed" pitchFamily="34" charset="0"/>
              </a:rPr>
              <a:t> (DSCP)</a:t>
            </a:r>
            <a:r>
              <a:rPr lang="ru-RU" sz="1800" dirty="0" smtClean="0">
                <a:latin typeface="Bahnschrift SemiCondensed" pitchFamily="34" charset="0"/>
              </a:rPr>
              <a:t> — стандарт де-факто.</a:t>
            </a:r>
          </a:p>
          <a:p>
            <a:r>
              <a:rPr lang="ru-RU" sz="1800" b="1" dirty="0" err="1" smtClean="0">
                <a:latin typeface="Bahnschrift SemiCondensed" pitchFamily="34" charset="0"/>
              </a:rPr>
              <a:t>Overprovisioning</a:t>
            </a:r>
            <a:r>
              <a:rPr lang="ru-RU" sz="1800" b="1" dirty="0" smtClean="0">
                <a:latin typeface="Bahnschrift SemiCondensed" pitchFamily="34" charset="0"/>
              </a:rPr>
              <a:t> — самый простой, но ДОРОГОЙ</a:t>
            </a:r>
            <a:r>
              <a:rPr lang="ru-RU" sz="1800" dirty="0" smtClean="0">
                <a:latin typeface="Bahnschrift SemiCondensed" pitchFamily="34" charset="0"/>
              </a:rPr>
              <a:t> метод </a:t>
            </a:r>
            <a:r>
              <a:rPr lang="ru-RU" sz="1800" dirty="0" err="1" smtClean="0">
                <a:latin typeface="Bahnschrift SemiCondensed" pitchFamily="34" charset="0"/>
              </a:rPr>
              <a:t>QoS</a:t>
            </a:r>
            <a:r>
              <a:rPr lang="ru-RU" sz="1800" dirty="0" smtClean="0">
                <a:latin typeface="Bahnschrift SemiCondensed" pitchFamily="34" charset="0"/>
              </a:rPr>
              <a:t>.</a:t>
            </a:r>
          </a:p>
          <a:p>
            <a:r>
              <a:rPr lang="ru-RU" sz="1800" b="1" dirty="0" smtClean="0">
                <a:latin typeface="Bahnschrift SemiCondensed" pitchFamily="34" charset="0"/>
              </a:rPr>
              <a:t>Инжиниринг трафика (TE)</a:t>
            </a:r>
            <a:r>
              <a:rPr lang="ru-RU" sz="1800" dirty="0" smtClean="0">
                <a:latin typeface="Bahnschrift SemiCondensed" pitchFamily="34" charset="0"/>
              </a:rPr>
              <a:t> оптимизирует использование ресурсов, не меняя оборудование.</a:t>
            </a:r>
          </a:p>
          <a:p>
            <a:r>
              <a:rPr lang="ru-RU" sz="1800" b="1" dirty="0" smtClean="0">
                <a:latin typeface="Bahnschrift SemiCondensed" pitchFamily="34" charset="0"/>
              </a:rPr>
              <a:t>Расширяемость, </a:t>
            </a:r>
            <a:r>
              <a:rPr lang="ru-RU" sz="1800" b="1" dirty="0" err="1" smtClean="0">
                <a:latin typeface="Bahnschrift SemiCondensed" pitchFamily="34" charset="0"/>
              </a:rPr>
              <a:t>масштабируемость</a:t>
            </a:r>
            <a:r>
              <a:rPr lang="ru-RU" sz="1800" b="1" dirty="0" smtClean="0">
                <a:latin typeface="Bahnschrift SemiCondensed" pitchFamily="34" charset="0"/>
              </a:rPr>
              <a:t>, управляемость, совместимость</a:t>
            </a:r>
            <a:r>
              <a:rPr lang="ru-RU" sz="1800" dirty="0" smtClean="0">
                <a:latin typeface="Bahnschrift SemiCondensed" pitchFamily="34" charset="0"/>
              </a:rPr>
              <a:t> — важные характеристики сети оператора</a:t>
            </a:r>
            <a:r>
              <a:rPr lang="ru-RU" sz="1800" dirty="0" smtClean="0">
                <a:latin typeface="Bahnschrift SemiCondensed" pitchFamily="34" charset="0"/>
              </a:rPr>
              <a:t>.</a:t>
            </a:r>
            <a:endParaRPr lang="ru-RU" sz="1800" dirty="0" smtClean="0">
              <a:latin typeface="Bahnschrift SemiCondensed" pitchFamily="34" charset="0"/>
            </a:endParaRPr>
          </a:p>
        </p:txBody>
      </p:sp>
      <p:pic>
        <p:nvPicPr>
          <p:cNvPr id="37896" name="Picture 8" descr="https://i.pinimg.com/736x/8d/59/36/8d5936ede6ef2f9cf072113c23026696.jpg"/>
          <p:cNvPicPr>
            <a:picLocks noChangeAspect="1" noChangeArrowheads="1"/>
          </p:cNvPicPr>
          <p:nvPr/>
        </p:nvPicPr>
        <p:blipFill>
          <a:blip r:embed="rId5" cstate="print"/>
          <a:srcRect l="26471" t="22089" r="23529" b="31525"/>
          <a:stretch>
            <a:fillRect/>
          </a:stretch>
        </p:blipFill>
        <p:spPr bwMode="auto">
          <a:xfrm>
            <a:off x="5364088" y="4456321"/>
            <a:ext cx="1944216" cy="2401679"/>
          </a:xfrm>
          <a:prstGeom prst="rect">
            <a:avLst/>
          </a:prstGeom>
          <a:noFill/>
        </p:spPr>
      </p:pic>
      <p:pic>
        <p:nvPicPr>
          <p:cNvPr id="37903" name="Picture 15" descr="https://i.pinimg.com/736x/03/f6/76/03f676ae6e906dce10af6fff118b4903.jpg"/>
          <p:cNvPicPr>
            <a:picLocks noChangeAspect="1" noChangeArrowheads="1"/>
          </p:cNvPicPr>
          <p:nvPr/>
        </p:nvPicPr>
        <p:blipFill>
          <a:blip r:embed="rId6" cstate="print"/>
          <a:srcRect l="20571" t="6841" r="11544"/>
          <a:stretch>
            <a:fillRect/>
          </a:stretch>
        </p:blipFill>
        <p:spPr bwMode="auto">
          <a:xfrm flipH="1">
            <a:off x="7380312" y="4519585"/>
            <a:ext cx="1763688" cy="23384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649</Words>
  <Application>Microsoft Office PowerPoint</Application>
  <PresentationFormat>Экран (4:3)</PresentationFormat>
  <Paragraphs>183</Paragraphs>
  <Slides>23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Сетевые характеристики и качество обслуживания</vt:lpstr>
      <vt:lpstr>Что такое качество обслуживания?</vt:lpstr>
      <vt:lpstr>Шкала времени и SLA</vt:lpstr>
      <vt:lpstr>Идеальная vs Реальная сеть</vt:lpstr>
      <vt:lpstr>. </vt:lpstr>
      <vt:lpstr>Активные и пассивные измерения</vt:lpstr>
      <vt:lpstr>Характеристики задержек и скорости</vt:lpstr>
      <vt:lpstr>Надежность и доступность</vt:lpstr>
      <vt:lpstr>Классификация приложений по трафику</vt:lpstr>
      <vt:lpstr>Чувствительность к задержкам и потерям</vt:lpstr>
      <vt:lpstr>Характеристики сети поставщика услуг</vt:lpstr>
      <vt:lpstr>Анализ очередей (теория массового обслуживания)</vt:lpstr>
      <vt:lpstr>Техника управления очередями (FIFO и Priority)</vt:lpstr>
      <vt:lpstr>Управление очередями (WFQ и комбинированные)</vt:lpstr>
      <vt:lpstr>Слайд 14: Кондиционирование трафика (Policing и Shaping)</vt:lpstr>
      <vt:lpstr>‘</vt:lpstr>
      <vt:lpstr>Обратная связь и резервирование ресурсов</vt:lpstr>
      <vt:lpstr>IntServ и DiffServ — две модели QoS</vt:lpstr>
      <vt:lpstr>Инжиниринг трафика (TE) — недостатки традиционной маршрутизации</vt:lpstr>
      <vt:lpstr>Инжиниринг трафика (TE) — методы и решение</vt:lpstr>
      <vt:lpstr>Работа в недогруженном режиме (Overprovisioning)</vt:lpstr>
      <vt:lpstr>Время жизни записи (TTL) и коэффициент пульсации</vt:lpstr>
      <vt:lpstr>Итоговые выводы по главе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Сетевые характеристики и качество обслуживания</dc:title>
  <dc:creator>79774</dc:creator>
  <cp:lastModifiedBy>79774075648</cp:lastModifiedBy>
  <cp:revision>24</cp:revision>
  <dcterms:created xsi:type="dcterms:W3CDTF">2026-05-01T21:12:45Z</dcterms:created>
  <dcterms:modified xsi:type="dcterms:W3CDTF">2026-05-03T13:10:57Z</dcterms:modified>
</cp:coreProperties>
</file>