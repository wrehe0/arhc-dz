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52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.pinimg.com/736x/5c/06/55/5c0655b85c2a60c3f5c595d6e3ded8b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257424"/>
            <a:ext cx="9144000" cy="4600576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052736"/>
            <a:ext cx="9144000" cy="1470025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Как работают коммутаторы, маршрутизаторы, IP, DNS и алгоритмы маршрутизации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5517232"/>
            <a:ext cx="45719" cy="121568"/>
          </a:xfrm>
        </p:spPr>
        <p:txBody>
          <a:bodyPr>
            <a:normAutofit fontScale="25000" lnSpcReduction="20000"/>
          </a:bodyPr>
          <a:lstStyle/>
          <a:p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s://i.pinimg.com/736x/48/c7/47/48c747c897d702115709875e840b2aa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0072" y="908720"/>
            <a:ext cx="4320480" cy="6099156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908720"/>
          </a:xfrm>
        </p:spPr>
        <p:txBody>
          <a:bodyPr>
            <a:normAutofit/>
          </a:bodyPr>
          <a:lstStyle/>
          <a:p>
            <a:r>
              <a:rPr lang="ru-RU" sz="4000" dirty="0" smtClean="0">
                <a:latin typeface="Bahnschrift Condensed" pitchFamily="34" charset="0"/>
              </a:rPr>
              <a:t>Два ключевых уровня: L2 и </a:t>
            </a:r>
            <a:r>
              <a:rPr lang="ru-RU" sz="4000" dirty="0" smtClean="0">
                <a:latin typeface="Bahnschrift Condensed" pitchFamily="34" charset="0"/>
              </a:rPr>
              <a:t>L3</a:t>
            </a:r>
            <a:endParaRPr lang="ru-RU" sz="4000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6300192" cy="6021288"/>
          </a:xfrm>
        </p:spPr>
        <p:txBody>
          <a:bodyPr>
            <a:normAutofit lnSpcReduction="10000"/>
          </a:bodyPr>
          <a:lstStyle/>
          <a:p>
            <a:pPr marL="457200" indent="-457200">
              <a:buNone/>
            </a:pPr>
            <a:r>
              <a:rPr lang="ru-RU" sz="2400" b="1" dirty="0" smtClean="0">
                <a:latin typeface="Bahnschrift Light Condensed" pitchFamily="34" charset="0"/>
              </a:rPr>
              <a:t>Уровень 2 (Канальный / </a:t>
            </a:r>
            <a:r>
              <a:rPr lang="ru-RU" sz="2400" b="1" dirty="0" err="1" smtClean="0">
                <a:latin typeface="Bahnschrift Light Condensed" pitchFamily="34" charset="0"/>
              </a:rPr>
              <a:t>Data</a:t>
            </a:r>
            <a:r>
              <a:rPr lang="ru-RU" sz="2400" b="1" dirty="0" smtClean="0">
                <a:latin typeface="Bahnschrift Light Condensed" pitchFamily="34" charset="0"/>
              </a:rPr>
              <a:t> </a:t>
            </a:r>
            <a:r>
              <a:rPr lang="ru-RU" sz="2400" b="1" dirty="0" err="1" smtClean="0">
                <a:latin typeface="Bahnschrift Light Condensed" pitchFamily="34" charset="0"/>
              </a:rPr>
              <a:t>Link</a:t>
            </a:r>
            <a:r>
              <a:rPr lang="ru-RU" sz="2400" b="1" dirty="0" smtClean="0">
                <a:latin typeface="Bahnschrift Light Condensed" pitchFamily="34" charset="0"/>
              </a:rPr>
              <a:t>):</a:t>
            </a:r>
          </a:p>
          <a:p>
            <a:pPr marL="457200" indent="-457200">
              <a:buNone/>
            </a:pPr>
            <a:r>
              <a:rPr lang="ru-RU" sz="2400" dirty="0" smtClean="0">
                <a:latin typeface="Bahnschrift Light Condensed" pitchFamily="34" charset="0"/>
              </a:rPr>
              <a:t>Что использует: MAC-адреса (физические, "как у сетевой карты").</a:t>
            </a:r>
          </a:p>
          <a:p>
            <a:pPr marL="457200" indent="-457200">
              <a:buNone/>
            </a:pPr>
            <a:r>
              <a:rPr lang="ru-RU" sz="2400" dirty="0" smtClean="0">
                <a:latin typeface="Bahnschrift Light Condensed" pitchFamily="34" charset="0"/>
              </a:rPr>
              <a:t>Задача: Доставка данных внутри одной сети.</a:t>
            </a:r>
          </a:p>
          <a:p>
            <a:pPr marL="457200" indent="-457200">
              <a:buNone/>
            </a:pPr>
            <a:r>
              <a:rPr lang="ru-RU" sz="2400" dirty="0" smtClean="0">
                <a:latin typeface="Bahnschrift Light Condensed" pitchFamily="34" charset="0"/>
              </a:rPr>
              <a:t>Устройство: Коммутатор (</a:t>
            </a:r>
            <a:r>
              <a:rPr lang="ru-RU" sz="2400" dirty="0" err="1" smtClean="0">
                <a:latin typeface="Bahnschrift Light Condensed" pitchFamily="34" charset="0"/>
              </a:rPr>
              <a:t>Switch</a:t>
            </a:r>
            <a:r>
              <a:rPr lang="ru-RU" sz="2400" dirty="0" smtClean="0">
                <a:latin typeface="Bahnschrift Light Condensed" pitchFamily="34" charset="0"/>
              </a:rPr>
              <a:t>).</a:t>
            </a:r>
          </a:p>
          <a:p>
            <a:pPr marL="457200" indent="-457200">
              <a:buNone/>
            </a:pPr>
            <a:r>
              <a:rPr lang="ru-RU" sz="2400" dirty="0" smtClean="0">
                <a:latin typeface="Bahnschrift Light Condensed" pitchFamily="34" charset="0"/>
              </a:rPr>
              <a:t>Аналогия: Доставка письма по номеру квартиры внутри одного дома.</a:t>
            </a:r>
          </a:p>
          <a:p>
            <a:pPr marL="457200" indent="-457200">
              <a:buNone/>
            </a:pPr>
            <a:r>
              <a:rPr lang="ru-RU" sz="2400" b="1" dirty="0" smtClean="0">
                <a:latin typeface="Bahnschrift Light Condensed" pitchFamily="34" charset="0"/>
              </a:rPr>
              <a:t>Уровень 3 (Сетевой / </a:t>
            </a:r>
            <a:r>
              <a:rPr lang="ru-RU" sz="2400" b="1" dirty="0" err="1" smtClean="0">
                <a:latin typeface="Bahnschrift Light Condensed" pitchFamily="34" charset="0"/>
              </a:rPr>
              <a:t>Network</a:t>
            </a:r>
            <a:r>
              <a:rPr lang="ru-RU" sz="2400" b="1" dirty="0" smtClean="0">
                <a:latin typeface="Bahnschrift Light Condensed" pitchFamily="34" charset="0"/>
              </a:rPr>
              <a:t>):</a:t>
            </a:r>
          </a:p>
          <a:p>
            <a:pPr marL="457200" indent="-457200">
              <a:buNone/>
            </a:pPr>
            <a:r>
              <a:rPr lang="ru-RU" sz="2400" dirty="0" smtClean="0">
                <a:latin typeface="Bahnschrift Light Condensed" pitchFamily="34" charset="0"/>
              </a:rPr>
              <a:t>Что использует: IP-адреса (логические, "как почтовый индекс").</a:t>
            </a:r>
          </a:p>
          <a:p>
            <a:pPr marL="457200" indent="-457200">
              <a:buNone/>
            </a:pPr>
            <a:r>
              <a:rPr lang="ru-RU" sz="2400" dirty="0" smtClean="0">
                <a:latin typeface="Bahnschrift Light Condensed" pitchFamily="34" charset="0"/>
              </a:rPr>
              <a:t>Задача: Доставка данных между разными сетями.</a:t>
            </a:r>
          </a:p>
          <a:p>
            <a:pPr marL="457200" indent="-457200">
              <a:buNone/>
            </a:pPr>
            <a:r>
              <a:rPr lang="ru-RU" sz="2400" dirty="0" smtClean="0">
                <a:latin typeface="Bahnschrift Light Condensed" pitchFamily="34" charset="0"/>
              </a:rPr>
              <a:t>Устройство: Маршрутизатор (</a:t>
            </a:r>
            <a:r>
              <a:rPr lang="ru-RU" sz="2400" dirty="0" err="1" smtClean="0">
                <a:latin typeface="Bahnschrift Light Condensed" pitchFamily="34" charset="0"/>
              </a:rPr>
              <a:t>Router</a:t>
            </a:r>
            <a:r>
              <a:rPr lang="ru-RU" sz="2400" dirty="0" smtClean="0">
                <a:latin typeface="Bahnschrift Light Condensed" pitchFamily="34" charset="0"/>
              </a:rPr>
              <a:t>).</a:t>
            </a:r>
          </a:p>
          <a:p>
            <a:pPr marL="457200" indent="-457200">
              <a:buNone/>
            </a:pPr>
            <a:r>
              <a:rPr lang="ru-RU" sz="2400" dirty="0" smtClean="0">
                <a:latin typeface="Bahnschrift Light Condensed" pitchFamily="34" charset="0"/>
              </a:rPr>
              <a:t>Аналогия: Определение города, улицы и дома для доставки письма</a:t>
            </a:r>
            <a:r>
              <a:rPr lang="ru-RU" sz="2400" dirty="0" smtClean="0">
                <a:latin typeface="Bahnschrift Light Condensed" pitchFamily="34" charset="0"/>
              </a:rPr>
              <a:t>.</a:t>
            </a:r>
            <a:r>
              <a:rPr lang="ru-RU" sz="2400" b="1" dirty="0" smtClean="0">
                <a:latin typeface="Bahnschrift Light Condensed" pitchFamily="34" charset="0"/>
              </a:rPr>
              <a:t/>
            </a:r>
            <a:br>
              <a:rPr lang="ru-RU" sz="2400" b="1" dirty="0" smtClean="0">
                <a:latin typeface="Bahnschrift Light Condensed" pitchFamily="34" charset="0"/>
              </a:rPr>
            </a:br>
            <a:endParaRPr lang="ru-RU" dirty="0">
              <a:latin typeface="Bahnschrift Light Condensed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Коммутатор (</a:t>
            </a:r>
            <a:r>
              <a:rPr lang="ru-RU" dirty="0" err="1" smtClean="0">
                <a:latin typeface="Bahnschrift Condensed" pitchFamily="34" charset="0"/>
              </a:rPr>
              <a:t>Switch</a:t>
            </a:r>
            <a:r>
              <a:rPr lang="ru-RU" dirty="0" smtClean="0">
                <a:latin typeface="Bahnschrift Condensed" pitchFamily="34" charset="0"/>
              </a:rPr>
              <a:t>) – "Интеллектуальный распорядитель" </a:t>
            </a:r>
            <a:r>
              <a:rPr lang="ru-RU" dirty="0" smtClean="0">
                <a:latin typeface="Bahnschrift Condensed" pitchFamily="34" charset="0"/>
              </a:rPr>
              <a:t>LAN</a:t>
            </a:r>
            <a:endParaRPr lang="ru-RU" dirty="0">
              <a:latin typeface="Bahnschrift Condensed" pitchFamily="34" charset="0"/>
            </a:endParaRPr>
          </a:p>
        </p:txBody>
      </p:sp>
      <p:pic>
        <p:nvPicPr>
          <p:cNvPr id="6" name="Содержимое 5" descr="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698776" y="3603162"/>
            <a:ext cx="6445224" cy="3254838"/>
          </a:xfrm>
        </p:spPr>
      </p:pic>
      <p:sp>
        <p:nvSpPr>
          <p:cNvPr id="15362" name="AutoShape 2" descr="Picture background"/>
          <p:cNvSpPr>
            <a:spLocks noChangeAspect="1" noChangeArrowheads="1"/>
          </p:cNvSpPr>
          <p:nvPr/>
        </p:nvSpPr>
        <p:spPr bwMode="auto">
          <a:xfrm>
            <a:off x="155574" y="-144463"/>
            <a:ext cx="5568553" cy="556857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364" name="AutoShape 4" descr="Picture background"/>
          <p:cNvSpPr>
            <a:spLocks noChangeAspect="1" noChangeArrowheads="1"/>
          </p:cNvSpPr>
          <p:nvPr/>
        </p:nvSpPr>
        <p:spPr bwMode="auto">
          <a:xfrm>
            <a:off x="155574" y="-144463"/>
            <a:ext cx="5568553" cy="556857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0" y="-151319"/>
            <a:ext cx="65" cy="30263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 flipH="1">
            <a:off x="4644008" y="5733256"/>
            <a:ext cx="144016" cy="30263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" y="1412776"/>
            <a:ext cx="914399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Bahnschrift Light Condensed" pitchFamily="34" charset="0"/>
              </a:rPr>
              <a:t>Пошаговый алгоритм:</a:t>
            </a:r>
            <a:endParaRPr lang="ru-RU" sz="2000" dirty="0" smtClean="0">
              <a:latin typeface="Bahnschrift Light Condensed" pitchFamily="34" charset="0"/>
            </a:endParaRPr>
          </a:p>
          <a:p>
            <a:pPr lvl="1"/>
            <a:r>
              <a:rPr lang="ru-RU" sz="2000" b="1" dirty="0" smtClean="0">
                <a:latin typeface="Bahnschrift Light Condensed" pitchFamily="34" charset="0"/>
              </a:rPr>
              <a:t>Изучение:</a:t>
            </a:r>
            <a:r>
              <a:rPr lang="ru-RU" sz="2000" dirty="0" smtClean="0">
                <a:latin typeface="Bahnschrift Light Condensed" pitchFamily="34" charset="0"/>
              </a:rPr>
              <a:t> Получил кадр от ПК-A на порт 1 → записал в таблицу: MAC-A -&gt; </a:t>
            </a:r>
            <a:r>
              <a:rPr lang="ru-RU" sz="2000" dirty="0" err="1" smtClean="0">
                <a:latin typeface="Bahnschrift Light Condensed" pitchFamily="34" charset="0"/>
              </a:rPr>
              <a:t>Port</a:t>
            </a:r>
            <a:r>
              <a:rPr lang="ru-RU" sz="2000" dirty="0" smtClean="0">
                <a:latin typeface="Bahnschrift Light Condensed" pitchFamily="34" charset="0"/>
              </a:rPr>
              <a:t> 1.</a:t>
            </a:r>
          </a:p>
          <a:p>
            <a:pPr lvl="1"/>
            <a:r>
              <a:rPr lang="ru-RU" sz="2000" b="1" dirty="0" smtClean="0">
                <a:latin typeface="Bahnschrift Light Condensed" pitchFamily="34" charset="0"/>
              </a:rPr>
              <a:t>Пересылка:</a:t>
            </a:r>
            <a:r>
              <a:rPr lang="ru-RU" sz="2000" dirty="0" smtClean="0">
                <a:latin typeface="Bahnschrift Light Condensed" pitchFamily="34" charset="0"/>
              </a:rPr>
              <a:t> Получил кадр для MAC-B → смотрит в таблицу. Если MAC-B -&gt; </a:t>
            </a:r>
            <a:r>
              <a:rPr lang="ru-RU" sz="2000" dirty="0" err="1" smtClean="0">
                <a:latin typeface="Bahnschrift Light Condensed" pitchFamily="34" charset="0"/>
              </a:rPr>
              <a:t>Port</a:t>
            </a:r>
            <a:r>
              <a:rPr lang="ru-RU" sz="2000" dirty="0" smtClean="0">
                <a:latin typeface="Bahnschrift Light Condensed" pitchFamily="34" charset="0"/>
              </a:rPr>
              <a:t> 2, отправляет </a:t>
            </a:r>
            <a:r>
              <a:rPr lang="ru-RU" sz="2000" b="1" dirty="0" smtClean="0">
                <a:latin typeface="Bahnschrift Light Condensed" pitchFamily="34" charset="0"/>
              </a:rPr>
              <a:t>только на порт 2</a:t>
            </a:r>
            <a:r>
              <a:rPr lang="ru-RU" sz="2000" dirty="0" smtClean="0">
                <a:latin typeface="Bahnschrift Light Condensed" pitchFamily="34" charset="0"/>
              </a:rPr>
              <a:t>.</a:t>
            </a:r>
          </a:p>
          <a:p>
            <a:pPr lvl="1"/>
            <a:r>
              <a:rPr lang="ru-RU" sz="2000" b="1" dirty="0" smtClean="0">
                <a:latin typeface="Bahnschrift Light Condensed" pitchFamily="34" charset="0"/>
              </a:rPr>
              <a:t>Затопление (</a:t>
            </a:r>
            <a:r>
              <a:rPr lang="ru-RU" sz="2000" b="1" dirty="0" err="1" smtClean="0">
                <a:latin typeface="Bahnschrift Light Condensed" pitchFamily="34" charset="0"/>
              </a:rPr>
              <a:t>Flooding</a:t>
            </a:r>
            <a:r>
              <a:rPr lang="ru-RU" sz="2000" b="1" dirty="0" smtClean="0">
                <a:latin typeface="Bahnschrift Light Condensed" pitchFamily="34" charset="0"/>
              </a:rPr>
              <a:t>):</a:t>
            </a:r>
            <a:r>
              <a:rPr lang="ru-RU" sz="2000" dirty="0" smtClean="0">
                <a:latin typeface="Bahnschrift Light Condensed" pitchFamily="34" charset="0"/>
              </a:rPr>
              <a:t> Если MAC-адрес не известен → отправляет на все порты (кроме исходного).</a:t>
            </a:r>
          </a:p>
          <a:p>
            <a:r>
              <a:rPr lang="ru-RU" sz="2000" b="1" dirty="0" smtClean="0">
                <a:latin typeface="Bahnschrift Light Condensed" pitchFamily="34" charset="0"/>
              </a:rPr>
              <a:t>Итог:</a:t>
            </a:r>
            <a:r>
              <a:rPr lang="ru-RU" sz="2000" dirty="0" smtClean="0">
                <a:latin typeface="Bahnschrift Light Condensed" pitchFamily="34" charset="0"/>
              </a:rPr>
              <a:t> Повышает скорость и безопасность сети, изолируя трафик.</a:t>
            </a:r>
          </a:p>
          <a:p>
            <a:endParaRPr lang="ru-RU" dirty="0"/>
          </a:p>
        </p:txBody>
      </p:sp>
      <p:pic>
        <p:nvPicPr>
          <p:cNvPr id="15368" name="Picture 8" descr="https://i.pinimg.com/736x/e9/37/3c/e9373ce99e65ebb1d52b4c7c408f2dbf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395536" y="4149080"/>
            <a:ext cx="2448272" cy="24456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i.pinimg.com/736x/2a/e4/39/2ae4390785d24aad546058fb68a827d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5373216"/>
            <a:ext cx="8205379" cy="1484784"/>
          </a:xfrm>
          <a:prstGeom prst="rect">
            <a:avLst/>
          </a:prstGeom>
          <a:noFill/>
        </p:spPr>
      </p:pic>
      <p:sp>
        <p:nvSpPr>
          <p:cNvPr id="11" name="Скругленный прямоугольник 10"/>
          <p:cNvSpPr/>
          <p:nvPr/>
        </p:nvSpPr>
        <p:spPr>
          <a:xfrm>
            <a:off x="6516216" y="1988840"/>
            <a:ext cx="1944216" cy="3600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851920" y="1916832"/>
            <a:ext cx="1368152" cy="43204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11560" y="1916832"/>
            <a:ext cx="1800200" cy="3600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Маршрутизатор (</a:t>
            </a:r>
            <a:r>
              <a:rPr lang="ru-RU" dirty="0" err="1" smtClean="0">
                <a:latin typeface="Bahnschrift Condensed" pitchFamily="34" charset="0"/>
              </a:rPr>
              <a:t>Router</a:t>
            </a:r>
            <a:r>
              <a:rPr lang="ru-RU" dirty="0" smtClean="0">
                <a:latin typeface="Bahnschrift Condensed" pitchFamily="34" charset="0"/>
              </a:rPr>
              <a:t>) – "Пограничник и навигатор</a:t>
            </a:r>
            <a:r>
              <a:rPr lang="ru-RU" dirty="0" smtClean="0">
                <a:latin typeface="Bahnschrift Condensed" pitchFamily="34" charset="0"/>
              </a:rPr>
              <a:t>"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2996952"/>
            <a:ext cx="8568952" cy="3484984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 smtClean="0">
                <a:latin typeface="Bahnschrift Light Condensed" pitchFamily="34" charset="0"/>
              </a:rPr>
              <a:t>Пошаговый алгоритм работы:</a:t>
            </a:r>
          </a:p>
          <a:p>
            <a:r>
              <a:rPr lang="ru-RU" dirty="0" smtClean="0">
                <a:latin typeface="Bahnschrift Light Condensed" pitchFamily="34" charset="0"/>
              </a:rPr>
              <a:t>Разбор пакета: Получает кадр, "добирается" до IP-заголовка пакета.</a:t>
            </a:r>
          </a:p>
          <a:p>
            <a:r>
              <a:rPr lang="ru-RU" dirty="0" smtClean="0">
                <a:latin typeface="Bahnschrift Light Condensed" pitchFamily="34" charset="0"/>
              </a:rPr>
              <a:t>Поиск в таблице: Смотрит IP-адрес назначения и ищет совпадение в таблице маршрутизации (Сеть -&gt; Шлюз (</a:t>
            </a:r>
            <a:r>
              <a:rPr lang="ru-RU" dirty="0" err="1" smtClean="0">
                <a:latin typeface="Bahnschrift Light Condensed" pitchFamily="34" charset="0"/>
              </a:rPr>
              <a:t>Next</a:t>
            </a:r>
            <a:r>
              <a:rPr lang="ru-RU" dirty="0" smtClean="0">
                <a:latin typeface="Bahnschrift Light Condensed" pitchFamily="34" charset="0"/>
              </a:rPr>
              <a:t> </a:t>
            </a:r>
            <a:r>
              <a:rPr lang="ru-RU" dirty="0" err="1" smtClean="0">
                <a:latin typeface="Bahnschrift Light Condensed" pitchFamily="34" charset="0"/>
              </a:rPr>
              <a:t>Hop</a:t>
            </a:r>
            <a:r>
              <a:rPr lang="ru-RU" dirty="0" smtClean="0">
                <a:latin typeface="Bahnschrift Light Condensed" pitchFamily="34" charset="0"/>
              </a:rPr>
              <a:t>) -&gt; Интерфейс).</a:t>
            </a:r>
          </a:p>
          <a:p>
            <a:r>
              <a:rPr lang="ru-RU" dirty="0" smtClean="0">
                <a:latin typeface="Bahnschrift Light Condensed" pitchFamily="34" charset="0"/>
              </a:rPr>
              <a:t>Пересылка: Находит маршрут → отправляет пакет на следующий </a:t>
            </a:r>
            <a:r>
              <a:rPr lang="ru-RU" dirty="0" err="1" smtClean="0">
                <a:latin typeface="Bahnschrift Light Condensed" pitchFamily="34" charset="0"/>
              </a:rPr>
              <a:t>маршрутизатор</a:t>
            </a:r>
            <a:r>
              <a:rPr lang="ru-RU" dirty="0" smtClean="0">
                <a:latin typeface="Bahnschrift Light Condensed" pitchFamily="34" charset="0"/>
              </a:rPr>
              <a:t> (</a:t>
            </a:r>
            <a:r>
              <a:rPr lang="ru-RU" dirty="0" err="1" smtClean="0">
                <a:latin typeface="Bahnschrift Light Condensed" pitchFamily="34" charset="0"/>
              </a:rPr>
              <a:t>Next</a:t>
            </a:r>
            <a:r>
              <a:rPr lang="ru-RU" dirty="0" smtClean="0">
                <a:latin typeface="Bahnschrift Light Condensed" pitchFamily="34" charset="0"/>
              </a:rPr>
              <a:t> </a:t>
            </a:r>
            <a:r>
              <a:rPr lang="ru-RU" dirty="0" err="1" smtClean="0">
                <a:latin typeface="Bahnschrift Light Condensed" pitchFamily="34" charset="0"/>
              </a:rPr>
              <a:t>Hop</a:t>
            </a:r>
            <a:r>
              <a:rPr lang="ru-RU" dirty="0" smtClean="0">
                <a:latin typeface="Bahnschrift Light Condensed" pitchFamily="34" charset="0"/>
              </a:rPr>
              <a:t>), подменяя MAC-адреса в кадре.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11560" y="1916832"/>
            <a:ext cx="184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Bahnschrift Light Condensed" pitchFamily="34" charset="0"/>
              </a:rPr>
              <a:t>Локальная сеть Дома</a:t>
            </a:r>
            <a:endParaRPr lang="ru-RU" dirty="0">
              <a:latin typeface="Bahnschrift Light Condensed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51920" y="1916832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Bahnschrift Light Condensed" pitchFamily="34" charset="0"/>
              </a:rPr>
              <a:t>Маршрутизатор</a:t>
            </a:r>
            <a:endParaRPr lang="ru-RU" dirty="0">
              <a:latin typeface="Bahnschrift Light Condensed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16216" y="1988840"/>
            <a:ext cx="1996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Интернет (облако)</a:t>
            </a:r>
            <a:endParaRPr lang="ru-RU" dirty="0"/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2555776" y="2132856"/>
            <a:ext cx="1152128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5364088" y="2132856"/>
            <a:ext cx="1008112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Как устройства получают IP-адрес? (DHCP</a:t>
            </a:r>
            <a:r>
              <a:rPr lang="ru-RU" dirty="0" smtClean="0">
                <a:latin typeface="Bahnschrift Condensed" pitchFamily="34" charset="0"/>
              </a:rPr>
              <a:t>)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340768"/>
            <a:ext cx="4355976" cy="551723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ru-RU" dirty="0" smtClean="0">
                <a:latin typeface="Bahnschrift Light Condensed" pitchFamily="34" charset="0"/>
              </a:rPr>
              <a:t>Процесс "четырех шагов</a:t>
            </a:r>
            <a:r>
              <a:rPr lang="ru-RU" dirty="0" smtClean="0">
                <a:latin typeface="Bahnschrift Light Condensed" pitchFamily="34" charset="0"/>
              </a:rPr>
              <a:t>":</a:t>
            </a:r>
          </a:p>
          <a:p>
            <a:pPr>
              <a:buNone/>
            </a:pPr>
            <a:r>
              <a:rPr lang="ru-RU" dirty="0" smtClean="0">
                <a:latin typeface="Bahnschrift Light Condensed" pitchFamily="34" charset="0"/>
              </a:rPr>
              <a:t>DISCOVER</a:t>
            </a:r>
            <a:r>
              <a:rPr lang="ru-RU" dirty="0" smtClean="0">
                <a:latin typeface="Bahnschrift Light Condensed" pitchFamily="34" charset="0"/>
              </a:rPr>
              <a:t>: "Клиент кричит: Есть тут DHCP-сервер</a:t>
            </a:r>
            <a:r>
              <a:rPr lang="ru-RU" dirty="0" smtClean="0">
                <a:latin typeface="Bahnschrift Light Condensed" pitchFamily="34" charset="0"/>
              </a:rPr>
              <a:t>?«</a:t>
            </a:r>
          </a:p>
          <a:p>
            <a:pPr>
              <a:buNone/>
            </a:pPr>
            <a:r>
              <a:rPr lang="ru-RU" dirty="0" smtClean="0">
                <a:latin typeface="Bahnschrift Light Condensed" pitchFamily="34" charset="0"/>
              </a:rPr>
              <a:t>OFFER</a:t>
            </a:r>
            <a:r>
              <a:rPr lang="ru-RU" dirty="0" smtClean="0">
                <a:latin typeface="Bahnschrift Light Condensed" pitchFamily="34" charset="0"/>
              </a:rPr>
              <a:t>: "Сервер откликается: Вот тебе свободный адрес</a:t>
            </a:r>
            <a:r>
              <a:rPr lang="ru-RU" dirty="0" smtClean="0">
                <a:latin typeface="Bahnschrift Light Condensed" pitchFamily="34" charset="0"/>
              </a:rPr>
              <a:t>!«</a:t>
            </a:r>
          </a:p>
          <a:p>
            <a:pPr>
              <a:buNone/>
            </a:pPr>
            <a:r>
              <a:rPr lang="ru-RU" dirty="0" smtClean="0">
                <a:latin typeface="Bahnschrift Light Condensed" pitchFamily="34" charset="0"/>
              </a:rPr>
              <a:t>REQUEST</a:t>
            </a:r>
            <a:r>
              <a:rPr lang="ru-RU" dirty="0" smtClean="0">
                <a:latin typeface="Bahnschrift Light Condensed" pitchFamily="34" charset="0"/>
              </a:rPr>
              <a:t>: "Клиент подтверждает: Я беру этот адрес</a:t>
            </a:r>
            <a:r>
              <a:rPr lang="ru-RU" dirty="0" smtClean="0">
                <a:latin typeface="Bahnschrift Light Condensed" pitchFamily="34" charset="0"/>
              </a:rPr>
              <a:t>!«</a:t>
            </a:r>
          </a:p>
          <a:p>
            <a:pPr>
              <a:buNone/>
            </a:pPr>
            <a:r>
              <a:rPr lang="ru-RU" dirty="0" smtClean="0">
                <a:latin typeface="Bahnschrift Light Condensed" pitchFamily="34" charset="0"/>
              </a:rPr>
              <a:t>ACK(</a:t>
            </a:r>
            <a:r>
              <a:rPr lang="ru-RU" dirty="0" err="1" smtClean="0">
                <a:latin typeface="Bahnschrift Light Condensed" pitchFamily="34" charset="0"/>
              </a:rPr>
              <a:t>Acknowledgement</a:t>
            </a:r>
            <a:r>
              <a:rPr lang="ru-RU" dirty="0" smtClean="0">
                <a:latin typeface="Bahnschrift Light Condensed" pitchFamily="34" charset="0"/>
              </a:rPr>
              <a:t>): "Сервер </a:t>
            </a:r>
            <a:r>
              <a:rPr lang="ru-RU" dirty="0" err="1" smtClean="0">
                <a:latin typeface="Bahnschrift Light Condensed" pitchFamily="34" charset="0"/>
              </a:rPr>
              <a:t>финализирует</a:t>
            </a:r>
            <a:r>
              <a:rPr lang="ru-RU" dirty="0" smtClean="0">
                <a:latin typeface="Bahnschrift Light Condensed" pitchFamily="34" charset="0"/>
              </a:rPr>
              <a:t>: Хорошо, адрес твой на время аренды</a:t>
            </a:r>
            <a:r>
              <a:rPr lang="ru-RU" dirty="0" smtClean="0">
                <a:latin typeface="Bahnschrift Light Condensed" pitchFamily="34" charset="0"/>
              </a:rPr>
              <a:t>."</a:t>
            </a:r>
            <a:endParaRPr lang="ru-RU" dirty="0" smtClean="0">
              <a:latin typeface="Bahnschrift Light Condensed" pitchFamily="34" charset="0"/>
            </a:endParaRPr>
          </a:p>
        </p:txBody>
      </p:sp>
      <p:pic>
        <p:nvPicPr>
          <p:cNvPr id="17410" name="Picture 2" descr="https://i.pinimg.com/736x/ed/ef/3f/edef3fde27f544234ff58acb427dfbe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1412777"/>
            <a:ext cx="4211960" cy="54452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Bahnschrift Condensed" pitchFamily="34" charset="0"/>
              </a:rPr>
              <a:t>DNS – "</a:t>
            </a:r>
            <a:r>
              <a:rPr lang="ru-RU" dirty="0" smtClean="0">
                <a:latin typeface="Bahnschrift Condensed" pitchFamily="34" charset="0"/>
              </a:rPr>
              <a:t>Телефонная книга Интернета</a:t>
            </a:r>
            <a:r>
              <a:rPr lang="ru-RU" dirty="0" smtClean="0">
                <a:latin typeface="Bahnschrift Condensed" pitchFamily="34" charset="0"/>
              </a:rPr>
              <a:t>"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268760"/>
            <a:ext cx="8229600" cy="34849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800" b="1" dirty="0" smtClean="0">
                <a:latin typeface="Bahnschrift Light Condensed" pitchFamily="34" charset="0"/>
              </a:rPr>
              <a:t>Ключевые термины:</a:t>
            </a:r>
            <a:endParaRPr lang="ru-RU" sz="2800" dirty="0" smtClean="0">
              <a:latin typeface="Bahnschrift Light Condensed" pitchFamily="34" charset="0"/>
            </a:endParaRPr>
          </a:p>
          <a:p>
            <a:pPr lvl="1">
              <a:buNone/>
            </a:pPr>
            <a:r>
              <a:rPr lang="ru-RU" b="1" dirty="0" err="1" smtClean="0">
                <a:latin typeface="Bahnschrift Light Condensed" pitchFamily="34" charset="0"/>
              </a:rPr>
              <a:t>DNS-резолвер</a:t>
            </a:r>
            <a:r>
              <a:rPr lang="ru-RU" dirty="0" smtClean="0">
                <a:latin typeface="Bahnschrift Light Condensed" pitchFamily="34" charset="0"/>
              </a:rPr>
              <a:t> (часто у провайдера, 8.8.8.8).</a:t>
            </a:r>
          </a:p>
          <a:p>
            <a:pPr lvl="1">
              <a:buNone/>
            </a:pPr>
            <a:r>
              <a:rPr lang="ru-RU" b="1" dirty="0" smtClean="0">
                <a:latin typeface="Bahnschrift Light Condensed" pitchFamily="34" charset="0"/>
              </a:rPr>
              <a:t>Корневые серверы</a:t>
            </a:r>
            <a:r>
              <a:rPr lang="ru-RU" dirty="0" smtClean="0">
                <a:latin typeface="Bahnschrift Light Condensed" pitchFamily="34" charset="0"/>
              </a:rPr>
              <a:t> (13 групп </a:t>
            </a:r>
            <a:r>
              <a:rPr lang="ru-RU" dirty="0" err="1" smtClean="0">
                <a:latin typeface="Bahnschrift Light Condensed" pitchFamily="34" charset="0"/>
              </a:rPr>
              <a:t>worldwide</a:t>
            </a:r>
            <a:r>
              <a:rPr lang="ru-RU" dirty="0" smtClean="0">
                <a:latin typeface="Bahnschrift Light Condensed" pitchFamily="34" charset="0"/>
              </a:rPr>
              <a:t>).</a:t>
            </a:r>
          </a:p>
          <a:p>
            <a:pPr lvl="1">
              <a:buNone/>
            </a:pPr>
            <a:r>
              <a:rPr lang="ru-RU" b="1" dirty="0" err="1" smtClean="0">
                <a:latin typeface="Bahnschrift Light Condensed" pitchFamily="34" charset="0"/>
              </a:rPr>
              <a:t>Авторитативный</a:t>
            </a:r>
            <a:r>
              <a:rPr lang="ru-RU" b="1" dirty="0" smtClean="0">
                <a:latin typeface="Bahnschrift Light Condensed" pitchFamily="34" charset="0"/>
              </a:rPr>
              <a:t> сервер</a:t>
            </a:r>
            <a:r>
              <a:rPr lang="ru-RU" dirty="0" smtClean="0">
                <a:latin typeface="Bahnschrift Light Condensed" pitchFamily="34" charset="0"/>
              </a:rPr>
              <a:t> (окончательный источник истины </a:t>
            </a:r>
            <a:r>
              <a:rPr lang="ru-RU" dirty="0" smtClean="0">
                <a:latin typeface="Bahnschrift Light Condensed" pitchFamily="34" charset="0"/>
              </a:rPr>
              <a:t>для домена</a:t>
            </a:r>
            <a:r>
              <a:rPr lang="ru-RU" dirty="0" smtClean="0">
                <a:latin typeface="Bahnschrift Light Condensed" pitchFamily="34" charset="0"/>
              </a:rPr>
              <a:t>).</a:t>
            </a:r>
          </a:p>
          <a:p>
            <a:pPr>
              <a:buNone/>
            </a:pPr>
            <a:r>
              <a:rPr lang="ru-RU" sz="2800" b="1" dirty="0" smtClean="0">
                <a:latin typeface="Bahnschrift Light Condensed" pitchFamily="34" charset="0"/>
              </a:rPr>
              <a:t>Важность:</a:t>
            </a:r>
            <a:r>
              <a:rPr lang="ru-RU" sz="2800" dirty="0" smtClean="0">
                <a:latin typeface="Bahnschrift Light Condensed" pitchFamily="34" charset="0"/>
              </a:rPr>
              <a:t> Без DNS нам пришлось бы запоминать числовые IP-адреса всех сайтов</a:t>
            </a:r>
            <a:r>
              <a:rPr lang="ru-RU" sz="2800" dirty="0" smtClean="0">
                <a:latin typeface="Bahnschrift Light Condensed" pitchFamily="34" charset="0"/>
              </a:rPr>
              <a:t>.</a:t>
            </a:r>
            <a:endParaRPr lang="ru-RU" sz="2800" dirty="0" smtClean="0">
              <a:latin typeface="Bahnschrift Light Condensed" pitchFamily="34" charset="0"/>
            </a:endParaRPr>
          </a:p>
        </p:txBody>
      </p:sp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4725144"/>
            <a:ext cx="7056784" cy="18968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Picture 4" descr="https://i.pinimg.com/736x/02/81/13/0281137475f32614a093ae2795e5fe1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105024"/>
            <a:ext cx="9144000" cy="4752976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 </a:t>
            </a:r>
            <a:r>
              <a:rPr lang="ru-RU" dirty="0" smtClean="0">
                <a:latin typeface="Bahnschrift Condensed" pitchFamily="34" charset="0"/>
              </a:rPr>
              <a:t>Алгоритмы маршрутизации – "Логика выбора пути</a:t>
            </a:r>
            <a:r>
              <a:rPr lang="ru-RU" dirty="0" smtClean="0">
                <a:latin typeface="Bahnschrift Condensed" pitchFamily="34" charset="0"/>
              </a:rPr>
              <a:t>"</a:t>
            </a:r>
            <a:endParaRPr lang="ru-RU" dirty="0">
              <a:latin typeface="Bahnschrift Condensed" pitchFamily="34" charset="0"/>
            </a:endParaRPr>
          </a:p>
        </p:txBody>
      </p:sp>
      <p:pic>
        <p:nvPicPr>
          <p:cNvPr id="5" name="Содержимое 4" descr="2026-02-01_16-03-34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0" y="1844824"/>
            <a:ext cx="9145016" cy="16777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8" name="Picture 8" descr="https://i.pinimg.com/736x/df/1d/78/df1d78b7696464b4d064cfc0be8625c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869160"/>
            <a:ext cx="9144000" cy="198884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Bahnschrift Condensed" pitchFamily="34" charset="0"/>
              </a:rPr>
              <a:t>Итог: Взаимодействие всех </a:t>
            </a:r>
            <a:r>
              <a:rPr lang="ru-RU" sz="3600" dirty="0" smtClean="0">
                <a:latin typeface="Bahnschrift Condensed" pitchFamily="34" charset="0"/>
              </a:rPr>
              <a:t>компонентов</a:t>
            </a:r>
            <a:endParaRPr lang="ru-RU" sz="3600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.</a:t>
            </a:r>
          </a:p>
          <a:p>
            <a:endParaRPr lang="ru-RU" dirty="0"/>
          </a:p>
        </p:txBody>
      </p:sp>
      <p:pic>
        <p:nvPicPr>
          <p:cNvPr id="20484" name="Picture 4" descr="https://avatars.mds.yandex.net/i?id=fc912451ec53438366ed2e3e151e7e10db11a010-9461059-images-thumbs&amp;n=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1988840"/>
            <a:ext cx="4572000" cy="2876551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251520" y="1412776"/>
            <a:ext cx="1872208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395536" y="1268760"/>
            <a:ext cx="87484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Bahnschrift Light Condensed" pitchFamily="34" charset="0"/>
              </a:rPr>
              <a:t>Главный вывод:</a:t>
            </a:r>
            <a:r>
              <a:rPr lang="ru-RU" sz="2400" dirty="0" smtClean="0">
                <a:latin typeface="Bahnschrift Light Condensed" pitchFamily="34" charset="0"/>
              </a:rPr>
              <a:t> Каждый компонент решает свою задачу на своём уровне, обеспечивая слаженную и масштабируемую работу глобальной сети.</a:t>
            </a:r>
          </a:p>
          <a:p>
            <a:endParaRPr lang="ru-RU" dirty="0"/>
          </a:p>
        </p:txBody>
      </p:sp>
      <p:pic>
        <p:nvPicPr>
          <p:cNvPr id="20482" name="Picture 2" descr="Picture backgroun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504" y="2132856"/>
            <a:ext cx="4248472" cy="27424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Изображение пина-истори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260648"/>
            <a:ext cx="7010400" cy="6210301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15616" y="5877272"/>
            <a:ext cx="3960440" cy="604664"/>
          </a:xfrm>
          <a:solidFill>
            <a:schemeClr val="bg1"/>
          </a:solidFill>
        </p:spPr>
        <p:txBody>
          <a:bodyPr/>
          <a:lstStyle/>
          <a:p>
            <a:pPr>
              <a:buNone/>
            </a:pPr>
            <a:r>
              <a:rPr lang="ru-RU" dirty="0" smtClean="0"/>
              <a:t>Спасибо за внимание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110</Words>
  <Application>Microsoft Office PowerPoint</Application>
  <PresentationFormat>Экран (4:3)</PresentationFormat>
  <Paragraphs>45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Как работают коммутаторы, маршрутизаторы, IP, DNS и алгоритмы маршрутизации  </vt:lpstr>
      <vt:lpstr>Два ключевых уровня: L2 и L3</vt:lpstr>
      <vt:lpstr>Коммутатор (Switch) – "Интеллектуальный распорядитель" LAN</vt:lpstr>
      <vt:lpstr>Маршрутизатор (Router) – "Пограничник и навигатор"</vt:lpstr>
      <vt:lpstr>Как устройства получают IP-адрес? (DHCP)</vt:lpstr>
      <vt:lpstr>DNS – "Телефонная книга Интернета"</vt:lpstr>
      <vt:lpstr> Алгоритмы маршрутизации – "Логика выбора пути"</vt:lpstr>
      <vt:lpstr>Итог: Взаимодействие всех компонентов</vt:lpstr>
      <vt:lpstr>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работают коммутаторы, маршрутизаторы, IP, DNS и алгоритмы маршрутизации  </dc:title>
  <dc:creator>79774</dc:creator>
  <cp:lastModifiedBy>79774075648</cp:lastModifiedBy>
  <cp:revision>11</cp:revision>
  <dcterms:created xsi:type="dcterms:W3CDTF">2026-02-01T10:58:16Z</dcterms:created>
  <dcterms:modified xsi:type="dcterms:W3CDTF">2026-02-01T13:19:23Z</dcterms:modified>
</cp:coreProperties>
</file>