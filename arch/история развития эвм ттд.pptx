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704" autoAdjust="0"/>
  </p:normalViewPr>
  <p:slideViewPr>
    <p:cSldViewPr>
      <p:cViewPr varScale="1">
        <p:scale>
          <a:sx n="80" d="100"/>
          <a:sy n="80" d="100"/>
        </p:scale>
        <p:origin x="-15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39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3.jpeg"/><Relationship Id="rId7" Type="http://schemas.openxmlformats.org/officeDocument/2006/relationships/image" Target="../media/image27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Relationship Id="rId9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i.pinimg.com/736x/84/a2/ab/84a2abf7b1934c0fe9d9a6ae62780c4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5" name="Скругленный прямоугольник 4"/>
          <p:cNvSpPr/>
          <p:nvPr/>
        </p:nvSpPr>
        <p:spPr>
          <a:xfrm>
            <a:off x="827584" y="4653136"/>
            <a:ext cx="5544616" cy="50405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149080"/>
            <a:ext cx="6980312" cy="1470025"/>
          </a:xfrm>
        </p:spPr>
        <p:txBody>
          <a:bodyPr/>
          <a:lstStyle/>
          <a:p>
            <a:r>
              <a:rPr lang="ru-RU" dirty="0" smtClean="0">
                <a:latin typeface="Bahnschrift Condensed" pitchFamily="34" charset="0"/>
              </a:rPr>
              <a:t>История развития ЭВМ</a:t>
            </a:r>
            <a:endParaRPr lang="ru-RU" dirty="0">
              <a:latin typeface="Bahnschrift Condense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s://i.pinimg.com/736x/c5/5e/97/c55e970b1e984fb6248c27a0e87f09b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633" y="0"/>
            <a:ext cx="912536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это такое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484784"/>
            <a:ext cx="8507288" cy="492514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b="1" dirty="0" smtClean="0">
                <a:latin typeface="Bahnschrift Condensed" pitchFamily="34" charset="0"/>
              </a:rPr>
              <a:t>Электронно-вычислительная машина (ЭВМ)</a:t>
            </a:r>
            <a:r>
              <a:rPr lang="ru-RU" dirty="0" smtClean="0">
                <a:latin typeface="Bahnschrift Condensed" pitchFamily="34" charset="0"/>
              </a:rPr>
              <a:t> — комплекс технических, аппаратных и программных средств, предназначенных для автоматической обработки информации, вычислений, автоматического управления. При этом основные функциональные элементы </a:t>
            </a:r>
            <a:r>
              <a:rPr lang="ru-RU" dirty="0" smtClean="0">
                <a:latin typeface="Bahnschrift Condensed" pitchFamily="34" charset="0"/>
              </a:rPr>
              <a:t>выполнены </a:t>
            </a:r>
            <a:r>
              <a:rPr lang="ru-RU" dirty="0" smtClean="0">
                <a:latin typeface="Bahnschrift Condensed" pitchFamily="34" charset="0"/>
              </a:rPr>
              <a:t>на электронных элементах</a:t>
            </a:r>
            <a:r>
              <a:rPr lang="ru-RU" dirty="0" smtClean="0">
                <a:latin typeface="Bahnschrift Condensed" pitchFamily="34" charset="0"/>
              </a:rPr>
              <a:t>.</a:t>
            </a:r>
            <a:endParaRPr lang="ru-RU" dirty="0" smtClean="0">
              <a:latin typeface="Bahnschrift Condensed" pitchFamily="34" charset="0"/>
            </a:endParaRPr>
          </a:p>
          <a:p>
            <a:pPr algn="just"/>
            <a:r>
              <a:rPr lang="ru-RU" dirty="0" smtClean="0">
                <a:latin typeface="Bahnschrift Condensed" pitchFamily="34" charset="0"/>
              </a:rPr>
              <a:t>ЭВМ работают с числовой, текстовой, графической и другой информацией, преобразуя её в цифровой формат. Их основная функция — автоматизация процессов, от простых арифметических операций до сложных симуляций и анализа больших данных. </a:t>
            </a:r>
          </a:p>
          <a:p>
            <a:endParaRPr lang="ru-RU" dirty="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.pinimg.com/736x/c5/5e/97/c55e970b1e984fb6248c27a0e87f09b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633" y="0"/>
            <a:ext cx="912536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Condensed" pitchFamily="34" charset="0"/>
              </a:rPr>
              <a:t>Счётно-решающие средства до появления ЭВМ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412776"/>
            <a:ext cx="8229600" cy="4525963"/>
          </a:xfrm>
        </p:spPr>
        <p:txBody>
          <a:bodyPr/>
          <a:lstStyle/>
          <a:p>
            <a:pPr algn="just"/>
            <a:r>
              <a:rPr lang="ru-RU" dirty="0" smtClean="0">
                <a:latin typeface="Bahnschrift Condensed" pitchFamily="34" charset="0"/>
              </a:rPr>
              <a:t>Одним из первых устройств (VI—V вв. до н. э.), облегчающих вычисления, можно считать специальную доску для вычислений, названную «абак». Вычисления на ней производились перемещением камешков или костей в углубления досок из бронзы, камня или слоновой кости.</a:t>
            </a:r>
            <a:endParaRPr lang="ru-RU" dirty="0">
              <a:latin typeface="Bahnschrift Condensed" pitchFamily="34" charset="0"/>
            </a:endParaRPr>
          </a:p>
        </p:txBody>
      </p:sp>
      <p:pic>
        <p:nvPicPr>
          <p:cNvPr id="5" name="Picture 4" descr="http://computerhistory.narod.ru/vichislit_prisposob_ustrojstva/abak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4293096"/>
            <a:ext cx="3381375" cy="2190750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.pinimg.com/736x/c5/5e/97/c55e970b1e984fb6248c27a0e87f09b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536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63272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Condensed" pitchFamily="34" charset="0"/>
              </a:rPr>
              <a:t>Счётно-решающие средства до появления ЭВМ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412776"/>
            <a:ext cx="8229600" cy="4525963"/>
          </a:xfrm>
        </p:spPr>
        <p:txBody>
          <a:bodyPr/>
          <a:lstStyle/>
          <a:p>
            <a:pPr algn="just"/>
            <a:r>
              <a:rPr lang="ru-RU" dirty="0" smtClean="0">
                <a:latin typeface="Bahnschrift Condensed" pitchFamily="34" charset="0"/>
              </a:rPr>
              <a:t>В начале XVII столетия, когда математика стала играть ключевую роль в науке, всё острее ощущалась необходимость в изобретении счётной машины. И в середине века молодой французский математик и физик Блез Паскаль создал «суммирующую» машину, названной </a:t>
            </a:r>
            <a:r>
              <a:rPr lang="ru-RU" dirty="0" err="1" smtClean="0">
                <a:latin typeface="Bahnschrift Condensed" pitchFamily="34" charset="0"/>
              </a:rPr>
              <a:t>Паскалиной</a:t>
            </a:r>
            <a:r>
              <a:rPr lang="ru-RU" dirty="0" smtClean="0">
                <a:latin typeface="Bahnschrift Condensed" pitchFamily="34" charset="0"/>
              </a:rPr>
              <a:t>, которая кроме сложения выполняла и вычитание.</a:t>
            </a:r>
          </a:p>
          <a:p>
            <a:endParaRPr lang="ru-RU" dirty="0"/>
          </a:p>
        </p:txBody>
      </p:sp>
      <p:pic>
        <p:nvPicPr>
          <p:cNvPr id="5" name="Picture 2" descr="http://www.uzluga.ru/potrd/%D0%92%D1%8B%D1%87%D0%B8%D1%81%D0%BB%D0%B8%D1%82%D0%B5%D0%BB%D1%8C%D0%BD%D1%8B%D0%B5+%D0%BF%D1%80%D0%B8%D1%81%D0%BF%D0%BE%D1%81%D0%BE%D0%B1%D0%BB%D0%B5%D0%BD%D0%B8%D1%8F+%D0%B8+%D1%83%D1%81%D1%82%D1%80%D0%BE%D0%B9%D1%81%D1%82%D0%B2%D0%B0+%D0%BE%D1%82+%D0%B4%D1%80%D0%B5%D0%B2%D0%BD%D0%BE%D1%81%D1%82%D0%B8+%D0%B4%D0%BE+%D0%BD%D0%B0%D1%88%D0%B8%D1%85+%D0%B4%D0%BD%D0%B5%D0%B9d/19986_html_5bfb1a0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175356">
            <a:off x="4594911" y="4272352"/>
            <a:ext cx="3744416" cy="2501270"/>
          </a:xfrm>
          <a:prstGeom prst="rect">
            <a:avLst/>
          </a:prstGeom>
          <a:noFill/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.pinimg.com/736x/c5/5e/97/c55e970b1e984fb6248c27a0e87f09b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536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63272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Condensed" pitchFamily="34" charset="0"/>
              </a:rPr>
              <a:t>Счётно-решающие средства до появления ЭВМ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26876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ru-RU" dirty="0" smtClean="0">
                <a:latin typeface="Bahnschrift Condensed" pitchFamily="34" charset="0"/>
              </a:rPr>
              <a:t>В 1670—1680 гг. немецкий математик Готфрид Лейбниц конструировал счётную машину, которая выполняла все арифметические действия. </a:t>
            </a:r>
            <a:r>
              <a:rPr lang="ru-RU" dirty="0" smtClean="0">
                <a:latin typeface="Bahnschrift Condensed" pitchFamily="34" charset="0"/>
              </a:rPr>
              <a:t>В течении следующих 200 лет подобные изобретения из-за своих недостатков не получили огласки.</a:t>
            </a:r>
            <a:endParaRPr lang="ru-RU" dirty="0">
              <a:latin typeface="Bahnschrift Condensed" pitchFamily="34" charset="0"/>
            </a:endParaRPr>
          </a:p>
        </p:txBody>
      </p:sp>
      <p:pic>
        <p:nvPicPr>
          <p:cNvPr id="15362" name="Picture 2" descr="Изображение с сайта ru.pinterest.c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3933056"/>
            <a:ext cx="3593684" cy="2564904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.pinimg.com/736x/c5/5e/97/c55e970b1e984fb6248c27a0e87f09b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536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63272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Condensed" pitchFamily="34" charset="0"/>
              </a:rPr>
              <a:t>Счётно-решающие средства до появления ЭВМ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340768"/>
            <a:ext cx="8229600" cy="4525963"/>
          </a:xfrm>
        </p:spPr>
        <p:txBody>
          <a:bodyPr/>
          <a:lstStyle/>
          <a:p>
            <a:pPr algn="just"/>
            <a:r>
              <a:rPr lang="ru-RU" dirty="0" smtClean="0">
                <a:latin typeface="Bahnschrift Condensed" pitchFamily="34" charset="0"/>
              </a:rPr>
              <a:t>В 30-е годы XX столетия в Советском Союзе был разработан более совершенный арифмометр — «Феликс». Эти счётные устройства использовались несколько десятилетий, став основным техническим средством облегчения человеческого труда. Выпускались с 1929 по 1978 год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  <p:pic>
        <p:nvPicPr>
          <p:cNvPr id="5" name="Picture 2" descr="https://upload.wikimedia.org/wikipedia/commons/thumb/a/a8/%D0%A1%D1%87%D1%91%D1%82%D0%BD%D0%B0%D1%8F_%D0%BC%D0%B0%D1%88%D0%B8%D0%BD%D0%BA%D0%B0_%D0%A4%D0%B5%D0%BB%D0%B8%D0%BA%D1%81-%D0%9C.jpg/1920px-%D0%A1%D1%87%D1%91%D1%82%D0%BD%D0%B0%D1%8F_%D0%BC%D0%B0%D1%88%D0%B8%D0%BD%D0%BA%D0%B0_%D0%A4%D0%B5%D0%BB%D0%B8%D0%BA%D1%81-%D0%9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4437112"/>
            <a:ext cx="3819209" cy="2160240"/>
          </a:xfrm>
          <a:prstGeom prst="rect">
            <a:avLst/>
          </a:prstGeom>
          <a:noFill/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.pinimg.com/736x/c5/5e/97/c55e970b1e984fb6248c27a0e87f09b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536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Condensed" pitchFamily="34" charset="0"/>
              </a:rPr>
              <a:t>Создание первых компьютеров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1340768"/>
            <a:ext cx="5112568" cy="525658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 smtClean="0">
                <a:latin typeface="Bahnschrift Condensed" pitchFamily="34" charset="0"/>
              </a:rPr>
              <a:t>В 1812 году английский математик и экономист Чарльз Бэббидж начал работу над созданием, так называемой «разностной» машины, которая, по его замыслам, должна была не просто выполнять арифметические действия, а проводить вычисления по программе, задающей определённую функцию. В качестве основного элемента своей машины Бэббидж взял зубчатое колесо для запоминания одного разряда числа.</a:t>
            </a:r>
            <a:endParaRPr lang="ru-RU" dirty="0">
              <a:latin typeface="Bahnschrift Condensed" pitchFamily="34" charset="0"/>
            </a:endParaRPr>
          </a:p>
        </p:txBody>
      </p:sp>
      <p:pic>
        <p:nvPicPr>
          <p:cNvPr id="5" name="Picture 2" descr="http://school-89.ucoz.ru/Saiti/2012-2013/Anisimova/image0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2419" y="1628800"/>
            <a:ext cx="3961581" cy="3808229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.pinimg.com/736x/c5/5e/97/c55e970b1e984fb6248c27a0e87f09b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536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Bahnschrift Condensed" pitchFamily="34" charset="0"/>
              </a:rPr>
              <a:t>Создание первых </a:t>
            </a:r>
            <a:r>
              <a:rPr lang="ru-RU" dirty="0" smtClean="0">
                <a:latin typeface="Bahnschrift Condensed" pitchFamily="34" charset="0"/>
              </a:rPr>
              <a:t>компьютеров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268760"/>
            <a:ext cx="8856984" cy="5256584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dirty="0" smtClean="0">
                <a:latin typeface="Bahnschrift Condensed" pitchFamily="34" charset="0"/>
              </a:rPr>
              <a:t>В 1834 году Бэббидж приступил к созданию «аналитической» машины. Машина Бэббиджа предполагалась как чисто механическое устройство с паровым приводом. Она состояла из хранилища для чисел, устройства для производства арифметических действий над числами и устройства, управляющего операциями машины в нужной последовательности, </a:t>
            </a:r>
            <a:r>
              <a:rPr lang="ru-RU" dirty="0" smtClean="0">
                <a:latin typeface="Bahnschrift Condensed" pitchFamily="34" charset="0"/>
              </a:rPr>
              <a:t>включая </a:t>
            </a:r>
            <a:r>
              <a:rPr lang="ru-RU" dirty="0" smtClean="0">
                <a:latin typeface="Bahnschrift Condensed" pitchFamily="34" charset="0"/>
              </a:rPr>
              <a:t>перенос </a:t>
            </a:r>
            <a:r>
              <a:rPr lang="ru-RU" dirty="0" smtClean="0">
                <a:latin typeface="Bahnschrift Condensed" pitchFamily="34" charset="0"/>
              </a:rPr>
              <a:t>чисел </a:t>
            </a:r>
            <a:r>
              <a:rPr lang="ru-RU" dirty="0" smtClean="0">
                <a:latin typeface="Bahnschrift Condensed" pitchFamily="34" charset="0"/>
              </a:rPr>
              <a:t>из одного места в другое. </a:t>
            </a:r>
            <a:r>
              <a:rPr lang="ru-RU" dirty="0" smtClean="0">
                <a:latin typeface="Bahnschrift Condensed" pitchFamily="34" charset="0"/>
              </a:rPr>
              <a:t>Бэббидж </a:t>
            </a:r>
          </a:p>
          <a:p>
            <a:pPr algn="just">
              <a:buNone/>
            </a:pPr>
            <a:r>
              <a:rPr lang="ru-RU" dirty="0" smtClean="0">
                <a:latin typeface="Bahnschrift Condensed" pitchFamily="34" charset="0"/>
              </a:rPr>
              <a:t> </a:t>
            </a:r>
            <a:r>
              <a:rPr lang="ru-RU" dirty="0" smtClean="0">
                <a:latin typeface="Bahnschrift Condensed" pitchFamily="34" charset="0"/>
              </a:rPr>
              <a:t>   работал </a:t>
            </a:r>
            <a:r>
              <a:rPr lang="ru-RU" dirty="0" smtClean="0">
                <a:latin typeface="Bahnschrift Condensed" pitchFamily="34" charset="0"/>
              </a:rPr>
              <a:t>над созданием </a:t>
            </a:r>
            <a:endParaRPr lang="ru-RU" dirty="0" smtClean="0">
              <a:latin typeface="Bahnschrift Condensed" pitchFamily="34" charset="0"/>
            </a:endParaRPr>
          </a:p>
          <a:p>
            <a:pPr algn="just">
              <a:buNone/>
            </a:pPr>
            <a:r>
              <a:rPr lang="ru-RU" dirty="0" smtClean="0">
                <a:latin typeface="Bahnschrift Condensed" pitchFamily="34" charset="0"/>
              </a:rPr>
              <a:t>    своей машины </a:t>
            </a:r>
            <a:r>
              <a:rPr lang="ru-RU" dirty="0" smtClean="0">
                <a:latin typeface="Bahnschrift Condensed" pitchFamily="34" charset="0"/>
              </a:rPr>
              <a:t>до </a:t>
            </a:r>
            <a:endParaRPr lang="ru-RU" dirty="0" smtClean="0">
              <a:latin typeface="Bahnschrift Condensed" pitchFamily="34" charset="0"/>
            </a:endParaRPr>
          </a:p>
          <a:p>
            <a:pPr algn="just">
              <a:buNone/>
            </a:pPr>
            <a:r>
              <a:rPr lang="ru-RU" dirty="0" smtClean="0">
                <a:latin typeface="Bahnschrift Condensed" pitchFamily="34" charset="0"/>
              </a:rPr>
              <a:t> </a:t>
            </a:r>
            <a:r>
              <a:rPr lang="ru-RU" dirty="0" smtClean="0">
                <a:latin typeface="Bahnschrift Condensed" pitchFamily="34" charset="0"/>
              </a:rPr>
              <a:t>   конца </a:t>
            </a:r>
            <a:r>
              <a:rPr lang="ru-RU" dirty="0" smtClean="0">
                <a:latin typeface="Bahnschrift Condensed" pitchFamily="34" charset="0"/>
              </a:rPr>
              <a:t>своей жизни.</a:t>
            </a:r>
          </a:p>
          <a:p>
            <a:endParaRPr lang="ru-RU" dirty="0"/>
          </a:p>
        </p:txBody>
      </p:sp>
      <p:pic>
        <p:nvPicPr>
          <p:cNvPr id="5" name="Picture 2" descr="http://informat444.narod.ru/museum/picture/mashin_scheutz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20900936" flipH="1">
            <a:off x="4233446" y="4769041"/>
            <a:ext cx="4932040" cy="2142239"/>
          </a:xfrm>
          <a:prstGeom prst="rect">
            <a:avLst/>
          </a:prstGeom>
          <a:noFill/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.pinimg.com/736x/c5/5e/97/c55e970b1e984fb6248c27a0e87f09b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536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Condensed" pitchFamily="34" charset="0"/>
              </a:rPr>
              <a:t>Создание первых компьютеров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268760"/>
            <a:ext cx="8229600" cy="4525963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dirty="0" smtClean="0">
                <a:latin typeface="Bahnschrift Condensed" pitchFamily="34" charset="0"/>
              </a:rPr>
              <a:t>После Бэббиджа значительный вклад в развитие техники автоматизации счёта внёс американский изобретатель Г. Холлерит, который в 1890 году впервые построил ручной перфоратор для нанесения цифровых данных на перфокарты и ввёл механическую сортировку для раскладки этих перфокарт в зависимости от места </a:t>
            </a:r>
            <a:r>
              <a:rPr lang="ru-RU" dirty="0" err="1" smtClean="0">
                <a:latin typeface="Bahnschrift Condensed" pitchFamily="34" charset="0"/>
              </a:rPr>
              <a:t>пробива</a:t>
            </a:r>
            <a:r>
              <a:rPr lang="ru-RU" dirty="0" smtClean="0">
                <a:latin typeface="Bahnschrift Condensed" pitchFamily="34" charset="0"/>
              </a:rPr>
              <a:t>. Им была построена машина — табулятор, которая прощупывала отверстия на перфокартах, воспринимала их как соответствующие числа и подсчитывала их.</a:t>
            </a:r>
          </a:p>
          <a:p>
            <a:endParaRPr lang="ru-RU" dirty="0"/>
          </a:p>
        </p:txBody>
      </p:sp>
      <p:pic>
        <p:nvPicPr>
          <p:cNvPr id="5" name="Picture 2" descr="http://xn----7sbbfb7a7aej.xn--p1ai/informatika_06/dlya_luboznati/39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4288" y="4841776"/>
            <a:ext cx="1562963" cy="2016224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.pinimg.com/736x/c5/5e/97/c55e970b1e984fb6248c27a0e87f09b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536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Condensed" pitchFamily="34" charset="0"/>
              </a:rPr>
              <a:t>Создание первых компьютеров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5040560"/>
          </a:xfrm>
        </p:spPr>
        <p:txBody>
          <a:bodyPr>
            <a:normAutofit/>
          </a:bodyPr>
          <a:lstStyle/>
          <a:p>
            <a:pPr indent="0"/>
            <a:r>
              <a:rPr lang="ru-RU" dirty="0" smtClean="0">
                <a:latin typeface="Bahnschrift Condensed" pitchFamily="34" charset="0"/>
              </a:rPr>
              <a:t>Первым создателем автоматической вычислительной машины считается немецкий учёный К. </a:t>
            </a:r>
            <a:r>
              <a:rPr lang="ru-RU" dirty="0" err="1" smtClean="0">
                <a:latin typeface="Bahnschrift Condensed" pitchFamily="34" charset="0"/>
              </a:rPr>
              <a:t>Цузе</a:t>
            </a:r>
            <a:r>
              <a:rPr lang="ru-RU" dirty="0" smtClean="0">
                <a:latin typeface="Bahnschrift Condensed" pitchFamily="34" charset="0"/>
              </a:rPr>
              <a:t>. Работы им начаты в 1933 году, а в 1936 году он построил модель механической вычислительной машины, в которой использовалась двоичная </a:t>
            </a:r>
            <a:r>
              <a:rPr lang="ru-RU" dirty="0" smtClean="0">
                <a:latin typeface="Bahnschrift Condensed" pitchFamily="34" charset="0"/>
              </a:rPr>
              <a:t>система </a:t>
            </a:r>
          </a:p>
          <a:p>
            <a:pPr indent="0">
              <a:buNone/>
            </a:pPr>
            <a:r>
              <a:rPr lang="ru-RU" dirty="0" smtClean="0">
                <a:latin typeface="Bahnschrift Condensed" pitchFamily="34" charset="0"/>
              </a:rPr>
              <a:t>счисления</a:t>
            </a:r>
            <a:r>
              <a:rPr lang="ru-RU" dirty="0" smtClean="0">
                <a:latin typeface="Bahnschrift Condensed" pitchFamily="34" charset="0"/>
              </a:rPr>
              <a:t>, форма представления </a:t>
            </a:r>
            <a:endParaRPr lang="ru-RU" dirty="0" smtClean="0">
              <a:latin typeface="Bahnschrift Condensed" pitchFamily="34" charset="0"/>
            </a:endParaRPr>
          </a:p>
          <a:p>
            <a:pPr indent="0">
              <a:buNone/>
            </a:pPr>
            <a:r>
              <a:rPr lang="ru-RU" dirty="0" smtClean="0">
                <a:latin typeface="Bahnschrift Condensed" pitchFamily="34" charset="0"/>
              </a:rPr>
              <a:t>чисел </a:t>
            </a:r>
            <a:r>
              <a:rPr lang="ru-RU" dirty="0" smtClean="0">
                <a:latin typeface="Bahnschrift Condensed" pitchFamily="34" charset="0"/>
              </a:rPr>
              <a:t>с «плавающей</a:t>
            </a:r>
            <a:r>
              <a:rPr lang="ru-RU" dirty="0" smtClean="0">
                <a:latin typeface="Bahnschrift Condensed" pitchFamily="34" charset="0"/>
              </a:rPr>
              <a:t>» </a:t>
            </a:r>
            <a:r>
              <a:rPr lang="ru-RU" dirty="0" smtClean="0">
                <a:latin typeface="Bahnschrift Condensed" pitchFamily="34" charset="0"/>
              </a:rPr>
              <a:t>запятой, </a:t>
            </a:r>
            <a:endParaRPr lang="ru-RU" dirty="0" smtClean="0">
              <a:latin typeface="Bahnschrift Condensed" pitchFamily="34" charset="0"/>
            </a:endParaRPr>
          </a:p>
          <a:p>
            <a:pPr indent="0">
              <a:buNone/>
            </a:pPr>
            <a:r>
              <a:rPr lang="ru-RU" dirty="0" smtClean="0">
                <a:latin typeface="Bahnschrift Condensed" pitchFamily="34" charset="0"/>
              </a:rPr>
              <a:t>трёхадресная </a:t>
            </a:r>
            <a:r>
              <a:rPr lang="ru-RU" dirty="0" smtClean="0">
                <a:latin typeface="Bahnschrift Condensed" pitchFamily="34" charset="0"/>
              </a:rPr>
              <a:t>система </a:t>
            </a:r>
            <a:endParaRPr lang="ru-RU" dirty="0" smtClean="0">
              <a:latin typeface="Bahnschrift Condensed" pitchFamily="34" charset="0"/>
            </a:endParaRPr>
          </a:p>
          <a:p>
            <a:pPr indent="0">
              <a:buNone/>
            </a:pPr>
            <a:r>
              <a:rPr lang="ru-RU" dirty="0" smtClean="0">
                <a:latin typeface="Bahnschrift Condensed" pitchFamily="34" charset="0"/>
              </a:rPr>
              <a:t>программирования </a:t>
            </a:r>
            <a:r>
              <a:rPr lang="ru-RU" dirty="0" smtClean="0">
                <a:latin typeface="Bahnschrift Condensed" pitchFamily="34" charset="0"/>
              </a:rPr>
              <a:t>и перфокарты.</a:t>
            </a:r>
          </a:p>
          <a:p>
            <a:endParaRPr lang="ru-RU" dirty="0"/>
          </a:p>
        </p:txBody>
      </p:sp>
      <p:pic>
        <p:nvPicPr>
          <p:cNvPr id="5" name="Picture 2" descr="http://sib.fm/content/2012/1_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52120" y="3573016"/>
            <a:ext cx="3222052" cy="3168352"/>
          </a:xfrm>
          <a:prstGeom prst="rect">
            <a:avLst/>
          </a:prstGeom>
          <a:noFill/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.pinimg.com/736x/c5/5e/97/c55e970b1e984fb6248c27a0e87f09b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536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Condensed" pitchFamily="34" charset="0"/>
              </a:rPr>
              <a:t>Создание первых компьютеров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268760"/>
            <a:ext cx="8712968" cy="5112568"/>
          </a:xfrm>
        </p:spPr>
        <p:txBody>
          <a:bodyPr/>
          <a:lstStyle/>
          <a:p>
            <a:pPr algn="just"/>
            <a:r>
              <a:rPr lang="ru-RU" dirty="0" smtClean="0">
                <a:latin typeface="Bahnschrift Condensed" pitchFamily="34" charset="0"/>
              </a:rPr>
              <a:t>Долгое время считалось, что ENIAC единственный электронный компьютер, но в 1975 году Великобритания сообщила о том, что уже с декабря 1945 года в государственном институте </a:t>
            </a:r>
            <a:r>
              <a:rPr lang="ru-RU" dirty="0" err="1" smtClean="0">
                <a:latin typeface="Bahnschrift Condensed" pitchFamily="34" charset="0"/>
              </a:rPr>
              <a:t>Блетчли-Парк</a:t>
            </a:r>
            <a:r>
              <a:rPr lang="ru-RU" dirty="0" smtClean="0">
                <a:latin typeface="Bahnschrift Condensed" pitchFamily="34" charset="0"/>
              </a:rPr>
              <a:t> работал первый программируемый ЭВМ «Колосс», но для правильной оценки компьютера </a:t>
            </a:r>
            <a:r>
              <a:rPr lang="ru-RU" dirty="0" smtClean="0">
                <a:latin typeface="Bahnschrift Condensed" pitchFamily="34" charset="0"/>
              </a:rPr>
              <a:t>Англия</a:t>
            </a:r>
          </a:p>
          <a:p>
            <a:pPr algn="just">
              <a:buNone/>
            </a:pPr>
            <a:r>
              <a:rPr lang="ru-RU" dirty="0" smtClean="0">
                <a:latin typeface="Bahnschrift Condensed" pitchFamily="34" charset="0"/>
              </a:rPr>
              <a:t> </a:t>
            </a:r>
            <a:r>
              <a:rPr lang="ru-RU" dirty="0" smtClean="0">
                <a:latin typeface="Bahnschrift Condensed" pitchFamily="34" charset="0"/>
              </a:rPr>
              <a:t>   </a:t>
            </a:r>
            <a:r>
              <a:rPr lang="ru-RU" dirty="0" smtClean="0">
                <a:latin typeface="Bahnschrift Condensed" pitchFamily="34" charset="0"/>
              </a:rPr>
              <a:t>не предоставила много данных</a:t>
            </a:r>
            <a:endParaRPr lang="ru-RU" dirty="0">
              <a:latin typeface="Bahnschrift Condensed" pitchFamily="34" charset="0"/>
            </a:endParaRPr>
          </a:p>
        </p:txBody>
      </p:sp>
      <p:pic>
        <p:nvPicPr>
          <p:cNvPr id="5" name="Picture 2" descr="http://komp26.ru/images/img5047973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064" y="3933056"/>
            <a:ext cx="3608851" cy="2706639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.pinimg.com/736x/c5/5e/97/c55e970b1e984fb6248c27a0e87f09b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536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16632"/>
            <a:ext cx="8229600" cy="864096"/>
          </a:xfrm>
        </p:spPr>
        <p:txBody>
          <a:bodyPr/>
          <a:lstStyle/>
          <a:p>
            <a:r>
              <a:rPr lang="ru-RU" dirty="0" smtClean="0">
                <a:latin typeface="Bahnschrift Condensed" pitchFamily="34" charset="0"/>
                <a:cs typeface="Arial"/>
                <a:sym typeface="Arial"/>
              </a:rPr>
              <a:t>Джон </a:t>
            </a:r>
            <a:r>
              <a:rPr lang="ru-RU" dirty="0" smtClean="0">
                <a:latin typeface="Bahnschrift Condensed" pitchFamily="34" charset="0"/>
                <a:cs typeface="Arial"/>
                <a:sym typeface="Arial"/>
              </a:rPr>
              <a:t>Ф</a:t>
            </a:r>
            <a:r>
              <a:rPr lang="ru-RU" dirty="0" smtClean="0">
                <a:latin typeface="Bahnschrift Condensed" pitchFamily="34" charset="0"/>
                <a:cs typeface="Arial"/>
                <a:sym typeface="Arial"/>
              </a:rPr>
              <a:t>он </a:t>
            </a:r>
            <a:r>
              <a:rPr lang="ru-RU" dirty="0" smtClean="0">
                <a:latin typeface="Bahnschrift Condensed" pitchFamily="34" charset="0"/>
                <a:cs typeface="Arial"/>
                <a:sym typeface="Arial"/>
              </a:rPr>
              <a:t>Н</a:t>
            </a:r>
            <a:r>
              <a:rPr lang="ru-RU" dirty="0" smtClean="0">
                <a:latin typeface="Bahnschrift Condensed" pitchFamily="34" charset="0"/>
                <a:cs typeface="Arial"/>
                <a:sym typeface="Arial"/>
              </a:rPr>
              <a:t>ейман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124744"/>
            <a:ext cx="8784976" cy="540060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Американский математик Джон фон Нейман предложил революционные принципы построения ЭВМ, которые легли в основу архитектуры почти всех современных компьютеров.</a:t>
            </a:r>
          </a:p>
          <a:p>
            <a:r>
              <a:rPr lang="ru-RU" b="1" dirty="0" smtClean="0"/>
              <a:t>Ключевые принципы:</a:t>
            </a:r>
            <a:endParaRPr lang="ru-RU" dirty="0" smtClean="0"/>
          </a:p>
          <a:p>
            <a:r>
              <a:rPr lang="ru-RU" b="1" dirty="0" smtClean="0"/>
              <a:t>Принцип хранимой программы:</a:t>
            </a:r>
            <a:r>
              <a:rPr lang="ru-RU" dirty="0" smtClean="0"/>
              <a:t> Команды программы и данные хранятся вместе в одной памяти.</a:t>
            </a:r>
          </a:p>
          <a:p>
            <a:r>
              <a:rPr lang="ru-RU" b="1" dirty="0" smtClean="0"/>
              <a:t>Адресуемость памяти:</a:t>
            </a:r>
            <a:r>
              <a:rPr lang="ru-RU" dirty="0" smtClean="0"/>
              <a:t> Ячейки памяти имеют адреса, не важно, что в них хранится — число или команда.</a:t>
            </a:r>
          </a:p>
          <a:p>
            <a:r>
              <a:rPr lang="ru-RU" b="1" dirty="0" smtClean="0"/>
              <a:t>Архитектура «одного потока команд»:</a:t>
            </a:r>
            <a:r>
              <a:rPr lang="ru-RU" dirty="0" smtClean="0"/>
              <a:t> Процессор последовательно считывает и выполняет команды из памяти.</a:t>
            </a:r>
          </a:p>
          <a:p>
            <a:r>
              <a:rPr lang="ru-RU" b="1" dirty="0" smtClean="0"/>
              <a:t>Основные блоки ЭВМ по фон Нейману:</a:t>
            </a:r>
            <a:endParaRPr lang="ru-RU" dirty="0" smtClean="0"/>
          </a:p>
          <a:p>
            <a:r>
              <a:rPr lang="ru-RU" b="1" dirty="0" smtClean="0"/>
              <a:t>Устройство управления (УУ):</a:t>
            </a:r>
            <a:r>
              <a:rPr lang="ru-RU" dirty="0" smtClean="0"/>
              <a:t> выполняет команды программы.</a:t>
            </a:r>
          </a:p>
          <a:p>
            <a:r>
              <a:rPr lang="ru-RU" b="1" dirty="0" smtClean="0"/>
              <a:t>Арифметико-логическое устройство (АЛУ):</a:t>
            </a:r>
            <a:r>
              <a:rPr lang="ru-RU" dirty="0" smtClean="0"/>
              <a:t> производит вычисления.</a:t>
            </a:r>
          </a:p>
          <a:p>
            <a:r>
              <a:rPr lang="ru-RU" b="1" dirty="0" smtClean="0"/>
              <a:t>Память:</a:t>
            </a:r>
            <a:r>
              <a:rPr lang="ru-RU" dirty="0" smtClean="0"/>
              <a:t> хранит программы и данные.</a:t>
            </a:r>
          </a:p>
          <a:p>
            <a:r>
              <a:rPr lang="ru-RU" b="1" dirty="0" smtClean="0"/>
              <a:t>Устройства ввода/вывода:</a:t>
            </a:r>
            <a:r>
              <a:rPr lang="ru-RU" dirty="0" smtClean="0"/>
              <a:t> обеспечивают связь с внешним миром</a:t>
            </a:r>
            <a:r>
              <a:rPr lang="ru-RU" dirty="0" smtClean="0"/>
              <a:t>.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.pinimg.com/736x/c5/5e/97/c55e970b1e984fb6248c27a0e87f09b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536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Condensed" pitchFamily="34" charset="0"/>
              </a:rPr>
              <a:t>Архитектура Фон Неймана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59832" y="2708921"/>
            <a:ext cx="3312368" cy="2160240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5" name="Picture 2" descr="https://upload.wikimedia.org/wikipedia/commons/3/3c/%D0%90%D1%80%D1%85%D0%B8%D1%82%D0%B5%D0%BA%D1%82%D1%83%D1%80%D0%B0_%D1%84%D0%BE%D0%BD_%D0%9D%D0%B5%D0%B9%D0%BC%D0%B0%D0%BD%D0%B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1700808"/>
            <a:ext cx="6515917" cy="4668621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.pinimg.com/736x/c5/5e/97/c55e970b1e984fb6248c27a0e87f09b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536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600200"/>
            <a:ext cx="8686800" cy="5257800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>
                <a:latin typeface="Bahnschrift Condensed" pitchFamily="34" charset="0"/>
              </a:rPr>
              <a:t>В 1945 г. Англия приступила к созданию первой машины с </a:t>
            </a:r>
            <a:r>
              <a:rPr lang="ru-RU" dirty="0" err="1" smtClean="0">
                <a:latin typeface="Bahnschrift Condensed" pitchFamily="34" charset="0"/>
              </a:rPr>
              <a:t>неймовским</a:t>
            </a:r>
            <a:r>
              <a:rPr lang="ru-RU" dirty="0" smtClean="0">
                <a:latin typeface="Bahnschrift Condensed" pitchFamily="34" charset="0"/>
              </a:rPr>
              <a:t> типом памяти. Работа была возглавлена Т. </a:t>
            </a:r>
            <a:r>
              <a:rPr lang="ru-RU" dirty="0" err="1" smtClean="0">
                <a:latin typeface="Bahnschrift Condensed" pitchFamily="34" charset="0"/>
              </a:rPr>
              <a:t>Килбрном</a:t>
            </a:r>
            <a:r>
              <a:rPr lang="ru-RU" dirty="0" smtClean="0">
                <a:latin typeface="Bahnschrift Condensed" pitchFamily="34" charset="0"/>
              </a:rPr>
              <a:t> из Манчестерского университета и Ф. </a:t>
            </a:r>
            <a:r>
              <a:rPr lang="ru-RU" dirty="0" err="1" smtClean="0">
                <a:latin typeface="Bahnschrift Condensed" pitchFamily="34" charset="0"/>
              </a:rPr>
              <a:t>Вильямсем</a:t>
            </a:r>
            <a:r>
              <a:rPr lang="ru-RU" dirty="0" smtClean="0">
                <a:latin typeface="Bahnschrift Condensed" pitchFamily="34" charset="0"/>
              </a:rPr>
              <a:t> из Кембриджского. Уже 21 июня 1948 года Т. </a:t>
            </a:r>
            <a:r>
              <a:rPr lang="ru-RU" dirty="0" err="1" smtClean="0">
                <a:latin typeface="Bahnschrift Condensed" pitchFamily="34" charset="0"/>
              </a:rPr>
              <a:t>Килбрн</a:t>
            </a:r>
            <a:r>
              <a:rPr lang="ru-RU" dirty="0" smtClean="0">
                <a:latin typeface="Bahnschrift Condensed" pitchFamily="34" charset="0"/>
              </a:rPr>
              <a:t> и Ф. Вильямс просчитали первую программу на ЭВМ «Марк-1» (одинаковое название с машиной </a:t>
            </a:r>
            <a:r>
              <a:rPr lang="ru-RU" dirty="0" err="1" smtClean="0">
                <a:latin typeface="Bahnschrift Condensed" pitchFamily="34" charset="0"/>
              </a:rPr>
              <a:t>Айкена</a:t>
            </a:r>
            <a:r>
              <a:rPr lang="ru-RU" dirty="0" smtClean="0">
                <a:latin typeface="Bahnschrift Condensed" pitchFamily="34" charset="0"/>
              </a:rPr>
              <a:t>).</a:t>
            </a:r>
          </a:p>
          <a:p>
            <a:r>
              <a:rPr lang="ru-RU" dirty="0" smtClean="0">
                <a:latin typeface="Bahnschrift Condensed" pitchFamily="34" charset="0"/>
              </a:rPr>
              <a:t>Другая группа во главе с М. Уилксом 6 мая 1949 года произвела первые расчёты машине того же типа — EDSAC.</a:t>
            </a:r>
          </a:p>
          <a:p>
            <a:r>
              <a:rPr lang="ru-RU" dirty="0" smtClean="0">
                <a:latin typeface="Bahnschrift Condensed" pitchFamily="34" charset="0"/>
              </a:rPr>
              <a:t>Вскоре были построены ещё машины EDVAC (1950 г.), BINAC и SEAC.</a:t>
            </a:r>
          </a:p>
          <a:p>
            <a:r>
              <a:rPr lang="ru-RU" dirty="0" smtClean="0">
                <a:latin typeface="Bahnschrift Condensed" pitchFamily="34" charset="0"/>
              </a:rPr>
              <a:t>В ноябре месяце того же года в Киевской лаборатории моделирования и вычислительной техники Института электротехники АН УССР под руководством академика С. А. Лебедева была создана первая советская ЭВМ — МЭСМ. МЭСМ была принципиально новой машиной, так как профессор Лебедев применил принцип параллельной обработки слов.</a:t>
            </a:r>
          </a:p>
          <a:p>
            <a:endParaRPr lang="ru-RU" dirty="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.pinimg.com/736x/c5/5e/97/c55e970b1e984fb6248c27a0e87f09b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536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 smtClean="0"/>
              <a:t>МЭСМ          </a:t>
            </a:r>
            <a:r>
              <a:rPr lang="en-US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EDVAC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8434" name="Picture 2" descr="https://avatars.mds.yandex.net/i?id=1b6c3c5789156c25c2fcc40cd76019fc5c09d139-7761916-images-thumbs&amp;n=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3140968"/>
            <a:ext cx="4320480" cy="3170996"/>
          </a:xfrm>
          <a:prstGeom prst="rect">
            <a:avLst/>
          </a:prstGeom>
          <a:noFill/>
        </p:spPr>
      </p:pic>
      <p:pic>
        <p:nvPicPr>
          <p:cNvPr id="7" name="Google Shape;170;p22"/>
          <p:cNvPicPr preferRelativeResize="0"/>
          <p:nvPr/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251520" y="1484784"/>
            <a:ext cx="3962400" cy="226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.pinimg.com/736x/c5/5e/97/c55e970b1e984fb6248c27a0e87f09b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633" y="0"/>
            <a:ext cx="912536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Condensed" pitchFamily="34" charset="0"/>
              </a:rPr>
              <a:t>Первое поколение ЭВМ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544616"/>
          </a:xfrm>
        </p:spPr>
        <p:txBody>
          <a:bodyPr>
            <a:noAutofit/>
          </a:bodyPr>
          <a:lstStyle/>
          <a:p>
            <a:pPr algn="just"/>
            <a:r>
              <a:rPr lang="ru-RU" sz="2400" b="1" dirty="0" smtClean="0">
                <a:latin typeface="Bahnschrift Condensed" pitchFamily="34" charset="0"/>
              </a:rPr>
              <a:t>Ключевая технология: Электронные лампы</a:t>
            </a:r>
            <a:r>
              <a:rPr lang="ru-RU" sz="2400" dirty="0" smtClean="0">
                <a:latin typeface="Bahnschrift Condensed" pitchFamily="34" charset="0"/>
              </a:rPr>
              <a:t> (как в старых телевизорах). Это были огромные, хрупкие, энергоёмкие и очень горячие элементы.</a:t>
            </a:r>
          </a:p>
          <a:p>
            <a:pPr algn="just"/>
            <a:r>
              <a:rPr lang="ru-RU" sz="2400" b="1" dirty="0" smtClean="0">
                <a:latin typeface="Bahnschrift Condensed" pitchFamily="34" charset="0"/>
              </a:rPr>
              <a:t>Основные </a:t>
            </a:r>
            <a:r>
              <a:rPr lang="ru-RU" sz="2400" b="1" dirty="0" smtClean="0">
                <a:latin typeface="Bahnschrift Condensed" pitchFamily="34" charset="0"/>
              </a:rPr>
              <a:t>черты: </a:t>
            </a:r>
            <a:r>
              <a:rPr lang="ru-RU" sz="2400" dirty="0" smtClean="0">
                <a:latin typeface="Bahnschrift Condensed" pitchFamily="34" charset="0"/>
              </a:rPr>
              <a:t>Гигантские размеры, Огромное энергопотребление, Низкая надежность, Очень </a:t>
            </a:r>
            <a:r>
              <a:rPr lang="ru-RU" sz="2400" dirty="0" smtClean="0">
                <a:latin typeface="Bahnschrift Condensed" pitchFamily="34" charset="0"/>
              </a:rPr>
              <a:t>низкое </a:t>
            </a:r>
            <a:r>
              <a:rPr lang="ru-RU" sz="2400" dirty="0" smtClean="0">
                <a:latin typeface="Bahnschrift Condensed" pitchFamily="34" charset="0"/>
              </a:rPr>
              <a:t>быстродействие</a:t>
            </a:r>
            <a:endParaRPr lang="ru-RU" sz="2400" dirty="0" smtClean="0">
              <a:latin typeface="Bahnschrift Condensed" pitchFamily="34" charset="0"/>
            </a:endParaRPr>
          </a:p>
          <a:p>
            <a:pPr algn="just">
              <a:buNone/>
            </a:pPr>
            <a:r>
              <a:rPr lang="ru-RU" sz="2400" b="1" dirty="0" smtClean="0">
                <a:latin typeface="Bahnschrift Condensed" pitchFamily="34" charset="0"/>
              </a:rPr>
              <a:t> </a:t>
            </a:r>
            <a:r>
              <a:rPr lang="ru-RU" sz="2400" b="1" dirty="0" smtClean="0">
                <a:latin typeface="Bahnschrift Condensed" pitchFamily="34" charset="0"/>
              </a:rPr>
              <a:t>      Программирование</a:t>
            </a:r>
            <a:r>
              <a:rPr lang="ru-RU" sz="2400" b="1" dirty="0" smtClean="0">
                <a:latin typeface="Bahnschrift Condensed" pitchFamily="34" charset="0"/>
              </a:rPr>
              <a:t>:</a:t>
            </a:r>
            <a:r>
              <a:rPr lang="ru-RU" sz="2400" dirty="0" smtClean="0">
                <a:latin typeface="Bahnschrift Condensed" pitchFamily="34" charset="0"/>
              </a:rPr>
              <a:t> Велось на языке машинных кодов (нули и единицы) или с помощью подключения штекеров и переключения тумблеров.</a:t>
            </a:r>
          </a:p>
          <a:p>
            <a:pPr algn="just"/>
            <a:r>
              <a:rPr lang="ru-RU" sz="2400" b="1" dirty="0" smtClean="0">
                <a:latin typeface="Bahnschrift Condensed" pitchFamily="34" charset="0"/>
              </a:rPr>
              <a:t>Для чего использовались?</a:t>
            </a:r>
            <a:endParaRPr lang="ru-RU" sz="2400" dirty="0" smtClean="0">
              <a:latin typeface="Bahnschrift Condensed" pitchFamily="34" charset="0"/>
            </a:endParaRPr>
          </a:p>
          <a:p>
            <a:pPr algn="just"/>
            <a:r>
              <a:rPr lang="ru-RU" sz="2400" dirty="0" smtClean="0">
                <a:latin typeface="Bahnschrift Condensed" pitchFamily="34" charset="0"/>
              </a:rPr>
              <a:t>Сложные научные и военные расчеты (например, баллистические, термоядерные</a:t>
            </a:r>
            <a:r>
              <a:rPr lang="ru-RU" sz="2400" dirty="0" smtClean="0">
                <a:latin typeface="Bahnschrift Condensed" pitchFamily="34" charset="0"/>
              </a:rPr>
              <a:t>). Дешифровка </a:t>
            </a:r>
            <a:r>
              <a:rPr lang="ru-RU" sz="2400" dirty="0" smtClean="0">
                <a:latin typeface="Bahnschrift Condensed" pitchFamily="34" charset="0"/>
              </a:rPr>
              <a:t>кодов.</a:t>
            </a:r>
          </a:p>
          <a:p>
            <a:pPr algn="just"/>
            <a:r>
              <a:rPr lang="ru-RU" sz="2400" b="1" dirty="0" smtClean="0">
                <a:latin typeface="Bahnschrift Condensed" pitchFamily="34" charset="0"/>
              </a:rPr>
              <a:t>Яркие представители:</a:t>
            </a:r>
            <a:endParaRPr lang="ru-RU" sz="2400" dirty="0" smtClean="0">
              <a:latin typeface="Bahnschrift Condensed" pitchFamily="34" charset="0"/>
            </a:endParaRPr>
          </a:p>
          <a:p>
            <a:pPr algn="just"/>
            <a:r>
              <a:rPr lang="ru-RU" sz="2400" b="1" dirty="0" smtClean="0">
                <a:latin typeface="Bahnschrift Condensed" pitchFamily="34" charset="0"/>
              </a:rPr>
              <a:t>ENIAC</a:t>
            </a:r>
            <a:r>
              <a:rPr lang="ru-RU" sz="2400" dirty="0" smtClean="0">
                <a:latin typeface="Bahnschrift Condensed" pitchFamily="34" charset="0"/>
              </a:rPr>
              <a:t> (</a:t>
            </a:r>
            <a:r>
              <a:rPr lang="ru-RU" sz="2400" dirty="0" smtClean="0">
                <a:latin typeface="Bahnschrift Condensed" pitchFamily="34" charset="0"/>
              </a:rPr>
              <a:t>США), </a:t>
            </a:r>
            <a:r>
              <a:rPr lang="ru-RU" sz="2400" b="1" dirty="0" smtClean="0">
                <a:latin typeface="Bahnschrift Condensed" pitchFamily="34" charset="0"/>
              </a:rPr>
              <a:t>EDSAC</a:t>
            </a:r>
            <a:r>
              <a:rPr lang="ru-RU" sz="2400" dirty="0" smtClean="0">
                <a:latin typeface="Bahnschrift Condensed" pitchFamily="34" charset="0"/>
              </a:rPr>
              <a:t> (</a:t>
            </a:r>
            <a:r>
              <a:rPr lang="ru-RU" sz="2400" dirty="0" smtClean="0">
                <a:latin typeface="Bahnschrift Condensed" pitchFamily="34" charset="0"/>
              </a:rPr>
              <a:t>Великобритания), </a:t>
            </a:r>
            <a:r>
              <a:rPr lang="ru-RU" sz="2400" b="1" dirty="0" smtClean="0">
                <a:latin typeface="Bahnschrift Condensed" pitchFamily="34" charset="0"/>
              </a:rPr>
              <a:t>МЭСМ</a:t>
            </a:r>
            <a:r>
              <a:rPr lang="ru-RU" sz="2400" dirty="0" smtClean="0">
                <a:latin typeface="Bahnschrift Condensed" pitchFamily="34" charset="0"/>
              </a:rPr>
              <a:t> (СССР, под руководством Сергея Лебедева)</a:t>
            </a:r>
          </a:p>
          <a:p>
            <a:pPr algn="just"/>
            <a:r>
              <a:rPr lang="ru-RU" sz="2400" b="1" dirty="0" smtClean="0">
                <a:latin typeface="Bahnschrift Condensed" pitchFamily="34" charset="0"/>
              </a:rPr>
              <a:t>Главный вклад:</a:t>
            </a:r>
            <a:r>
              <a:rPr lang="ru-RU" sz="2400" dirty="0" smtClean="0">
                <a:latin typeface="Bahnschrift Condensed" pitchFamily="34" charset="0"/>
              </a:rPr>
              <a:t> Первое поколение доказало саму возможность электронных вычислений и заложило основы архитектуры компьютеров.</a:t>
            </a:r>
          </a:p>
          <a:p>
            <a:endParaRPr lang="ru-RU" sz="2000" dirty="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.pinimg.com/736x/c5/5e/97/c55e970b1e984fb6248c27a0e87f09b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633" y="0"/>
            <a:ext cx="912536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ru-RU" dirty="0" smtClean="0">
                <a:latin typeface="Bahnschrift Condensed" pitchFamily="34" charset="0"/>
              </a:rPr>
              <a:t>Второе поколение ЭВМ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08720"/>
            <a:ext cx="6203032" cy="3340967"/>
          </a:xfrm>
        </p:spPr>
        <p:txBody>
          <a:bodyPr>
            <a:noAutofit/>
          </a:bodyPr>
          <a:lstStyle/>
          <a:p>
            <a:pPr algn="just"/>
            <a:r>
              <a:rPr lang="ru-RU" sz="2800" b="1" dirty="0" smtClean="0">
                <a:latin typeface="Bahnschrift Condensed" pitchFamily="34" charset="0"/>
              </a:rPr>
              <a:t>Ключевая технология: Транзисторы.</a:t>
            </a:r>
            <a:r>
              <a:rPr lang="ru-RU" sz="2800" dirty="0" smtClean="0">
                <a:latin typeface="Bahnschrift Condensed" pitchFamily="34" charset="0"/>
              </a:rPr>
              <a:t> Они заменили громоздкие и ненадежные электронные лампы.</a:t>
            </a:r>
          </a:p>
          <a:p>
            <a:pPr algn="just"/>
            <a:r>
              <a:rPr lang="ru-RU" sz="2800" b="1" dirty="0" smtClean="0">
                <a:latin typeface="Bahnschrift Condensed" pitchFamily="34" charset="0"/>
              </a:rPr>
              <a:t>Основные </a:t>
            </a:r>
            <a:r>
              <a:rPr lang="ru-RU" sz="2800" b="1" dirty="0" smtClean="0">
                <a:latin typeface="Bahnschrift Condensed" pitchFamily="34" charset="0"/>
              </a:rPr>
              <a:t>черты</a:t>
            </a:r>
            <a:r>
              <a:rPr lang="ru-RU" sz="2800" dirty="0" smtClean="0">
                <a:latin typeface="Bahnschrift Condensed" pitchFamily="34" charset="0"/>
              </a:rPr>
              <a:t>: Революция </a:t>
            </a:r>
            <a:r>
              <a:rPr lang="ru-RU" sz="2800" dirty="0" smtClean="0">
                <a:latin typeface="Bahnschrift Condensed" pitchFamily="34" charset="0"/>
              </a:rPr>
              <a:t>в размерах и </a:t>
            </a:r>
            <a:r>
              <a:rPr lang="ru-RU" sz="2800" dirty="0" smtClean="0">
                <a:latin typeface="Bahnschrift Condensed" pitchFamily="34" charset="0"/>
              </a:rPr>
              <a:t>надежности, Возросшая производительность, Новые </a:t>
            </a:r>
            <a:r>
              <a:rPr lang="ru-RU" sz="2800" dirty="0" smtClean="0">
                <a:latin typeface="Bahnschrift Condensed" pitchFamily="34" charset="0"/>
              </a:rPr>
              <a:t>носители </a:t>
            </a:r>
            <a:r>
              <a:rPr lang="ru-RU" sz="2800" dirty="0" smtClean="0">
                <a:latin typeface="Bahnschrift Condensed" pitchFamily="34" charset="0"/>
              </a:rPr>
              <a:t>информации, Развитие </a:t>
            </a:r>
            <a:r>
              <a:rPr lang="ru-RU" sz="2800" dirty="0" smtClean="0">
                <a:latin typeface="Bahnschrift Condensed" pitchFamily="34" charset="0"/>
              </a:rPr>
              <a:t>программного </a:t>
            </a:r>
            <a:r>
              <a:rPr lang="ru-RU" sz="2800" dirty="0" smtClean="0">
                <a:latin typeface="Bahnschrift Condensed" pitchFamily="34" charset="0"/>
              </a:rPr>
              <a:t>обеспечения</a:t>
            </a:r>
            <a:endParaRPr lang="ru-RU" sz="2800" dirty="0" smtClean="0">
              <a:latin typeface="Bahnschrift Condensed" pitchFamily="34" charset="0"/>
            </a:endParaRPr>
          </a:p>
          <a:p>
            <a:pPr algn="just"/>
            <a:r>
              <a:rPr lang="ru-RU" sz="2800" b="1" dirty="0" smtClean="0">
                <a:latin typeface="Bahnschrift Condensed" pitchFamily="34" charset="0"/>
              </a:rPr>
              <a:t>Для чего использовались?</a:t>
            </a:r>
            <a:r>
              <a:rPr lang="ru-RU" sz="2800" dirty="0" smtClean="0">
                <a:latin typeface="Bahnschrift Condensed" pitchFamily="34" charset="0"/>
              </a:rPr>
              <a:t/>
            </a:r>
            <a:br>
              <a:rPr lang="ru-RU" sz="2800" dirty="0" smtClean="0">
                <a:latin typeface="Bahnschrift Condensed" pitchFamily="34" charset="0"/>
              </a:rPr>
            </a:br>
            <a:r>
              <a:rPr lang="ru-RU" sz="2800" dirty="0" smtClean="0">
                <a:latin typeface="Bahnschrift Condensed" pitchFamily="34" charset="0"/>
              </a:rPr>
              <a:t>Их применение расширилось с чисто научных и военных задач на сферу бизнеса и управления: обработка данных, бухгалтерский учет, управление запасами.</a:t>
            </a:r>
          </a:p>
          <a:p>
            <a:pPr algn="just"/>
            <a:r>
              <a:rPr lang="ru-RU" sz="2800" b="1" dirty="0" smtClean="0">
                <a:latin typeface="Bahnschrift Condensed" pitchFamily="34" charset="0"/>
              </a:rPr>
              <a:t>Яркие </a:t>
            </a:r>
            <a:r>
              <a:rPr lang="ru-RU" sz="2800" b="1" dirty="0" smtClean="0">
                <a:latin typeface="Bahnschrift Condensed" pitchFamily="34" charset="0"/>
              </a:rPr>
              <a:t>представители:</a:t>
            </a:r>
            <a:r>
              <a:rPr lang="ru-RU" sz="2800" dirty="0" smtClean="0">
                <a:latin typeface="Bahnschrift Condensed" pitchFamily="34" charset="0"/>
              </a:rPr>
              <a:t> </a:t>
            </a:r>
            <a:r>
              <a:rPr lang="ru-RU" sz="2800" b="1" dirty="0" smtClean="0">
                <a:latin typeface="Bahnschrift Condensed" pitchFamily="34" charset="0"/>
              </a:rPr>
              <a:t>IBM 1401,</a:t>
            </a:r>
            <a:r>
              <a:rPr lang="ru-RU" sz="2800" dirty="0" smtClean="0">
                <a:latin typeface="Bahnschrift Condensed" pitchFamily="34" charset="0"/>
              </a:rPr>
              <a:t> </a:t>
            </a:r>
            <a:r>
              <a:rPr lang="ru-RU" sz="2800" b="1" dirty="0" smtClean="0">
                <a:latin typeface="Bahnschrift Condensed" pitchFamily="34" charset="0"/>
              </a:rPr>
              <a:t>PDP-1,</a:t>
            </a:r>
            <a:r>
              <a:rPr lang="ru-RU" sz="2800" dirty="0" smtClean="0">
                <a:latin typeface="Bahnschrift Condensed" pitchFamily="34" charset="0"/>
              </a:rPr>
              <a:t> </a:t>
            </a:r>
            <a:r>
              <a:rPr lang="ru-RU" sz="2800" b="1" dirty="0" smtClean="0">
                <a:latin typeface="Bahnschrift Condensed" pitchFamily="34" charset="0"/>
              </a:rPr>
              <a:t>БЭСМ-6</a:t>
            </a:r>
            <a:r>
              <a:rPr lang="ru-RU" sz="2800" dirty="0" smtClean="0">
                <a:latin typeface="Bahnschrift Condensed" pitchFamily="34" charset="0"/>
              </a:rPr>
              <a:t> </a:t>
            </a:r>
            <a:endParaRPr lang="ru-RU" sz="2800" dirty="0">
              <a:latin typeface="Bahnschrift Condensed" pitchFamily="34" charset="0"/>
            </a:endParaRPr>
          </a:p>
        </p:txBody>
      </p:sp>
      <p:pic>
        <p:nvPicPr>
          <p:cNvPr id="5" name="Google Shape;197;p26"/>
          <p:cNvPicPr preferRelativeResize="0"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7020272" y="1556792"/>
            <a:ext cx="1440160" cy="1943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98;p26"/>
          <p:cNvPicPr preferRelativeResize="0"/>
          <p:nvPr/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6876256" y="4293096"/>
            <a:ext cx="2016249" cy="1712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.pinimg.com/736x/c5/5e/97/c55e970b1e984fb6248c27a0e87f09b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633" y="0"/>
            <a:ext cx="912536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52736"/>
          </a:xfrm>
        </p:spPr>
        <p:txBody>
          <a:bodyPr/>
          <a:lstStyle/>
          <a:p>
            <a:r>
              <a:rPr lang="ru-RU" dirty="0" smtClean="0"/>
              <a:t>Третье поколение ЭВМ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980728"/>
            <a:ext cx="6408712" cy="4925144"/>
          </a:xfrm>
        </p:spPr>
        <p:txBody>
          <a:bodyPr>
            <a:noAutofit/>
          </a:bodyPr>
          <a:lstStyle/>
          <a:p>
            <a:r>
              <a:rPr lang="ru-RU" sz="2400" b="1" dirty="0" smtClean="0">
                <a:latin typeface="Bahnschrift Condensed" pitchFamily="34" charset="0"/>
              </a:rPr>
              <a:t>Ключевая технология: Интегральные схемы (микросхемы</a:t>
            </a:r>
            <a:r>
              <a:rPr lang="ru-RU" sz="2400" b="1" dirty="0" smtClean="0">
                <a:latin typeface="Bahnschrift Condensed" pitchFamily="34" charset="0"/>
              </a:rPr>
              <a:t>).</a:t>
            </a:r>
            <a:endParaRPr lang="ru-RU" sz="2400" dirty="0" smtClean="0">
              <a:latin typeface="Bahnschrift Condensed" pitchFamily="34" charset="0"/>
            </a:endParaRPr>
          </a:p>
          <a:p>
            <a:r>
              <a:rPr lang="ru-RU" sz="2400" b="1" dirty="0" smtClean="0">
                <a:latin typeface="Bahnschrift Condensed" pitchFamily="34" charset="0"/>
              </a:rPr>
              <a:t>Основные </a:t>
            </a:r>
            <a:r>
              <a:rPr lang="ru-RU" sz="2400" b="1" dirty="0" smtClean="0">
                <a:latin typeface="Bahnschrift Condensed" pitchFamily="34" charset="0"/>
              </a:rPr>
              <a:t>черты:</a:t>
            </a:r>
            <a:r>
              <a:rPr lang="ru-RU" sz="2400" dirty="0" smtClean="0">
                <a:latin typeface="Bahnschrift Condensed" pitchFamily="34" charset="0"/>
              </a:rPr>
              <a:t> </a:t>
            </a:r>
            <a:r>
              <a:rPr lang="ru-RU" sz="2400" dirty="0" smtClean="0">
                <a:latin typeface="Bahnschrift Condensed" pitchFamily="34" charset="0"/>
              </a:rPr>
              <a:t>Кардинальная миниатюризация, Резкий </a:t>
            </a:r>
            <a:r>
              <a:rPr lang="ru-RU" sz="2400" dirty="0" smtClean="0">
                <a:latin typeface="Bahnschrift Condensed" pitchFamily="34" charset="0"/>
              </a:rPr>
              <a:t>рост производительности и объема </a:t>
            </a:r>
            <a:r>
              <a:rPr lang="ru-RU" sz="2400" dirty="0" smtClean="0">
                <a:latin typeface="Bahnschrift Condensed" pitchFamily="34" charset="0"/>
              </a:rPr>
              <a:t>памяти, Развитие </a:t>
            </a:r>
            <a:r>
              <a:rPr lang="ru-RU" sz="2400" dirty="0" smtClean="0">
                <a:latin typeface="Bahnschrift Condensed" pitchFamily="34" charset="0"/>
              </a:rPr>
              <a:t>программного </a:t>
            </a:r>
            <a:r>
              <a:rPr lang="ru-RU" sz="2400" dirty="0" smtClean="0">
                <a:latin typeface="Bahnschrift Condensed" pitchFamily="34" charset="0"/>
              </a:rPr>
              <a:t>обеспечения, Стандартизация </a:t>
            </a:r>
            <a:r>
              <a:rPr lang="ru-RU" sz="2400" dirty="0" smtClean="0">
                <a:latin typeface="Bahnschrift Condensed" pitchFamily="34" charset="0"/>
              </a:rPr>
              <a:t>и семейства </a:t>
            </a:r>
            <a:r>
              <a:rPr lang="ru-RU" sz="2400" dirty="0" smtClean="0">
                <a:latin typeface="Bahnschrift Condensed" pitchFamily="34" charset="0"/>
              </a:rPr>
              <a:t>ЭВМ, Широкое </a:t>
            </a:r>
            <a:r>
              <a:rPr lang="ru-RU" sz="2400" dirty="0" smtClean="0">
                <a:latin typeface="Bahnschrift Condensed" pitchFamily="34" charset="0"/>
              </a:rPr>
              <a:t>использование магнитных дисков.</a:t>
            </a:r>
          </a:p>
          <a:p>
            <a:r>
              <a:rPr lang="ru-RU" sz="2400" b="1" dirty="0" smtClean="0">
                <a:latin typeface="Bahnschrift Condensed" pitchFamily="34" charset="0"/>
              </a:rPr>
              <a:t>Для чего использовались?</a:t>
            </a:r>
            <a:r>
              <a:rPr lang="ru-RU" sz="2400" dirty="0" smtClean="0">
                <a:latin typeface="Bahnschrift Condensed" pitchFamily="34" charset="0"/>
              </a:rPr>
              <a:t/>
            </a:r>
            <a:br>
              <a:rPr lang="ru-RU" sz="2400" dirty="0" smtClean="0">
                <a:latin typeface="Bahnschrift Condensed" pitchFamily="34" charset="0"/>
              </a:rPr>
            </a:br>
            <a:r>
              <a:rPr lang="ru-RU" sz="2400" dirty="0" smtClean="0">
                <a:latin typeface="Bahnschrift Condensed" pitchFamily="34" charset="0"/>
              </a:rPr>
              <a:t>Универсальность: от научных расчетов и управления производством до обработки коммерческих данных и создания баз данных.</a:t>
            </a:r>
          </a:p>
          <a:p>
            <a:r>
              <a:rPr lang="ru-RU" sz="2400" b="1" dirty="0" smtClean="0">
                <a:latin typeface="Bahnschrift Condensed" pitchFamily="34" charset="0"/>
              </a:rPr>
              <a:t>Яркие </a:t>
            </a:r>
            <a:r>
              <a:rPr lang="ru-RU" sz="2400" b="1" dirty="0" smtClean="0">
                <a:latin typeface="Bahnschrift Condensed" pitchFamily="34" charset="0"/>
              </a:rPr>
              <a:t>представители:</a:t>
            </a:r>
            <a:r>
              <a:rPr lang="ru-RU" sz="2400" dirty="0" smtClean="0">
                <a:latin typeface="Bahnschrift Condensed" pitchFamily="34" charset="0"/>
              </a:rPr>
              <a:t> </a:t>
            </a:r>
            <a:r>
              <a:rPr lang="ru-RU" sz="2400" b="1" dirty="0" smtClean="0">
                <a:latin typeface="Bahnschrift Condensed" pitchFamily="34" charset="0"/>
              </a:rPr>
              <a:t>IBM </a:t>
            </a:r>
            <a:r>
              <a:rPr lang="ru-RU" sz="2400" b="1" dirty="0" err="1" smtClean="0">
                <a:latin typeface="Bahnschrift Condensed" pitchFamily="34" charset="0"/>
              </a:rPr>
              <a:t>System</a:t>
            </a:r>
            <a:r>
              <a:rPr lang="ru-RU" sz="2400" b="1" dirty="0" smtClean="0">
                <a:latin typeface="Bahnschrift Condensed" pitchFamily="34" charset="0"/>
              </a:rPr>
              <a:t>/360</a:t>
            </a:r>
            <a:r>
              <a:rPr lang="ru-RU" sz="2400" dirty="0" smtClean="0">
                <a:latin typeface="Bahnschrift Condensed" pitchFamily="34" charset="0"/>
              </a:rPr>
              <a:t> </a:t>
            </a:r>
            <a:r>
              <a:rPr lang="ru-RU" sz="2400" dirty="0" smtClean="0">
                <a:latin typeface="Bahnschrift Condensed" pitchFamily="34" charset="0"/>
              </a:rPr>
              <a:t>, </a:t>
            </a:r>
            <a:r>
              <a:rPr lang="ru-RU" sz="2400" b="1" dirty="0" smtClean="0">
                <a:latin typeface="Bahnschrift Condensed" pitchFamily="34" charset="0"/>
              </a:rPr>
              <a:t>PDP-8</a:t>
            </a:r>
            <a:r>
              <a:rPr lang="ru-RU" sz="2400" dirty="0" smtClean="0">
                <a:latin typeface="Bahnschrift Condensed" pitchFamily="34" charset="0"/>
              </a:rPr>
              <a:t> и </a:t>
            </a:r>
            <a:r>
              <a:rPr lang="ru-RU" sz="2400" b="1" dirty="0" smtClean="0">
                <a:latin typeface="Bahnschrift Condensed" pitchFamily="34" charset="0"/>
              </a:rPr>
              <a:t>PDP-11</a:t>
            </a:r>
            <a:r>
              <a:rPr lang="ru-RU" sz="2400" dirty="0" smtClean="0">
                <a:latin typeface="Bahnschrift Condensed" pitchFamily="34" charset="0"/>
              </a:rPr>
              <a:t>, </a:t>
            </a:r>
            <a:r>
              <a:rPr lang="ru-RU" sz="2400" b="1" dirty="0" smtClean="0">
                <a:latin typeface="Bahnschrift Condensed" pitchFamily="34" charset="0"/>
              </a:rPr>
              <a:t>ЕС ЭВМ</a:t>
            </a:r>
            <a:r>
              <a:rPr lang="ru-RU" sz="2400" dirty="0" smtClean="0">
                <a:latin typeface="Bahnschrift Condensed" pitchFamily="34" charset="0"/>
              </a:rPr>
              <a:t>.</a:t>
            </a:r>
            <a:endParaRPr lang="ru-RU" sz="2400" dirty="0" smtClean="0">
              <a:latin typeface="Bahnschrift Condensed" pitchFamily="34" charset="0"/>
            </a:endParaRPr>
          </a:p>
          <a:p>
            <a:r>
              <a:rPr lang="ru-RU" sz="2400" b="1" dirty="0" smtClean="0">
                <a:latin typeface="Bahnschrift Condensed" pitchFamily="34" charset="0"/>
              </a:rPr>
              <a:t>Главный вклад:</a:t>
            </a:r>
            <a:r>
              <a:rPr lang="ru-RU" sz="2400" dirty="0" smtClean="0">
                <a:latin typeface="Bahnschrift Condensed" pitchFamily="34" charset="0"/>
              </a:rPr>
              <a:t> Благодаря микросхемам компьютеры стали массовым коммерческим </a:t>
            </a:r>
            <a:r>
              <a:rPr lang="ru-RU" sz="2400" dirty="0" smtClean="0">
                <a:latin typeface="Bahnschrift Condensed" pitchFamily="34" charset="0"/>
              </a:rPr>
              <a:t>продуктом</a:t>
            </a:r>
            <a:endParaRPr lang="ru-RU" sz="2400" dirty="0"/>
          </a:p>
        </p:txBody>
      </p:sp>
      <p:pic>
        <p:nvPicPr>
          <p:cNvPr id="5" name="Google Shape;207;p27"/>
          <p:cNvPicPr preferRelativeResize="0"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6732240" y="1484784"/>
            <a:ext cx="1728787" cy="1430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06;p27"/>
          <p:cNvPicPr preferRelativeResize="0"/>
          <p:nvPr/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7092280" y="4221088"/>
            <a:ext cx="1439862" cy="1439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.pinimg.com/736x/c5/5e/97/c55e970b1e984fb6248c27a0e87f09b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633" y="0"/>
            <a:ext cx="912536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Condensed" pitchFamily="34" charset="0"/>
              </a:rPr>
              <a:t>Четвертое поколение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70000" lnSpcReduction="20000"/>
          </a:bodyPr>
          <a:lstStyle/>
          <a:p>
            <a:r>
              <a:rPr lang="ru-RU" sz="3600" b="1" dirty="0" smtClean="0">
                <a:latin typeface="Bahnschrift Condensed" pitchFamily="34" charset="0"/>
              </a:rPr>
              <a:t>Ключевая технология: </a:t>
            </a:r>
            <a:r>
              <a:rPr lang="ru-RU" sz="3600" dirty="0" smtClean="0">
                <a:latin typeface="Bahnschrift Condensed" pitchFamily="34" charset="0"/>
              </a:rPr>
              <a:t>Большие (БИС) и сверхбольшие (СБИС) интегральные схемы. На одном кристалле кремния размещаются десятки тысяч, а затем миллионы и миллиарды транзисторов. Это привело к появлению микропроцессора — единого кристалла, содержащего все основные компоненты центрального процессора (АЛУ и УУ</a:t>
            </a:r>
            <a:r>
              <a:rPr lang="ru-RU" sz="3600" dirty="0" smtClean="0">
                <a:latin typeface="Bahnschrift Condensed" pitchFamily="34" charset="0"/>
              </a:rPr>
              <a:t>).</a:t>
            </a:r>
          </a:p>
          <a:p>
            <a:r>
              <a:rPr lang="ru-RU" sz="3600" b="1" dirty="0" smtClean="0">
                <a:latin typeface="Bahnschrift Condensed" pitchFamily="34" charset="0"/>
              </a:rPr>
              <a:t>Основные черты</a:t>
            </a:r>
            <a:r>
              <a:rPr lang="ru-RU" sz="3600" dirty="0" smtClean="0">
                <a:latin typeface="Bahnschrift Condensed" pitchFamily="34" charset="0"/>
              </a:rPr>
              <a:t>: </a:t>
            </a:r>
            <a:r>
              <a:rPr lang="ru-RU" sz="3600" dirty="0" smtClean="0">
                <a:latin typeface="Bahnschrift Condensed" pitchFamily="34" charset="0"/>
              </a:rPr>
              <a:t>компьютеры </a:t>
            </a:r>
            <a:r>
              <a:rPr lang="ru-RU" sz="3600" dirty="0" smtClean="0">
                <a:latin typeface="Bahnschrift Condensed" pitchFamily="34" charset="0"/>
              </a:rPr>
              <a:t>стали массовыми и </a:t>
            </a:r>
            <a:r>
              <a:rPr lang="ru-RU" sz="3600" dirty="0" smtClean="0">
                <a:latin typeface="Bahnschrift Condensed" pitchFamily="34" charset="0"/>
              </a:rPr>
              <a:t>персональными. Гигантский </a:t>
            </a:r>
            <a:r>
              <a:rPr lang="ru-RU" sz="3600" dirty="0" smtClean="0">
                <a:latin typeface="Bahnschrift Condensed" pitchFamily="34" charset="0"/>
              </a:rPr>
              <a:t>рост мощности (следуя закону Мура</a:t>
            </a:r>
            <a:r>
              <a:rPr lang="ru-RU" sz="3600" dirty="0" smtClean="0">
                <a:latin typeface="Bahnschrift Condensed" pitchFamily="34" charset="0"/>
              </a:rPr>
              <a:t>). Появление </a:t>
            </a:r>
            <a:r>
              <a:rPr lang="ru-RU" sz="3600" dirty="0" smtClean="0">
                <a:latin typeface="Bahnschrift Condensed" pitchFamily="34" charset="0"/>
              </a:rPr>
              <a:t>глобальных сетей (Интернет</a:t>
            </a:r>
            <a:r>
              <a:rPr lang="ru-RU" sz="3600" dirty="0" smtClean="0">
                <a:latin typeface="Bahnschrift Condensed" pitchFamily="34" charset="0"/>
              </a:rPr>
              <a:t>). Развитие </a:t>
            </a:r>
            <a:r>
              <a:rPr lang="ru-RU" sz="3600" dirty="0" smtClean="0">
                <a:latin typeface="Bahnschrift Condensed" pitchFamily="34" charset="0"/>
              </a:rPr>
              <a:t>графических интерфейсов (</a:t>
            </a:r>
            <a:r>
              <a:rPr lang="ru-RU" sz="3600" dirty="0" err="1" smtClean="0">
                <a:latin typeface="Bahnschrift Condensed" pitchFamily="34" charset="0"/>
              </a:rPr>
              <a:t>Windows</a:t>
            </a:r>
            <a:r>
              <a:rPr lang="ru-RU" sz="3600" dirty="0" smtClean="0">
                <a:latin typeface="Bahnschrift Condensed" pitchFamily="34" charset="0"/>
              </a:rPr>
              <a:t>, </a:t>
            </a:r>
            <a:r>
              <a:rPr lang="ru-RU" sz="3600" dirty="0" err="1" smtClean="0">
                <a:latin typeface="Bahnschrift Condensed" pitchFamily="34" charset="0"/>
              </a:rPr>
              <a:t>MacOS</a:t>
            </a:r>
            <a:r>
              <a:rPr lang="ru-RU" sz="3600" dirty="0" smtClean="0">
                <a:latin typeface="Bahnschrift Condensed" pitchFamily="34" charset="0"/>
              </a:rPr>
              <a:t>).</a:t>
            </a:r>
          </a:p>
          <a:p>
            <a:r>
              <a:rPr lang="ru-RU" sz="3600" b="1" dirty="0" smtClean="0">
                <a:latin typeface="Bahnschrift Condensed" pitchFamily="34" charset="0"/>
              </a:rPr>
              <a:t>Яркие представители</a:t>
            </a:r>
            <a:r>
              <a:rPr lang="ru-RU" sz="3600" dirty="0" smtClean="0">
                <a:latin typeface="Bahnschrift Condensed" pitchFamily="34" charset="0"/>
              </a:rPr>
              <a:t>:</a:t>
            </a:r>
          </a:p>
          <a:p>
            <a:r>
              <a:rPr lang="ru-RU" sz="3600" dirty="0" smtClean="0">
                <a:latin typeface="Bahnschrift Condensed" pitchFamily="34" charset="0"/>
              </a:rPr>
              <a:t>Первый микропроцессор: </a:t>
            </a:r>
            <a:r>
              <a:rPr lang="ru-RU" sz="3600" dirty="0" err="1" smtClean="0">
                <a:latin typeface="Bahnschrift Condensed" pitchFamily="34" charset="0"/>
              </a:rPr>
              <a:t>Intel</a:t>
            </a:r>
            <a:r>
              <a:rPr lang="ru-RU" sz="3600" dirty="0" smtClean="0">
                <a:latin typeface="Bahnschrift Condensed" pitchFamily="34" charset="0"/>
              </a:rPr>
              <a:t> 4004</a:t>
            </a:r>
          </a:p>
          <a:p>
            <a:r>
              <a:rPr lang="ru-RU" sz="3600" dirty="0" smtClean="0">
                <a:latin typeface="Bahnschrift Condensed" pitchFamily="34" charset="0"/>
              </a:rPr>
              <a:t>Первые ПК: </a:t>
            </a:r>
            <a:r>
              <a:rPr lang="ru-RU" sz="3600" dirty="0" err="1" smtClean="0">
                <a:latin typeface="Bahnschrift Condensed" pitchFamily="34" charset="0"/>
              </a:rPr>
              <a:t>Apple</a:t>
            </a:r>
            <a:r>
              <a:rPr lang="ru-RU" sz="3600" dirty="0" smtClean="0">
                <a:latin typeface="Bahnschrift Condensed" pitchFamily="34" charset="0"/>
              </a:rPr>
              <a:t> II, IBM PC</a:t>
            </a:r>
          </a:p>
          <a:p>
            <a:endParaRPr lang="ru-RU" dirty="0" smtClean="0">
              <a:latin typeface="Bahnschrift Condensed" pitchFamily="34" charset="0"/>
            </a:endParaRPr>
          </a:p>
          <a:p>
            <a:endParaRPr lang="ru-RU" dirty="0">
              <a:latin typeface="Bahnschrift Condensed" pitchFamily="34" charset="0"/>
            </a:endParaRPr>
          </a:p>
        </p:txBody>
      </p:sp>
      <p:pic>
        <p:nvPicPr>
          <p:cNvPr id="5" name="Google Shape;216;p28"/>
          <p:cNvPicPr preferRelativeResize="0">
            <a:picLocks/>
          </p:cNvPicPr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6516216" y="4149080"/>
            <a:ext cx="2494037" cy="2520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15;p28"/>
          <p:cNvPicPr preferRelativeResize="0"/>
          <p:nvPr/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4139952" y="5373216"/>
            <a:ext cx="1800225" cy="1344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.pinimg.com/736x/c5/5e/97/c55e970b1e984fb6248c27a0e87f09b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633" y="0"/>
            <a:ext cx="912536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Пятое поколение ЭВМ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5069160"/>
          </a:xfrm>
        </p:spPr>
        <p:txBody>
          <a:bodyPr>
            <a:noAutofit/>
          </a:bodyPr>
          <a:lstStyle/>
          <a:p>
            <a:r>
              <a:rPr lang="ru-RU" sz="2000" b="1" dirty="0" smtClean="0"/>
              <a:t>Ключевая идея:</a:t>
            </a:r>
            <a:r>
              <a:rPr lang="ru-RU" sz="2000" dirty="0" smtClean="0"/>
              <a:t> Создание интеллектуальных компьютеров, способных к обучению, распознаванию образов и работе с естественными языками. Фокус сместился с вычислений на </a:t>
            </a:r>
            <a:r>
              <a:rPr lang="ru-RU" sz="2000" b="1" dirty="0" smtClean="0"/>
              <a:t>искусственный интеллект (ИИ)</a:t>
            </a:r>
            <a:r>
              <a:rPr lang="ru-RU" sz="2000" dirty="0" smtClean="0"/>
              <a:t>.</a:t>
            </a:r>
          </a:p>
          <a:p>
            <a:r>
              <a:rPr lang="ru-RU" sz="2000" b="1" dirty="0" smtClean="0"/>
              <a:t>Основные черты и </a:t>
            </a:r>
            <a:r>
              <a:rPr lang="ru-RU" sz="2000" b="1" dirty="0" smtClean="0"/>
              <a:t>технологии:</a:t>
            </a:r>
            <a:r>
              <a:rPr lang="ru-RU" sz="2000" dirty="0" smtClean="0"/>
              <a:t> Искусственный </a:t>
            </a:r>
            <a:r>
              <a:rPr lang="ru-RU" sz="2000" dirty="0" smtClean="0"/>
              <a:t>интеллект и машинное </a:t>
            </a:r>
            <a:r>
              <a:rPr lang="ru-RU" sz="2000" dirty="0" smtClean="0"/>
              <a:t>обучение, Распараллеливание вычислений, Квантовые </a:t>
            </a:r>
            <a:r>
              <a:rPr lang="ru-RU" sz="2000" dirty="0" smtClean="0"/>
              <a:t>вычисления </a:t>
            </a:r>
            <a:r>
              <a:rPr lang="ru-RU" sz="2000" dirty="0" smtClean="0"/>
              <a:t>, Оптические </a:t>
            </a:r>
            <a:r>
              <a:rPr lang="ru-RU" sz="2000" dirty="0" smtClean="0"/>
              <a:t>и </a:t>
            </a:r>
            <a:r>
              <a:rPr lang="ru-RU" sz="2000" dirty="0" err="1" smtClean="0"/>
              <a:t>нейроморфные</a:t>
            </a:r>
            <a:r>
              <a:rPr lang="ru-RU" sz="2000" dirty="0" smtClean="0"/>
              <a:t> </a:t>
            </a:r>
            <a:r>
              <a:rPr lang="ru-RU" sz="2000" dirty="0" smtClean="0"/>
              <a:t>компьютеры.</a:t>
            </a:r>
          </a:p>
          <a:p>
            <a:r>
              <a:rPr lang="ru-RU" sz="2000" b="1" dirty="0" smtClean="0"/>
              <a:t>Связь </a:t>
            </a:r>
            <a:r>
              <a:rPr lang="ru-RU" sz="2000" b="1" dirty="0" smtClean="0"/>
              <a:t>с </a:t>
            </a:r>
            <a:r>
              <a:rPr lang="ru-RU" sz="2000" b="1" dirty="0" smtClean="0"/>
              <a:t>настоящим:</a:t>
            </a:r>
            <a:endParaRPr lang="ru-RU" sz="2000" dirty="0" smtClean="0"/>
          </a:p>
          <a:p>
            <a:r>
              <a:rPr lang="ru-RU" sz="2000" b="1" dirty="0" smtClean="0"/>
              <a:t>Голосовые помощники</a:t>
            </a:r>
            <a:r>
              <a:rPr lang="ru-RU" sz="2000" dirty="0" smtClean="0"/>
              <a:t> (</a:t>
            </a:r>
            <a:r>
              <a:rPr lang="ru-RU" sz="2000" dirty="0" err="1" smtClean="0"/>
              <a:t>Siri</a:t>
            </a:r>
            <a:r>
              <a:rPr lang="ru-RU" sz="2000" dirty="0" smtClean="0"/>
              <a:t>, Алиса)</a:t>
            </a:r>
          </a:p>
          <a:p>
            <a:r>
              <a:rPr lang="ru-RU" sz="2000" b="1" dirty="0" smtClean="0"/>
              <a:t>Системы рекомендаций</a:t>
            </a:r>
            <a:r>
              <a:rPr lang="ru-RU" sz="2000" dirty="0" smtClean="0"/>
              <a:t> (</a:t>
            </a:r>
            <a:r>
              <a:rPr lang="ru-RU" sz="2000" dirty="0" err="1" smtClean="0"/>
              <a:t>YouTube</a:t>
            </a:r>
            <a:r>
              <a:rPr lang="ru-RU" sz="2000" dirty="0" smtClean="0"/>
              <a:t>, </a:t>
            </a:r>
            <a:r>
              <a:rPr lang="ru-RU" sz="2000" dirty="0" err="1" smtClean="0"/>
              <a:t>Netflix</a:t>
            </a:r>
            <a:r>
              <a:rPr lang="ru-RU" sz="2000" dirty="0" smtClean="0"/>
              <a:t>)</a:t>
            </a:r>
            <a:endParaRPr lang="ru-RU" sz="2000" dirty="0" smtClean="0"/>
          </a:p>
          <a:p>
            <a:r>
              <a:rPr lang="ru-RU" sz="2000" b="1" dirty="0" smtClean="0"/>
              <a:t>Самоуправляемые автомобили</a:t>
            </a:r>
            <a:endParaRPr lang="ru-RU" sz="2000" dirty="0" smtClean="0"/>
          </a:p>
          <a:p>
            <a:r>
              <a:rPr lang="ru-RU" sz="2000" b="1" dirty="0" smtClean="0"/>
              <a:t>Обработка больших данных (</a:t>
            </a:r>
            <a:r>
              <a:rPr lang="ru-RU" sz="2000" b="1" dirty="0" err="1" smtClean="0"/>
              <a:t>Big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Data</a:t>
            </a:r>
            <a:r>
              <a:rPr lang="ru-RU" sz="2000" b="1" dirty="0" smtClean="0"/>
              <a:t>)</a:t>
            </a:r>
            <a:endParaRPr lang="ru-RU" sz="2000" dirty="0" smtClean="0"/>
          </a:p>
          <a:p>
            <a:r>
              <a:rPr lang="ru-RU" sz="2000" b="1" dirty="0" smtClean="0"/>
              <a:t>Итог:</a:t>
            </a:r>
            <a:r>
              <a:rPr lang="ru-RU" sz="2000" dirty="0" smtClean="0"/>
              <a:t> Пятое поколение — это не смена элементной базы, а смена парадигмы: от вычислений к </a:t>
            </a:r>
            <a:r>
              <a:rPr lang="ru-RU" sz="2000" b="1" dirty="0" smtClean="0"/>
              <a:t>искусственному интеллекту</a:t>
            </a:r>
            <a:r>
              <a:rPr lang="ru-RU" sz="2000" dirty="0" smtClean="0"/>
              <a:t> и способности </a:t>
            </a:r>
            <a:r>
              <a:rPr lang="ru-RU" sz="2000" dirty="0" smtClean="0"/>
              <a:t>машин </a:t>
            </a:r>
            <a:r>
              <a:rPr lang="ru-RU" sz="2000" dirty="0" smtClean="0"/>
              <a:t>к самостоятельному принятию решений.</a:t>
            </a:r>
          </a:p>
          <a:p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dirty="0"/>
          </a:p>
        </p:txBody>
      </p:sp>
      <p:pic>
        <p:nvPicPr>
          <p:cNvPr id="28674" name="Picture 2" descr="https://avatars.mds.yandex.net/i?id=feaabc80af3bc965bd765e57a234f8daf8ed9748-10332935-images-thumbs&amp;n=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24128" y="3356992"/>
            <a:ext cx="2880320" cy="2080593"/>
          </a:xfrm>
          <a:prstGeom prst="rect">
            <a:avLst/>
          </a:prstGeom>
          <a:noFill/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517232"/>
            <a:ext cx="442392" cy="608931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33808" name="Picture 16" descr="https://i.pinimg.com/736x/3b/a0/26/3ba026019d63e309b1e523352265a60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8184" y="0"/>
            <a:ext cx="2915816" cy="1628800"/>
          </a:xfrm>
          <a:prstGeom prst="rect">
            <a:avLst/>
          </a:prstGeom>
          <a:noFill/>
        </p:spPr>
      </p:pic>
      <p:pic>
        <p:nvPicPr>
          <p:cNvPr id="33804" name="Picture 12" descr="https://i.pinimg.com/736x/97/41/16/97411639dcbf5e3fef576e2fd600e86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0"/>
            <a:ext cx="2721125" cy="3789040"/>
          </a:xfrm>
          <a:prstGeom prst="rect">
            <a:avLst/>
          </a:prstGeom>
          <a:noFill/>
        </p:spPr>
      </p:pic>
      <p:pic>
        <p:nvPicPr>
          <p:cNvPr id="33800" name="Picture 8" descr="https://i.pinimg.com/736x/f9/f0/8b/f9f08bd92386aaccd5d4f424d8e281ca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91672" y="1412776"/>
            <a:ext cx="2952328" cy="2952329"/>
          </a:xfrm>
          <a:prstGeom prst="rect">
            <a:avLst/>
          </a:prstGeom>
          <a:noFill/>
        </p:spPr>
      </p:pic>
      <p:pic>
        <p:nvPicPr>
          <p:cNvPr id="33794" name="Picture 2" descr="https://i.pinimg.com/736x/cb/15/51/cb1551f7db95fbbdaa6f5f4cf2eb543a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23720" y="4337720"/>
            <a:ext cx="2520280" cy="2520280"/>
          </a:xfrm>
          <a:prstGeom prst="rect">
            <a:avLst/>
          </a:prstGeom>
          <a:noFill/>
        </p:spPr>
      </p:pic>
      <p:pic>
        <p:nvPicPr>
          <p:cNvPr id="33798" name="Picture 6" descr="https://i.pinimg.com/736x/37/94/26/379426718e7aa72c1f62e1d10cf16614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95736" y="3739926"/>
            <a:ext cx="4445463" cy="3118074"/>
          </a:xfrm>
          <a:prstGeom prst="rect">
            <a:avLst/>
          </a:prstGeom>
          <a:noFill/>
        </p:spPr>
      </p:pic>
      <p:pic>
        <p:nvPicPr>
          <p:cNvPr id="33796" name="Picture 4" descr="Изображение пина-истории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4405627"/>
            <a:ext cx="2232248" cy="2452373"/>
          </a:xfrm>
          <a:prstGeom prst="rect">
            <a:avLst/>
          </a:prstGeom>
          <a:noFill/>
        </p:spPr>
      </p:pic>
      <p:pic>
        <p:nvPicPr>
          <p:cNvPr id="33802" name="Picture 10" descr="https://i.pinimg.com/736x/90/e8/2d/90e82d8d5d839ea5f24db7c9154dd1c7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1628800"/>
            <a:ext cx="3491415" cy="2808312"/>
          </a:xfrm>
          <a:prstGeom prst="rect">
            <a:avLst/>
          </a:prstGeom>
          <a:noFill/>
        </p:spPr>
      </p:pic>
      <p:pic>
        <p:nvPicPr>
          <p:cNvPr id="33806" name="Picture 14" descr="https://i.pinimg.com/736x/91/73/62/91736238415c62dd01db0d86d4406455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-2" y="0"/>
            <a:ext cx="3491881" cy="1844824"/>
          </a:xfrm>
          <a:prstGeom prst="rect">
            <a:avLst/>
          </a:prstGeom>
          <a:noFill/>
        </p:spPr>
      </p:pic>
      <p:sp>
        <p:nvSpPr>
          <p:cNvPr id="12" name="Скругленный прямоугольник 11"/>
          <p:cNvSpPr/>
          <p:nvPr/>
        </p:nvSpPr>
        <p:spPr>
          <a:xfrm>
            <a:off x="1043608" y="3573016"/>
            <a:ext cx="7200800" cy="57606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3284984"/>
            <a:ext cx="8229600" cy="1143000"/>
          </a:xfrm>
        </p:spPr>
        <p:txBody>
          <a:bodyPr/>
          <a:lstStyle/>
          <a:p>
            <a:r>
              <a:rPr lang="ru-RU" dirty="0" smtClean="0">
                <a:latin typeface="Arial Black" pitchFamily="34" charset="0"/>
              </a:rPr>
              <a:t>Спасибо за внимание</a:t>
            </a:r>
            <a:endParaRPr lang="ru-RU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658</Words>
  <Application>Microsoft Office PowerPoint</Application>
  <PresentationFormat>Экран (4:3)</PresentationFormat>
  <Paragraphs>84</Paragraphs>
  <Slides>21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Тема Office</vt:lpstr>
      <vt:lpstr>История развития ЭВМ</vt:lpstr>
      <vt:lpstr>Что это такое</vt:lpstr>
      <vt:lpstr>Счётно-решающие средства до появления ЭВМ</vt:lpstr>
      <vt:lpstr>Счётно-решающие средства до появления ЭВМ</vt:lpstr>
      <vt:lpstr>Счётно-решающие средства до появления ЭВМ</vt:lpstr>
      <vt:lpstr>Счётно-решающие средства до появления ЭВМ</vt:lpstr>
      <vt:lpstr>Создание первых компьютеров</vt:lpstr>
      <vt:lpstr>Создание первых компьютеров</vt:lpstr>
      <vt:lpstr>Создание первых компьютеров</vt:lpstr>
      <vt:lpstr>Создание первых компьютеров</vt:lpstr>
      <vt:lpstr>Создание первых компьютеров</vt:lpstr>
      <vt:lpstr>Джон Фон Нейман</vt:lpstr>
      <vt:lpstr>Архитектура Фон Неймана</vt:lpstr>
      <vt:lpstr>Слайд 14</vt:lpstr>
      <vt:lpstr>МЭСМ          EDVAC</vt:lpstr>
      <vt:lpstr>Первое поколение ЭВМ</vt:lpstr>
      <vt:lpstr>Второе поколение ЭВМ</vt:lpstr>
      <vt:lpstr>Третье поколение ЭВМ</vt:lpstr>
      <vt:lpstr>Четвертое поколение</vt:lpstr>
      <vt:lpstr>Пятое поколение ЭВМ</vt:lpstr>
      <vt:lpstr>Спасибо за внимание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развития ЭВМ</dc:title>
  <dc:creator>79774</dc:creator>
  <cp:lastModifiedBy>79774075648</cp:lastModifiedBy>
  <cp:revision>11</cp:revision>
  <dcterms:created xsi:type="dcterms:W3CDTF">2025-09-16T13:12:44Z</dcterms:created>
  <dcterms:modified xsi:type="dcterms:W3CDTF">2025-09-16T14:58:26Z</dcterms:modified>
</cp:coreProperties>
</file>