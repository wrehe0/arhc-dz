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704" autoAdjust="0"/>
  </p:normalViewPr>
  <p:slideViewPr>
    <p:cSldViewPr>
      <p:cViewPr varScale="1">
        <p:scale>
          <a:sx n="80" d="100"/>
          <a:sy n="80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09.10.2025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s://i.pinimg.com/736x/5a/f8/42/5af8422bec9048a0eeef3fcc6015813f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78350" cy="5013176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5085184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solidFill>
                  <a:srgbClr val="0F1115"/>
                </a:solidFill>
                <a:latin typeface="Cambria Math" pitchFamily="18" charset="0"/>
                <a:ea typeface="Cambria Math" pitchFamily="18" charset="0"/>
              </a:rPr>
              <a:t>Архитектура микропроцессора: УУ, АЛУ, Память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9324528" y="3573016"/>
            <a:ext cx="3952528" cy="1752600"/>
          </a:xfrm>
        </p:spPr>
        <p:txBody>
          <a:bodyPr/>
          <a:lstStyle/>
          <a:p>
            <a:endParaRPr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Cambria Math" pitchFamily="18" charset="0"/>
                <a:ea typeface="Cambria Math" pitchFamily="18" charset="0"/>
              </a:rPr>
              <a:t>Что такое микропроцессор?</a:t>
            </a:r>
            <a:endParaRPr lang="ru-RU" b="1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340768"/>
            <a:ext cx="8136904" cy="5184576"/>
          </a:xfrm>
        </p:spPr>
        <p:txBody>
          <a:bodyPr>
            <a:normAutofit/>
          </a:bodyPr>
          <a:lstStyle/>
          <a:p>
            <a:pPr algn="just"/>
            <a:r>
              <a:rPr lang="ru-RU" dirty="0" smtClean="0">
                <a:latin typeface="Cambria Math" pitchFamily="18" charset="0"/>
                <a:ea typeface="Cambria Math" pitchFamily="18" charset="0"/>
              </a:rPr>
              <a:t>Микропроцессор — это вычислительное </a:t>
            </a:r>
            <a:r>
              <a:rPr lang="ru-RU" dirty="0" smtClean="0">
                <a:latin typeface="Cambria Math" pitchFamily="18" charset="0"/>
                <a:ea typeface="Cambria Math" pitchFamily="18" charset="0"/>
              </a:rPr>
              <a:t>ядро</a:t>
            </a:r>
          </a:p>
          <a:p>
            <a:pPr algn="just"/>
            <a:r>
              <a:rPr lang="ru-RU" dirty="0" smtClean="0">
                <a:latin typeface="Cambria Math" pitchFamily="18" charset="0"/>
                <a:ea typeface="Cambria Math" pitchFamily="18" charset="0"/>
              </a:rPr>
              <a:t>Выполняет команды программ.</a:t>
            </a:r>
          </a:p>
          <a:p>
            <a:pPr algn="just"/>
            <a:r>
              <a:rPr lang="ru-RU" dirty="0" smtClean="0">
                <a:latin typeface="Cambria Math" pitchFamily="18" charset="0"/>
                <a:ea typeface="Cambria Math" pitchFamily="18" charset="0"/>
              </a:rPr>
              <a:t>Обрабатывает данные.</a:t>
            </a:r>
          </a:p>
          <a:p>
            <a:pPr algn="just"/>
            <a:r>
              <a:rPr lang="ru-RU" dirty="0" smtClean="0">
                <a:latin typeface="Cambria Math" pitchFamily="18" charset="0"/>
                <a:ea typeface="Cambria Math" pitchFamily="18" charset="0"/>
              </a:rPr>
              <a:t>Работает с памятью и устройствами ввода/вывода.</a:t>
            </a:r>
          </a:p>
          <a:p>
            <a:pPr algn="just"/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14338" name="AutoShape 2" descr="В центре — блок &quot;Микропроцессор&quot;.&#10;&#10;Стрелки &quot;входят&quot; от блоков &quot;Память&quot; и &quot;Устройства ввода&quot;.&#10;&#10;Стрелки &quot;выходят&quot; к блокам &quot;Память&quot; и &quot;Устройства вывода&quot;.&#10;&#10;Внутри блока &quot;Микропроцессор&quot; три не подписанных блока, соединенных стрелками (визуальный намек на три компонента)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340" name="AutoShape 4" descr="В центре — блок &quot;Микропроцессор&quot;.&#10;&#10;Стрелки &quot;входят&quot; от блоков &quot;Память&quot; и &quot;Устройства ввода&quot;.&#10;&#10;Стрелки &quot;выходят&quot; к блокам &quot;Память&quot; и &quot;Устройства вывода&quot;.&#10;&#10;Внутри блока &quot;Микропроцессор&quot; три не подписанных блока, соединенных стрелками (визуальный намек на три компонента)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342" name="AutoShape 6" descr="В центре — блок &quot;Микропроцессор&quot;.&#10;&#10;Стрелки &quot;входят&quot; от блоков &quot;Память&quot; и &quot;Устройства ввода&quot;.&#10;&#10;Стрелки &quot;выходят&quot; к блокам &quot;Память&quot; и &quot;Устройства вывода&quot;.&#10;&#10;Внутри блока &quot;Микропроцессор&quot; три не подписанных блока, соединенных стрелками (визуальный намек на три компонента)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4344" name="AutoShape 8" descr="В центре — блок &quot;Микропроцессор&quot;.&#10;&#10;Стрелки &quot;входят&quot; от блоков &quot;Память&quot; и &quot;Устройства ввода&quot;.&#10;&#10;Стрелки &quot;выходят&quot; к блокам &quot;Память&quot; и &quot;Устройства вывода&quot;.&#10;&#10;Внутри блока &quot;Микропроцессор&quot; три не подписанных блока, соединенных стрелками (визуальный намек на три компонента)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4346" name="Picture 10" descr="https://i.pinimg.com/736x/88/56/8e/88568e5a9e56a58ab297c369f0391df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869160"/>
            <a:ext cx="9144000" cy="198884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Содержимое 4" descr="picture_468b089fa40f4faaa9a2e89e40fa98b2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096000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5877272"/>
            <a:ext cx="8229600" cy="1143000"/>
          </a:xfrm>
        </p:spPr>
        <p:txBody>
          <a:bodyPr/>
          <a:lstStyle/>
          <a:p>
            <a:r>
              <a:rPr lang="ru-RU" dirty="0" smtClean="0">
                <a:latin typeface="Cambria Math" pitchFamily="18" charset="0"/>
                <a:ea typeface="Cambria Math" pitchFamily="18" charset="0"/>
              </a:rPr>
              <a:t>Наглядный пример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8229600" cy="1143000"/>
          </a:xfrm>
        </p:spPr>
        <p:txBody>
          <a:bodyPr/>
          <a:lstStyle/>
          <a:p>
            <a:r>
              <a:rPr lang="ru-RU" b="1" dirty="0" smtClean="0">
                <a:latin typeface="Cambria Math" pitchFamily="18" charset="0"/>
                <a:ea typeface="Cambria Math" pitchFamily="18" charset="0"/>
              </a:rPr>
              <a:t>Три главных компонента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268760"/>
            <a:ext cx="2987824" cy="1008112"/>
          </a:xfrm>
        </p:spPr>
        <p:txBody>
          <a:bodyPr>
            <a:normAutofit lnSpcReduction="10000"/>
          </a:bodyPr>
          <a:lstStyle/>
          <a:p>
            <a:r>
              <a:rPr lang="ru-RU" dirty="0" smtClean="0">
                <a:latin typeface="Cambria Math" pitchFamily="18" charset="0"/>
                <a:ea typeface="Cambria Math" pitchFamily="18" charset="0"/>
              </a:rPr>
              <a:t>Устройство управления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15362" name="Picture 2" descr="https://avatars.mds.yandex.net/i?id=9bc4c1303f05b5a2c537d1d2767272a603bf7707-3563679-images-thumbs&amp;n=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420888"/>
            <a:ext cx="2664296" cy="2177080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107504" y="4725144"/>
            <a:ext cx="2863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 smtClean="0"/>
              <a:t>Координация и управление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699792" y="1268760"/>
            <a:ext cx="403244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Арифметико-Логическое</a:t>
            </a:r>
            <a:r>
              <a:rPr lang="ru-RU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Устройство</a:t>
            </a:r>
            <a:endParaRPr lang="ru-RU" sz="2800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15364" name="Picture 4" descr="https://avatars.mds.yandex.net/i?id=6e4f40cd7e803462492d60282f4be072efd7b652-13014061-images-thumbs&amp;n=1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03848" y="2204864"/>
            <a:ext cx="3096344" cy="2434473"/>
          </a:xfrm>
          <a:prstGeom prst="rect">
            <a:avLst/>
          </a:prstGeom>
          <a:noFill/>
        </p:spPr>
      </p:pic>
      <p:sp>
        <p:nvSpPr>
          <p:cNvPr id="8" name="Прямоугольник 7"/>
          <p:cNvSpPr/>
          <p:nvPr/>
        </p:nvSpPr>
        <p:spPr>
          <a:xfrm>
            <a:off x="2987824" y="4653136"/>
            <a:ext cx="3748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i="1" dirty="0" smtClean="0"/>
              <a:t>Вычисления и логические операции.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6732240" y="1556792"/>
            <a:ext cx="24117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Регистры</a:t>
            </a:r>
            <a:endParaRPr lang="ru-RU" sz="2800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15366" name="Picture 6" descr="Picture backgroun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44208" y="2420888"/>
            <a:ext cx="2583246" cy="1728192"/>
          </a:xfrm>
          <a:prstGeom prst="rect">
            <a:avLst/>
          </a:prstGeom>
          <a:noFill/>
        </p:spPr>
      </p:pic>
      <p:sp>
        <p:nvSpPr>
          <p:cNvPr id="11" name="Прямоугольник 10"/>
          <p:cNvSpPr/>
          <p:nvPr/>
        </p:nvSpPr>
        <p:spPr>
          <a:xfrm>
            <a:off x="6156176" y="4293096"/>
            <a:ext cx="314821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i="1" dirty="0" smtClean="0"/>
              <a:t>Сверхбыстрое хранение текущих данных.</a:t>
            </a:r>
            <a:endParaRPr lang="ru-RU" dirty="0"/>
          </a:p>
        </p:txBody>
      </p:sp>
      <p:pic>
        <p:nvPicPr>
          <p:cNvPr id="15368" name="Picture 8" descr="https://i.pinimg.com/736x/c3/20/d6/c320d6fbb902d639ee5692ec70dbb24c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5157192"/>
            <a:ext cx="9144000" cy="1700808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Cambria Math" pitchFamily="18" charset="0"/>
                <a:ea typeface="Cambria Math" pitchFamily="18" charset="0"/>
              </a:rPr>
              <a:t>Устройство Управления (УУ)</a:t>
            </a:r>
            <a:endParaRPr lang="ru-RU" b="1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Cambria Math" pitchFamily="18" charset="0"/>
                <a:ea typeface="Cambria Math" pitchFamily="18" charset="0"/>
              </a:rPr>
              <a:t>Устройство Управления — "Мозг" </a:t>
            </a:r>
            <a:r>
              <a:rPr lang="ru-RU" dirty="0" smtClean="0">
                <a:latin typeface="Cambria Math" pitchFamily="18" charset="0"/>
                <a:ea typeface="Cambria Math" pitchFamily="18" charset="0"/>
              </a:rPr>
              <a:t>процессора</a:t>
            </a:r>
          </a:p>
          <a:p>
            <a:r>
              <a:rPr lang="ru-RU" dirty="0" smtClean="0">
                <a:latin typeface="Cambria Math" pitchFamily="18" charset="0"/>
                <a:ea typeface="Cambria Math" pitchFamily="18" charset="0"/>
              </a:rPr>
              <a:t>Считывает команды из памяти.</a:t>
            </a:r>
          </a:p>
          <a:p>
            <a:r>
              <a:rPr lang="ru-RU" dirty="0" smtClean="0">
                <a:latin typeface="Cambria Math" pitchFamily="18" charset="0"/>
                <a:ea typeface="Cambria Math" pitchFamily="18" charset="0"/>
              </a:rPr>
              <a:t>Декодирует их (определяет, что делать).</a:t>
            </a:r>
          </a:p>
          <a:p>
            <a:r>
              <a:rPr lang="ru-RU" dirty="0" smtClean="0">
                <a:latin typeface="Cambria Math" pitchFamily="18" charset="0"/>
                <a:ea typeface="Cambria Math" pitchFamily="18" charset="0"/>
              </a:rPr>
              <a:t>Генерирует управляющие сигналы для всех остальных частей процессора</a:t>
            </a:r>
            <a:r>
              <a:rPr lang="ru-RU" dirty="0" smtClean="0"/>
              <a:t>.</a:t>
            </a:r>
          </a:p>
          <a:p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17410" name="Picture 2" descr="https://i.pinimg.com/736x/1a/3e/79/1a3e792e7628921ff317430173d6a09b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4941168"/>
            <a:ext cx="9144000" cy="1916832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274638"/>
            <a:ext cx="8784976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>
                <a:latin typeface="Cambria Math" pitchFamily="18" charset="0"/>
                <a:ea typeface="Cambria Math" pitchFamily="18" charset="0"/>
              </a:rPr>
              <a:t>Арифметико-Логическое Устройство (АЛУ)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600201"/>
            <a:ext cx="5076056" cy="406104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ru-RU" dirty="0" smtClean="0">
                <a:latin typeface="Cambria Math" pitchFamily="18" charset="0"/>
                <a:ea typeface="Cambria Math" pitchFamily="18" charset="0"/>
              </a:rPr>
              <a:t>АЛУ — "Исполнительный </a:t>
            </a:r>
            <a:r>
              <a:rPr lang="ru-RU" dirty="0" smtClean="0">
                <a:latin typeface="Cambria Math" pitchFamily="18" charset="0"/>
                <a:ea typeface="Cambria Math" pitchFamily="18" charset="0"/>
              </a:rPr>
              <a:t>механизм«</a:t>
            </a:r>
          </a:p>
          <a:p>
            <a:pPr algn="just"/>
            <a:r>
              <a:rPr lang="ru-RU" dirty="0" smtClean="0">
                <a:latin typeface="Cambria Math" pitchFamily="18" charset="0"/>
                <a:ea typeface="Cambria Math" pitchFamily="18" charset="0"/>
              </a:rPr>
              <a:t>Выполняет </a:t>
            </a:r>
            <a:r>
              <a:rPr lang="ru-RU" b="1" dirty="0" smtClean="0">
                <a:latin typeface="Cambria Math" pitchFamily="18" charset="0"/>
                <a:ea typeface="Cambria Math" pitchFamily="18" charset="0"/>
              </a:rPr>
              <a:t>арифметические</a:t>
            </a:r>
            <a:r>
              <a:rPr lang="ru-RU" dirty="0" smtClean="0">
                <a:latin typeface="Cambria Math" pitchFamily="18" charset="0"/>
                <a:ea typeface="Cambria Math" pitchFamily="18" charset="0"/>
              </a:rPr>
              <a:t> операции (+, -, *, /).</a:t>
            </a:r>
          </a:p>
          <a:p>
            <a:pPr algn="just"/>
            <a:r>
              <a:rPr lang="ru-RU" dirty="0" smtClean="0">
                <a:latin typeface="Cambria Math" pitchFamily="18" charset="0"/>
                <a:ea typeface="Cambria Math" pitchFamily="18" charset="0"/>
              </a:rPr>
              <a:t>Выполняет </a:t>
            </a:r>
            <a:r>
              <a:rPr lang="ru-RU" b="1" dirty="0" smtClean="0">
                <a:latin typeface="Cambria Math" pitchFamily="18" charset="0"/>
                <a:ea typeface="Cambria Math" pitchFamily="18" charset="0"/>
              </a:rPr>
              <a:t>логические</a:t>
            </a:r>
            <a:r>
              <a:rPr lang="ru-RU" dirty="0" smtClean="0">
                <a:latin typeface="Cambria Math" pitchFamily="18" charset="0"/>
                <a:ea typeface="Cambria Math" pitchFamily="18" charset="0"/>
              </a:rPr>
              <a:t> операции (И, ИЛИ, НЕ, сравнение).</a:t>
            </a:r>
          </a:p>
          <a:p>
            <a:pPr algn="just"/>
            <a:r>
              <a:rPr lang="ru-RU" dirty="0" smtClean="0">
                <a:latin typeface="Cambria Math" pitchFamily="18" charset="0"/>
                <a:ea typeface="Cambria Math" pitchFamily="18" charset="0"/>
              </a:rPr>
              <a:t>Работает с битами (сдвиги).</a:t>
            </a:r>
          </a:p>
          <a:p>
            <a:endParaRPr lang="ru-RU" dirty="0"/>
          </a:p>
        </p:txBody>
      </p:sp>
      <p:pic>
        <p:nvPicPr>
          <p:cNvPr id="19458" name="Picture 2" descr="https://avatars.mds.yandex.net/i?id=9b5c846530cffc7295f55633400751f42cb335ad-16879453-images-thumbs&amp;n=1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6825" y="1484784"/>
            <a:ext cx="4067175" cy="3048001"/>
          </a:xfrm>
          <a:prstGeom prst="rect">
            <a:avLst/>
          </a:prstGeom>
          <a:noFill/>
        </p:spPr>
      </p:pic>
      <p:pic>
        <p:nvPicPr>
          <p:cNvPr id="19460" name="Picture 4" descr="https://i.pinimg.com/736x/30/6d/26/306d26789c8136a574bc0a091dc1be0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301208"/>
            <a:ext cx="9144000" cy="1556792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 </a:t>
            </a:r>
            <a:r>
              <a:rPr lang="ru-RU" b="1" dirty="0" smtClean="0">
                <a:latin typeface="Cambria Math" pitchFamily="18" charset="0"/>
                <a:ea typeface="Cambria Math" pitchFamily="18" charset="0"/>
              </a:rPr>
              <a:t>Микропроцессорная память (Регистры)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23528" y="1340768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Регистры </a:t>
            </a:r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—</a:t>
            </a:r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сверхбыстрая рабочая </a:t>
            </a:r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память</a:t>
            </a:r>
            <a:endParaRPr lang="ru-RU" sz="2800" dirty="0" smtClean="0">
              <a:latin typeface="Cambria Math" pitchFamily="18" charset="0"/>
              <a:ea typeface="Cambria Math" pitchFamily="18" charset="0"/>
            </a:endParaRPr>
          </a:p>
          <a:p>
            <a:pPr algn="just"/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Небольшой </a:t>
            </a:r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объем, но очень высокая скорость.</a:t>
            </a:r>
          </a:p>
          <a:p>
            <a:pPr algn="just"/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Хранят данные, команды и адреса для текущей операции.</a:t>
            </a:r>
          </a:p>
          <a:p>
            <a:pPr algn="just"/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Избегают частых обращений к медленной оперативной памяти (ОЗУ).</a:t>
            </a:r>
          </a:p>
          <a:p>
            <a:pPr algn="just"/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 </a:t>
            </a:r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сверхбыстрая рабочая память</a:t>
            </a:r>
            <a:endParaRPr lang="ru-RU" sz="2800" dirty="0">
              <a:latin typeface="Cambria Math" pitchFamily="18" charset="0"/>
              <a:ea typeface="Cambria Math" pitchFamily="18" charset="0"/>
            </a:endParaRPr>
          </a:p>
        </p:txBody>
      </p:sp>
      <p:pic>
        <p:nvPicPr>
          <p:cNvPr id="18436" name="Picture 4" descr="https://i.pinimg.com/736x/56/65/42/56654294266cdcba34bf508a13c9b62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229200"/>
            <a:ext cx="9144000" cy="1628800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>
                <a:latin typeface="Cambria Math" pitchFamily="18" charset="0"/>
                <a:ea typeface="Cambria Math" pitchFamily="18" charset="0"/>
              </a:rPr>
              <a:t> Как всё работает вместе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51520" y="1268760"/>
            <a:ext cx="8712968" cy="2520280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800" b="1" dirty="0" smtClean="0"/>
              <a:t>УУ</a:t>
            </a:r>
            <a:r>
              <a:rPr lang="ru-RU" sz="2800" dirty="0" smtClean="0"/>
              <a:t> считывает команду ADD в </a:t>
            </a:r>
            <a:r>
              <a:rPr lang="ru-RU" sz="2800" b="1" dirty="0" smtClean="0"/>
              <a:t>Регистр команд</a:t>
            </a:r>
            <a:r>
              <a:rPr lang="ru-RU" sz="2800" dirty="0" smtClean="0"/>
              <a:t> и расшифровывает её.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 smtClean="0"/>
              <a:t>УУ</a:t>
            </a:r>
            <a:r>
              <a:rPr lang="ru-RU" sz="2800" dirty="0" smtClean="0"/>
              <a:t> дает сигнал регистрам R1 и R2 отправить свои значения в </a:t>
            </a:r>
            <a:r>
              <a:rPr lang="ru-RU" sz="2800" b="1" dirty="0" smtClean="0"/>
              <a:t>АЛУ</a:t>
            </a:r>
            <a:r>
              <a:rPr lang="ru-RU" sz="2800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 smtClean="0"/>
              <a:t>УУ</a:t>
            </a:r>
            <a:r>
              <a:rPr lang="ru-RU" sz="2800" dirty="0" smtClean="0"/>
              <a:t> говорит </a:t>
            </a:r>
            <a:r>
              <a:rPr lang="ru-RU" sz="2800" b="1" dirty="0" smtClean="0"/>
              <a:t>АЛУ</a:t>
            </a:r>
            <a:r>
              <a:rPr lang="ru-RU" sz="2800" dirty="0" smtClean="0"/>
              <a:t> выполнить сложение.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 smtClean="0"/>
              <a:t>АЛУ</a:t>
            </a:r>
            <a:r>
              <a:rPr lang="ru-RU" sz="2800" dirty="0" smtClean="0"/>
              <a:t> производит вычисление, получает результат и устанавливает </a:t>
            </a:r>
            <a:r>
              <a:rPr lang="ru-RU" sz="2800" b="1" dirty="0" smtClean="0"/>
              <a:t>Флаги</a:t>
            </a:r>
            <a:r>
              <a:rPr lang="ru-RU" sz="2800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800" b="1" dirty="0" smtClean="0"/>
              <a:t>УУ</a:t>
            </a:r>
            <a:r>
              <a:rPr lang="ru-RU" sz="2800" dirty="0" smtClean="0"/>
              <a:t> дает сигнал записать результат из </a:t>
            </a:r>
            <a:r>
              <a:rPr lang="ru-RU" sz="2800" b="1" dirty="0" smtClean="0"/>
              <a:t>АЛУ</a:t>
            </a:r>
            <a:r>
              <a:rPr lang="ru-RU" sz="2800" dirty="0" smtClean="0"/>
              <a:t> обратно в регистр R1.</a:t>
            </a:r>
            <a:endParaRPr lang="ru-RU" sz="2800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3645024"/>
            <a:ext cx="7077075" cy="298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0"/>
            <a:ext cx="8712968" cy="1143000"/>
          </a:xfrm>
        </p:spPr>
        <p:txBody>
          <a:bodyPr>
            <a:normAutofit/>
          </a:bodyPr>
          <a:lstStyle/>
          <a:p>
            <a:r>
              <a:rPr lang="ru-RU" sz="3600" b="1" dirty="0" smtClean="0">
                <a:latin typeface="Cambria Math" pitchFamily="18" charset="0"/>
                <a:ea typeface="Cambria Math" pitchFamily="18" charset="0"/>
              </a:rPr>
              <a:t>Выводы: Взаимодействие компонентов</a:t>
            </a:r>
            <a:endParaRPr lang="ru-RU" sz="3600" b="1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0" y="1124744"/>
            <a:ext cx="4283968" cy="4464496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УУ управляет процессом, как дирижер.</a:t>
            </a:r>
          </a:p>
          <a:p>
            <a:pPr algn="just"/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АЛУ выполняет вычисления, как инструмент.</a:t>
            </a:r>
          </a:p>
          <a:p>
            <a:pPr algn="just"/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Регистры обеспечивают быстрый доступ к данным, как рабочее пространство.</a:t>
            </a:r>
          </a:p>
          <a:p>
            <a:pPr algn="just"/>
            <a:r>
              <a:rPr lang="ru-RU" sz="2800" dirty="0" smtClean="0">
                <a:latin typeface="Cambria Math" pitchFamily="18" charset="0"/>
                <a:ea typeface="Cambria Math" pitchFamily="18" charset="0"/>
              </a:rPr>
              <a:t>Все компоненты работают синхронно, под тактовые импульсы, обеспечивая выполнение миллиардов операций в секунду.</a:t>
            </a:r>
          </a:p>
          <a:p>
            <a:endParaRPr lang="ru-RU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55976" y="908720"/>
            <a:ext cx="4788024" cy="39056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8" name="Picture 4" descr="https://i.pinimg.com/736x/e7/bd/16/e7bd162df59535b93e134f1a548d4075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301208"/>
            <a:ext cx="9144000" cy="1556792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https://i.pinimg.com/736x/07/e8/1e/07e81e269c70485a299a35fe8b3b9cb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1691680" y="5805264"/>
            <a:ext cx="5760640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5517232"/>
            <a:ext cx="8229600" cy="1143000"/>
          </a:xfrm>
        </p:spPr>
        <p:txBody>
          <a:bodyPr/>
          <a:lstStyle/>
          <a:p>
            <a:r>
              <a:rPr lang="ru-RU" dirty="0" smtClean="0">
                <a:latin typeface="Cambria Math" pitchFamily="18" charset="0"/>
                <a:ea typeface="Cambria Math" pitchFamily="18" charset="0"/>
              </a:rPr>
              <a:t>Спасибо за внимание</a:t>
            </a:r>
            <a:endParaRPr lang="ru-RU" dirty="0">
              <a:latin typeface="Cambria Math" pitchFamily="18" charset="0"/>
              <a:ea typeface="Cambria Math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 flipV="1">
            <a:off x="-1260648" y="6453336"/>
            <a:ext cx="730424" cy="45719"/>
          </a:xfrm>
        </p:spPr>
        <p:txBody>
          <a:bodyPr>
            <a:normAutofit fontScale="25000" lnSpcReduction="20000"/>
          </a:bodyPr>
          <a:lstStyle/>
          <a:p>
            <a:endParaRPr lang="ru-RU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102</Words>
  <Application>Microsoft Office PowerPoint</Application>
  <PresentationFormat>Экран (4:3)</PresentationFormat>
  <Paragraphs>42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Архитектура микропроцессора: УУ, АЛУ, Память</vt:lpstr>
      <vt:lpstr>Что такое микропроцессор?</vt:lpstr>
      <vt:lpstr>Наглядный пример</vt:lpstr>
      <vt:lpstr>Три главных компонента</vt:lpstr>
      <vt:lpstr>Устройство Управления (УУ)</vt:lpstr>
      <vt:lpstr>Арифметико-Логическое Устройство (АЛУ)</vt:lpstr>
      <vt:lpstr> Микропроцессорная память (Регистры)</vt:lpstr>
      <vt:lpstr> Как всё работает вместе</vt:lpstr>
      <vt:lpstr>Выводы: Взаимодействие компонентов</vt:lpstr>
      <vt:lpstr>Спасибо за внимание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 микропроцессора: УУ, АЛУ, Память</dc:title>
  <dc:creator>79774</dc:creator>
  <cp:lastModifiedBy>79774075648</cp:lastModifiedBy>
  <cp:revision>9</cp:revision>
  <dcterms:created xsi:type="dcterms:W3CDTF">2025-10-09T09:52:18Z</dcterms:created>
  <dcterms:modified xsi:type="dcterms:W3CDTF">2025-10-09T11:16:00Z</dcterms:modified>
</cp:coreProperties>
</file>