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2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11760" y="2636912"/>
            <a:ext cx="7772400" cy="1470025"/>
          </a:xfrm>
        </p:spPr>
        <p:txBody>
          <a:bodyPr/>
          <a:lstStyle/>
          <a:p>
            <a:r>
              <a:rPr lang="ru-RU" dirty="0" smtClean="0">
                <a:latin typeface="Bahnschrift SemiBold SemiConden" pitchFamily="34" charset="0"/>
              </a:rPr>
              <a:t>Эволюция видеокарт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32440" y="2924944"/>
            <a:ext cx="6400800" cy="175260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https://i.pinimg.com/736x/1c/1c/6d/1c1c6d52074e372ed15a906c958029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-1676402" y="1676401"/>
            <a:ext cx="6858003" cy="35052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Что такое видеокарта?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Мост между процессором и монитором</a:t>
            </a:r>
          </a:p>
          <a:p>
            <a:r>
              <a:rPr lang="ru-RU" dirty="0" smtClean="0">
                <a:latin typeface="Bahnschrift SemiCondensed" pitchFamily="34" charset="0"/>
              </a:rPr>
              <a:t>Преобразует данные в изображение</a:t>
            </a:r>
          </a:p>
          <a:p>
            <a:r>
              <a:rPr lang="ru-RU" dirty="0" smtClean="0">
                <a:latin typeface="Bahnschrift SemiCondensed" pitchFamily="34" charset="0"/>
              </a:rPr>
              <a:t>Отвечает за графику в играх и приложениях</a:t>
            </a:r>
          </a:p>
          <a:p>
            <a:endParaRPr lang="ru-RU" dirty="0"/>
          </a:p>
        </p:txBody>
      </p:sp>
      <p:pic>
        <p:nvPicPr>
          <p:cNvPr id="14338" name="Picture 2" descr="https://i.pinimg.com/736x/c3/de/7e/c3de7ec58e3cd92d6ba60a3a6d17ac2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3933056"/>
            <a:ext cx="2857500" cy="2419351"/>
          </a:xfrm>
          <a:prstGeom prst="rect">
            <a:avLst/>
          </a:prstGeom>
          <a:noFill/>
        </p:spPr>
      </p:pic>
      <p:pic>
        <p:nvPicPr>
          <p:cNvPr id="14340" name="Picture 4" descr="https://i.pinimg.com/736x/ee/e0/f3/eee0f36afd7915473f87fa1f968507b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573016"/>
            <a:ext cx="2952328" cy="2952328"/>
          </a:xfrm>
          <a:prstGeom prst="rect">
            <a:avLst/>
          </a:prstGeom>
          <a:noFill/>
        </p:spPr>
      </p:pic>
      <p:cxnSp>
        <p:nvCxnSpPr>
          <p:cNvPr id="7" name="Прямая со стрелкой 6"/>
          <p:cNvCxnSpPr/>
          <p:nvPr/>
        </p:nvCxnSpPr>
        <p:spPr>
          <a:xfrm flipH="1">
            <a:off x="3851920" y="5013176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 Рождение (1980-е)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525963"/>
          </a:xfrm>
        </p:spPr>
        <p:txBody>
          <a:bodyPr/>
          <a:lstStyle/>
          <a:p>
            <a:r>
              <a:rPr lang="ru-RU" b="1" dirty="0" smtClean="0">
                <a:latin typeface="Bahnschrift SemiCondensed" pitchFamily="34" charset="0"/>
              </a:rPr>
              <a:t>MDA </a:t>
            </a:r>
            <a:r>
              <a:rPr lang="ru-RU" dirty="0" smtClean="0">
                <a:latin typeface="Bahnschrift SemiCondensed" pitchFamily="34" charset="0"/>
              </a:rPr>
              <a:t>(1981): Только текст, нет графики</a:t>
            </a:r>
          </a:p>
          <a:p>
            <a:r>
              <a:rPr lang="ru-RU" b="1" dirty="0" smtClean="0">
                <a:latin typeface="Bahnschrift SemiCondensed" pitchFamily="34" charset="0"/>
              </a:rPr>
              <a:t>CGA</a:t>
            </a:r>
            <a:r>
              <a:rPr lang="ru-RU" dirty="0" smtClean="0">
                <a:latin typeface="Bahnschrift SemiCondensed" pitchFamily="34" charset="0"/>
              </a:rPr>
              <a:t> (1981): 4 цвета, низкое разрешение</a:t>
            </a:r>
          </a:p>
          <a:p>
            <a:r>
              <a:rPr lang="ru-RU" b="1" dirty="0" err="1" smtClean="0">
                <a:latin typeface="Bahnschrift SemiCondensed" pitchFamily="34" charset="0"/>
              </a:rPr>
              <a:t>Hercules</a:t>
            </a:r>
            <a:r>
              <a:rPr lang="ru-RU" dirty="0" smtClean="0">
                <a:latin typeface="Bahnschrift SemiCondensed" pitchFamily="34" charset="0"/>
              </a:rPr>
              <a:t> (1982): Высокое монохромное разрешение</a:t>
            </a:r>
          </a:p>
          <a:p>
            <a:endParaRPr lang="ru-RU" dirty="0"/>
          </a:p>
        </p:txBody>
      </p:sp>
      <p:pic>
        <p:nvPicPr>
          <p:cNvPr id="15362" name="Picture 2" descr="https://i.pinimg.com/736x/5b/37/41/5b3741dd6533189b0063367ddd6c1bd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8559" y="3356992"/>
            <a:ext cx="3435441" cy="1800200"/>
          </a:xfrm>
          <a:prstGeom prst="rect">
            <a:avLst/>
          </a:prstGeom>
          <a:noFill/>
        </p:spPr>
      </p:pic>
      <p:pic>
        <p:nvPicPr>
          <p:cNvPr id="15364" name="Picture 4" descr="File:ATI Hercules Card 1986 (cropped and transparent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185592"/>
            <a:ext cx="4401388" cy="367240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 Стандарт </a:t>
            </a:r>
            <a:r>
              <a:rPr lang="en-US" dirty="0" smtClean="0">
                <a:latin typeface="Bahnschrift SemiBold SemiConden" pitchFamily="34" charset="0"/>
              </a:rPr>
              <a:t>VGA (1987)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25963"/>
          </a:xfrm>
        </p:spPr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640x480 / 256 цветов</a:t>
            </a:r>
          </a:p>
          <a:p>
            <a:r>
              <a:rPr lang="ru-RU" dirty="0" smtClean="0">
                <a:latin typeface="Bahnschrift SemiCondensed" pitchFamily="34" charset="0"/>
              </a:rPr>
              <a:t>Аналоговый сигнал — лучшее качество</a:t>
            </a:r>
          </a:p>
          <a:p>
            <a:r>
              <a:rPr lang="ru-RU" dirty="0" smtClean="0">
                <a:latin typeface="Bahnschrift SemiCondensed" pitchFamily="34" charset="0"/>
              </a:rPr>
              <a:t>Основой для SVGA и будущих стандартов</a:t>
            </a:r>
          </a:p>
          <a:p>
            <a:endParaRPr lang="ru-RU" dirty="0"/>
          </a:p>
        </p:txBody>
      </p:sp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928" y="3365376"/>
            <a:ext cx="3419872" cy="3419872"/>
          </a:xfrm>
          <a:prstGeom prst="rect">
            <a:avLst/>
          </a:prstGeom>
          <a:noFill/>
        </p:spPr>
      </p:pic>
      <p:pic>
        <p:nvPicPr>
          <p:cNvPr id="16388" name="Picture 4" descr="https://i.pinimg.com/736x/80/3f/5f/803f5f6ad6f7c4d5a6fd59ed68bd366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3401616"/>
            <a:ext cx="3456384" cy="345638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6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645024"/>
            <a:ext cx="5248583" cy="295232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Bahnschrift SemiBold SemiConden" pitchFamily="34" charset="0"/>
              </a:rPr>
              <a:t>3D-</a:t>
            </a:r>
            <a:r>
              <a:rPr lang="ru-RU" dirty="0" smtClean="0">
                <a:latin typeface="Bahnschrift SemiBold SemiConden" pitchFamily="34" charset="0"/>
              </a:rPr>
              <a:t>Революция (1996)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Первый массовый 3D-ускоритель</a:t>
            </a:r>
          </a:p>
          <a:p>
            <a:r>
              <a:rPr lang="ru-RU" dirty="0" smtClean="0">
                <a:latin typeface="Bahnschrift SemiCondensed" pitchFamily="34" charset="0"/>
              </a:rPr>
              <a:t>Аппаратное текстурирование и сглаживание</a:t>
            </a:r>
          </a:p>
          <a:p>
            <a:r>
              <a:rPr lang="ru-RU" dirty="0" smtClean="0">
                <a:latin typeface="Bahnschrift SemiCondensed" pitchFamily="34" charset="0"/>
              </a:rPr>
              <a:t>Игры стали объемными и плавными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68144" y="6237312"/>
            <a:ext cx="2170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Bahnschrift SemiCondensed" pitchFamily="34" charset="0"/>
              </a:rPr>
              <a:t>3dfx Voodoo Graphics.</a:t>
            </a:r>
            <a:endParaRPr lang="ru-RU" dirty="0">
              <a:latin typeface="Bahnschrift SemiCondensed" pitchFamily="34" charset="0"/>
            </a:endParaRPr>
          </a:p>
        </p:txBody>
      </p:sp>
      <p:pic>
        <p:nvPicPr>
          <p:cNvPr id="17412" name="Picture 4" descr="https://i.pinimg.com/736x/99/b7/6e/99b76e3378843642e60164b812ee97c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6588224" y="4005064"/>
            <a:ext cx="1835696" cy="176522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Рождение </a:t>
            </a:r>
            <a:r>
              <a:rPr lang="en-US" dirty="0" smtClean="0">
                <a:latin typeface="Bahnschrift SemiBold SemiConden" pitchFamily="34" charset="0"/>
              </a:rPr>
              <a:t>GPU (1999)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Введен термин </a:t>
            </a:r>
            <a:r>
              <a:rPr lang="en-US" dirty="0" smtClean="0">
                <a:latin typeface="Bahnschrift SemiCondensed" pitchFamily="34" charset="0"/>
              </a:rPr>
              <a:t>Graphics Processing Unit</a:t>
            </a:r>
          </a:p>
          <a:p>
            <a:r>
              <a:rPr lang="en-US" dirty="0" smtClean="0">
                <a:latin typeface="Bahnschrift SemiCondensed" pitchFamily="34" charset="0"/>
              </a:rPr>
              <a:t>T&amp;L (Transform &amp; Lighting) </a:t>
            </a:r>
            <a:r>
              <a:rPr lang="ru-RU" dirty="0" smtClean="0">
                <a:latin typeface="Bahnschrift SemiCondensed" pitchFamily="34" charset="0"/>
              </a:rPr>
              <a:t>на карте</a:t>
            </a:r>
          </a:p>
          <a:p>
            <a:r>
              <a:rPr lang="ru-RU" dirty="0" smtClean="0">
                <a:latin typeface="Bahnschrift SemiCondensed" pitchFamily="34" charset="0"/>
              </a:rPr>
              <a:t>Видеокарта стала процессором</a:t>
            </a:r>
          </a:p>
          <a:p>
            <a:endParaRPr lang="ru-RU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3356992"/>
            <a:ext cx="4964940" cy="3249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 descr="https://i.pinimg.com/736x/c5/9c/9a/c59c9a0fba0d98509d29e617ff884bf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501008"/>
            <a:ext cx="3059832" cy="284564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3501008"/>
            <a:ext cx="4660537" cy="309634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Эра программируемости (2000-е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Вершинные и пиксельные </a:t>
            </a:r>
            <a:r>
              <a:rPr lang="ru-RU" dirty="0" err="1" smtClean="0">
                <a:latin typeface="Bahnschrift SemiCondensed" pitchFamily="34" charset="0"/>
              </a:rPr>
              <a:t>шейдеры</a:t>
            </a:r>
            <a:endParaRPr lang="ru-RU" dirty="0" smtClean="0">
              <a:latin typeface="Bahnschrift SemiCondensed" pitchFamily="34" charset="0"/>
            </a:endParaRPr>
          </a:p>
          <a:p>
            <a:r>
              <a:rPr lang="ru-RU" dirty="0" smtClean="0">
                <a:latin typeface="Bahnschrift SemiCondensed" pitchFamily="34" charset="0"/>
              </a:rPr>
              <a:t>Единая архитектура (</a:t>
            </a:r>
            <a:r>
              <a:rPr lang="ru-RU" dirty="0" err="1" smtClean="0">
                <a:latin typeface="Bahnschrift SemiCondensed" pitchFamily="34" charset="0"/>
              </a:rPr>
              <a:t>GeForce</a:t>
            </a:r>
            <a:r>
              <a:rPr lang="ru-RU" dirty="0" smtClean="0">
                <a:latin typeface="Bahnschrift SemiCondensed" pitchFamily="34" charset="0"/>
              </a:rPr>
              <a:t> 8800 GTX)</a:t>
            </a:r>
          </a:p>
          <a:p>
            <a:r>
              <a:rPr lang="ru-RU" dirty="0" smtClean="0">
                <a:latin typeface="Bahnschrift SemiCondensed" pitchFamily="34" charset="0"/>
              </a:rPr>
              <a:t>Невиданная гибкость и реализм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6093296"/>
            <a:ext cx="26359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NVIDIA </a:t>
            </a:r>
            <a:r>
              <a:rPr lang="en-US" dirty="0" err="1" smtClean="0"/>
              <a:t>GeForce</a:t>
            </a:r>
            <a:r>
              <a:rPr lang="en-US" dirty="0" smtClean="0"/>
              <a:t> 8800 GTX</a:t>
            </a:r>
            <a:endParaRPr lang="ru-RU" dirty="0"/>
          </a:p>
        </p:txBody>
      </p:sp>
      <p:pic>
        <p:nvPicPr>
          <p:cNvPr id="19462" name="Picture 6" descr="https://i.pinimg.com/736x/1c/5e/20/1c5e201e6aaafd99c119a951b6974f8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8184" y="4221088"/>
            <a:ext cx="2789363" cy="2232248"/>
          </a:xfrm>
          <a:prstGeom prst="rect">
            <a:avLst/>
          </a:prstGeom>
          <a:noFill/>
        </p:spPr>
      </p:pic>
      <p:pic>
        <p:nvPicPr>
          <p:cNvPr id="19460" name="Picture 4" descr="https://i.pinimg.com/736x/aa/66/c3/aa66c34a80e1482c19c4ab3db87c391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3501008"/>
            <a:ext cx="1589510" cy="172819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Современность: Трассировка лучей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RT Cores в архитектуре NVIDIA RTX</a:t>
            </a:r>
          </a:p>
          <a:p>
            <a:r>
              <a:rPr lang="ru-RU" dirty="0" smtClean="0">
                <a:latin typeface="Bahnschrift SemiCondensed" pitchFamily="34" charset="0"/>
              </a:rPr>
              <a:t>Реалистичные отражения, тени и свет</a:t>
            </a:r>
          </a:p>
          <a:p>
            <a:r>
              <a:rPr lang="ru-RU" dirty="0" smtClean="0">
                <a:latin typeface="Bahnschrift SemiCondensed" pitchFamily="34" charset="0"/>
              </a:rPr>
              <a:t>Кинематографичное качество в играх</a:t>
            </a:r>
          </a:p>
          <a:p>
            <a:endParaRPr lang="ru-RU" dirty="0"/>
          </a:p>
        </p:txBody>
      </p:sp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29000"/>
            <a:ext cx="9144000" cy="3429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SemiBold SemiConden" pitchFamily="34" charset="0"/>
              </a:rPr>
              <a:t>Современность: Искусственный интеллект</a:t>
            </a:r>
            <a:endParaRPr lang="ru-RU" dirty="0">
              <a:latin typeface="Bahnschrift SemiBold SemiConden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525963"/>
          </a:xfrm>
        </p:spPr>
        <p:txBody>
          <a:bodyPr/>
          <a:lstStyle/>
          <a:p>
            <a:r>
              <a:rPr lang="ru-RU" dirty="0" err="1" smtClean="0">
                <a:latin typeface="Bahnschrift SemiCondensed" pitchFamily="34" charset="0"/>
              </a:rPr>
              <a:t>Tensor</a:t>
            </a:r>
            <a:r>
              <a:rPr lang="ru-RU" dirty="0" smtClean="0">
                <a:latin typeface="Bahnschrift SemiCondensed" pitchFamily="34" charset="0"/>
              </a:rPr>
              <a:t> Cores и технологии DLSS/FSR</a:t>
            </a:r>
          </a:p>
          <a:p>
            <a:r>
              <a:rPr lang="ru-RU" dirty="0" smtClean="0">
                <a:latin typeface="Bahnschrift SemiCondensed" pitchFamily="34" charset="0"/>
              </a:rPr>
              <a:t>ИИ "дорисовывает" картинку</a:t>
            </a:r>
          </a:p>
          <a:p>
            <a:r>
              <a:rPr lang="ru-RU" dirty="0" smtClean="0">
                <a:latin typeface="Bahnschrift SemiCondensed" pitchFamily="34" charset="0"/>
              </a:rPr>
              <a:t>Высокий FPS и качество одновременно</a:t>
            </a:r>
          </a:p>
          <a:p>
            <a:endParaRPr lang="ru-RU" dirty="0"/>
          </a:p>
        </p:txBody>
      </p:sp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780928"/>
            <a:ext cx="9168341" cy="407707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i.pinimg.com/736x/b0/62/06/b0620671c8c08360d9854d1472a5ad9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0"/>
            <a:ext cx="7010400" cy="692467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941168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189</Words>
  <Application>Microsoft Office PowerPoint</Application>
  <PresentationFormat>Экран (4:3)</PresentationFormat>
  <Paragraphs>36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Bahnschrift SemiBold SemiConden</vt:lpstr>
      <vt:lpstr>Bahnschrift SemiCondensed</vt:lpstr>
      <vt:lpstr>Calibri</vt:lpstr>
      <vt:lpstr>Тема Office</vt:lpstr>
      <vt:lpstr>Эволюция видеокарт</vt:lpstr>
      <vt:lpstr>Что такое видеокарта?</vt:lpstr>
      <vt:lpstr> Рождение (1980-е)</vt:lpstr>
      <vt:lpstr> Стандарт VGA (1987)</vt:lpstr>
      <vt:lpstr>3D-Революция (1996)</vt:lpstr>
      <vt:lpstr>Рождение GPU (1999)</vt:lpstr>
      <vt:lpstr>Эра программируемости (2000-е)</vt:lpstr>
      <vt:lpstr>Современность: Трассировка лучей</vt:lpstr>
      <vt:lpstr>Современность: Искусственный интеллект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79774</dc:creator>
  <cp:lastModifiedBy>Винокурова Мария Алексеевна</cp:lastModifiedBy>
  <cp:revision>9</cp:revision>
  <dcterms:created xsi:type="dcterms:W3CDTF">2025-11-26T15:15:54Z</dcterms:created>
  <dcterms:modified xsi:type="dcterms:W3CDTF">2025-11-27T06:41:08Z</dcterms:modified>
</cp:coreProperties>
</file>