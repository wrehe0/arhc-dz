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ernelci.or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pinimg.com/736x/4a/7a/3a/4a7a3a0fef370552d1fafad3a73b94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2564904"/>
            <a:ext cx="4876800" cy="487680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470025"/>
          </a:xfrm>
        </p:spPr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Тестирование операционных систем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2708920"/>
            <a:ext cx="4104456" cy="2448272"/>
          </a:xfrm>
        </p:spPr>
        <p:txBody>
          <a:bodyPr>
            <a:noAutofit/>
          </a:bodyPr>
          <a:lstStyle/>
          <a:p>
            <a:pPr algn="l"/>
            <a:r>
              <a:rPr lang="ru-RU" sz="3600" b="1" dirty="0" smtClean="0">
                <a:latin typeface="Bahnschrift Light SemiCondensed" pitchFamily="34" charset="0"/>
              </a:rPr>
              <a:t>От черного ящика до </a:t>
            </a:r>
            <a:r>
              <a:rPr lang="ru-RU" sz="3600" b="1" dirty="0" err="1" smtClean="0">
                <a:latin typeface="Bahnschrift Light SemiCondensed" pitchFamily="34" charset="0"/>
              </a:rPr>
              <a:t>фаззинга</a:t>
            </a:r>
            <a:r>
              <a:rPr lang="ru-RU" sz="3600" b="1" dirty="0" smtClean="0">
                <a:latin typeface="Bahnschrift Light SemiCondensed" pitchFamily="34" charset="0"/>
              </a:rPr>
              <a:t>: как создают стабильные системы</a:t>
            </a:r>
            <a:endParaRPr lang="ru-RU" sz="3600" b="1" dirty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Почему </a:t>
            </a:r>
            <a:r>
              <a:rPr lang="ru-RU" dirty="0" smtClean="0">
                <a:latin typeface="Bahnschrift Condensed" pitchFamily="34" charset="0"/>
              </a:rPr>
              <a:t>ОС необходимо особое тестирование?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196752"/>
            <a:ext cx="5256584" cy="5472608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smtClean="0">
                <a:latin typeface="Bahnschrift Light SemiCondensed" pitchFamily="34" charset="0"/>
              </a:rPr>
              <a:t>Операционная система – фундамент всего:</a:t>
            </a:r>
          </a:p>
          <a:p>
            <a:r>
              <a:rPr lang="ru-RU" dirty="0" smtClean="0">
                <a:latin typeface="Bahnschrift Light SemiCondensed" pitchFamily="34" charset="0"/>
              </a:rPr>
              <a:t>Управляет железом (процессор, память, диски)</a:t>
            </a:r>
          </a:p>
          <a:p>
            <a:r>
              <a:rPr lang="ru-RU" dirty="0" smtClean="0">
                <a:latin typeface="Bahnschrift Light SemiCondensed" pitchFamily="34" charset="0"/>
              </a:rPr>
              <a:t>Запускает все программы</a:t>
            </a:r>
          </a:p>
          <a:p>
            <a:r>
              <a:rPr lang="ru-RU" dirty="0" smtClean="0">
                <a:latin typeface="Bahnschrift Light SemiCondensed" pitchFamily="34" charset="0"/>
              </a:rPr>
              <a:t>Отвечает за безопасность</a:t>
            </a:r>
          </a:p>
          <a:p>
            <a:r>
              <a:rPr lang="ru-RU" b="1" dirty="0" smtClean="0">
                <a:latin typeface="Bahnschrift Light SemiCondensed" pitchFamily="34" charset="0"/>
              </a:rPr>
              <a:t>Последствия ошибок в ОС:</a:t>
            </a:r>
          </a:p>
          <a:p>
            <a:r>
              <a:rPr lang="ru-RU" dirty="0" smtClean="0">
                <a:latin typeface="Bahnschrift Light SemiCondensed" pitchFamily="34" charset="0"/>
              </a:rPr>
              <a:t>Полный </a:t>
            </a:r>
            <a:r>
              <a:rPr lang="ru-RU" dirty="0" smtClean="0">
                <a:latin typeface="Bahnschrift Light SemiCondensed" pitchFamily="34" charset="0"/>
              </a:rPr>
              <a:t>крах системы (синий экран)</a:t>
            </a:r>
          </a:p>
          <a:p>
            <a:r>
              <a:rPr lang="ru-RU" dirty="0" smtClean="0">
                <a:latin typeface="Bahnschrift Light SemiCondensed" pitchFamily="34" charset="0"/>
              </a:rPr>
              <a:t>Уязвимости </a:t>
            </a:r>
            <a:r>
              <a:rPr lang="ru-RU" dirty="0" smtClean="0">
                <a:latin typeface="Bahnschrift Light SemiCondensed" pitchFamily="34" charset="0"/>
              </a:rPr>
              <a:t>для хакеров</a:t>
            </a:r>
          </a:p>
          <a:p>
            <a:r>
              <a:rPr lang="ru-RU" dirty="0" smtClean="0">
                <a:latin typeface="Bahnschrift Light SemiCondensed" pitchFamily="34" charset="0"/>
              </a:rPr>
              <a:t>Падение </a:t>
            </a:r>
            <a:r>
              <a:rPr lang="ru-RU" dirty="0" smtClean="0">
                <a:latin typeface="Bahnschrift Light SemiCondensed" pitchFamily="34" charset="0"/>
              </a:rPr>
              <a:t>производительности</a:t>
            </a:r>
          </a:p>
          <a:p>
            <a:r>
              <a:rPr lang="ru-RU" dirty="0" smtClean="0">
                <a:latin typeface="Bahnschrift Light SemiCondensed" pitchFamily="34" charset="0"/>
              </a:rPr>
              <a:t>Потеря </a:t>
            </a:r>
            <a:r>
              <a:rPr lang="ru-RU" dirty="0" smtClean="0">
                <a:latin typeface="Bahnschrift Light SemiCondensed" pitchFamily="34" charset="0"/>
              </a:rPr>
              <a:t>данных</a:t>
            </a:r>
          </a:p>
          <a:p>
            <a:r>
              <a:rPr lang="ru-RU" b="1" dirty="0" smtClean="0">
                <a:latin typeface="Bahnschrift Light SemiCondensed" pitchFamily="34" charset="0"/>
              </a:rPr>
              <a:t>Цель:</a:t>
            </a:r>
            <a:r>
              <a:rPr lang="ru-RU" dirty="0" smtClean="0">
                <a:latin typeface="Bahnschrift Light SemiCondensed" pitchFamily="34" charset="0"/>
              </a:rPr>
              <a:t> Сделать ОС стабильной, быстрой, безопасной и совместимой.</a:t>
            </a:r>
          </a:p>
          <a:p>
            <a:endParaRPr lang="ru-RU" dirty="0"/>
          </a:p>
        </p:txBody>
      </p:sp>
      <p:pic>
        <p:nvPicPr>
          <p:cNvPr id="14338" name="Picture 2" descr="https://i.pinimg.com/736x/a4/d7/17/a4d7173ce6acbe286cf8d7e1fd4baa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326" y="548680"/>
            <a:ext cx="3923674" cy="6471063"/>
          </a:xfrm>
          <a:prstGeom prst="rect">
            <a:avLst/>
          </a:prstGeom>
          <a:noFill/>
          <a:ln>
            <a:noFill/>
          </a:ln>
          <a:effectLst>
            <a:outerShdw sx="1000" sy="1000" algn="ctr" rotWithShape="0">
              <a:srgbClr val="000000"/>
            </a:outerShdw>
            <a:softEdge rad="317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Методологии тестирования: 3 </a:t>
            </a:r>
            <a:r>
              <a:rPr lang="ru-RU" dirty="0" smtClean="0">
                <a:latin typeface="Bahnschrift Condensed" pitchFamily="34" charset="0"/>
              </a:rPr>
              <a:t>подхода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15363" name="Picture 3" descr="C:\Users\79774\Downloads\2026-02-05_16-40-3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8665886" cy="201622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365" name="Picture 5" descr="https://i.pinimg.com/736x/6e/37/fb/6e37fb73041971b802bb51889a63821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809999"/>
            <a:ext cx="9144000" cy="3048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0"/>
            <a:ext cx="3347864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5796136" cy="854968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/>
            <a:r>
              <a:rPr lang="ru-RU" sz="3600" dirty="0" smtClean="0">
                <a:latin typeface="Bahnschrift Condensed" pitchFamily="34" charset="0"/>
              </a:rPr>
              <a:t>Черный ящик – взгляд </a:t>
            </a:r>
            <a:r>
              <a:rPr lang="ru-RU" sz="3600" dirty="0" smtClean="0">
                <a:latin typeface="Bahnschrift Condensed" pitchFamily="34" charset="0"/>
              </a:rPr>
              <a:t>пользователя</a:t>
            </a:r>
            <a:endParaRPr lang="ru-RU" sz="3600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340768"/>
            <a:ext cx="5796136" cy="5256584"/>
          </a:xfrm>
          <a:noFill/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Что </a:t>
            </a:r>
            <a:r>
              <a:rPr lang="ru-RU" b="1" dirty="0" smtClean="0">
                <a:latin typeface="Bahnschrift Light SemiCondensed" pitchFamily="34" charset="0"/>
              </a:rPr>
              <a:t>проверяет:</a:t>
            </a:r>
            <a:endParaRPr lang="ru-RU" dirty="0" smtClean="0">
              <a:latin typeface="Bahnschrift Light SemiCondensed" pitchFamily="34" charset="0"/>
            </a:endParaRP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Установка ОС с диска/USB</a:t>
            </a: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Работа меню, окон, кнопок</a:t>
            </a: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Запуск программ (офис, игры)</a:t>
            </a: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Подключение принтера, </a:t>
            </a:r>
            <a:r>
              <a:rPr lang="ru-RU" dirty="0" err="1" smtClean="0">
                <a:latin typeface="Bahnschrift Light SemiCondensed" pitchFamily="34" charset="0"/>
              </a:rPr>
              <a:t>Wi-Fi</a:t>
            </a:r>
            <a:endParaRPr lang="ru-RU" dirty="0" smtClean="0">
              <a:latin typeface="Bahnschrift Light SemiCondensed" pitchFamily="34" charset="0"/>
            </a:endParaRP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Кто тестирует:</a:t>
            </a:r>
            <a:r>
              <a:rPr lang="ru-RU" dirty="0" smtClean="0">
                <a:latin typeface="Bahnschrift Light SemiCondensed" pitchFamily="34" charset="0"/>
              </a:rPr>
              <a:t> Обычные </a:t>
            </a:r>
            <a:r>
              <a:rPr lang="ru-RU" dirty="0" err="1" smtClean="0">
                <a:latin typeface="Bahnschrift Light SemiCondensed" pitchFamily="34" charset="0"/>
              </a:rPr>
              <a:t>тестировщики</a:t>
            </a:r>
            <a:r>
              <a:rPr lang="ru-RU" dirty="0" smtClean="0">
                <a:latin typeface="Bahnschrift Light SemiCondensed" pitchFamily="34" charset="0"/>
              </a:rPr>
              <a:t>, бета-тестеры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Пример:</a:t>
            </a:r>
            <a:r>
              <a:rPr lang="ru-RU" dirty="0" smtClean="0">
                <a:latin typeface="Bahnschrift Light SemiCondensed" pitchFamily="34" charset="0"/>
              </a:rPr>
              <a:t> Пользователь жалуется: "После обновления не работает </a:t>
            </a:r>
            <a:r>
              <a:rPr lang="ru-RU" dirty="0" err="1" smtClean="0">
                <a:latin typeface="Bahnschrift Light SemiCondensed" pitchFamily="34" charset="0"/>
              </a:rPr>
              <a:t>Bluetooth</a:t>
            </a:r>
            <a:r>
              <a:rPr lang="ru-RU" dirty="0" smtClean="0">
                <a:latin typeface="Bahnschrift Light SemiCondensed" pitchFamily="34" charset="0"/>
              </a:rPr>
              <a:t>"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Плюсы:</a:t>
            </a:r>
            <a:r>
              <a:rPr lang="ru-RU" dirty="0" smtClean="0">
                <a:latin typeface="Bahnschrift Light SemiCondensed" pitchFamily="34" charset="0"/>
              </a:rPr>
              <a:t> Быстро, дешево, видно проблемы пользователей</a:t>
            </a:r>
            <a:br>
              <a:rPr lang="ru-RU" dirty="0" smtClean="0">
                <a:latin typeface="Bahnschrift Light SemiCondensed" pitchFamily="34" charset="0"/>
              </a:rPr>
            </a:br>
            <a:r>
              <a:rPr lang="ru-RU" b="1" dirty="0" smtClean="0">
                <a:latin typeface="Bahnschrift Light SemiCondensed" pitchFamily="34" charset="0"/>
              </a:rPr>
              <a:t>Минусы:</a:t>
            </a:r>
            <a:r>
              <a:rPr lang="ru-RU" dirty="0" smtClean="0">
                <a:latin typeface="Bahnschrift Light SemiCondensed" pitchFamily="34" charset="0"/>
              </a:rPr>
              <a:t> Не находим глубокие </a:t>
            </a:r>
            <a:r>
              <a:rPr lang="ru-RU" dirty="0" smtClean="0">
                <a:latin typeface="Bahnschrift Light SemiCondensed" pitchFamily="34" charset="0"/>
              </a:rPr>
              <a:t>ошибки</a:t>
            </a:r>
            <a:endParaRPr lang="ru-RU" dirty="0" smtClean="0">
              <a:latin typeface="Bahnschrift Light SemiCondensed" pitchFamily="34" charset="0"/>
            </a:endParaRPr>
          </a:p>
        </p:txBody>
      </p:sp>
      <p:pic>
        <p:nvPicPr>
          <p:cNvPr id="16386" name="Picture 2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75648" y="2132856"/>
            <a:ext cx="3168352" cy="3168353"/>
          </a:xfrm>
          <a:prstGeom prst="rect">
            <a:avLst/>
          </a:prstGeom>
          <a:noFill/>
          <a:effectLst>
            <a:softEdge rad="6350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s://i.pinimg.com/736x/45/f6/b1/45f6b1ff96b09cfc14e993b9a56961b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53136"/>
            <a:ext cx="9144000" cy="2204864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116632"/>
            <a:ext cx="6923112" cy="72494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Белый ящик – взгляд </a:t>
            </a:r>
            <a:r>
              <a:rPr lang="ru-RU" dirty="0" smtClean="0">
                <a:latin typeface="Bahnschrift Condensed" pitchFamily="34" charset="0"/>
              </a:rPr>
              <a:t>разработчика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229600" cy="3744415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ru-RU" b="1" dirty="0" smtClean="0">
                <a:latin typeface="Bahnschrift Light SemiCondensed" pitchFamily="34" charset="0"/>
              </a:rPr>
              <a:t>Что </a:t>
            </a:r>
            <a:r>
              <a:rPr lang="ru-RU" b="1" dirty="0" smtClean="0">
                <a:latin typeface="Bahnschrift Light SemiCondensed" pitchFamily="34" charset="0"/>
              </a:rPr>
              <a:t>проверяет:</a:t>
            </a:r>
            <a:endParaRPr lang="ru-RU" dirty="0" smtClean="0">
              <a:latin typeface="Bahnschrift Light SemiCondensed" pitchFamily="34" charset="0"/>
            </a:endParaRPr>
          </a:p>
          <a:p>
            <a:pPr algn="just">
              <a:buNone/>
            </a:pPr>
            <a:r>
              <a:rPr lang="ru-RU" dirty="0" smtClean="0">
                <a:latin typeface="Bahnschrift Light SemiCondensed" pitchFamily="34" charset="0"/>
              </a:rPr>
              <a:t>Исходный код ядра</a:t>
            </a:r>
          </a:p>
          <a:p>
            <a:pPr algn="just">
              <a:buNone/>
            </a:pPr>
            <a:r>
              <a:rPr lang="ru-RU" dirty="0" smtClean="0">
                <a:latin typeface="Bahnschrift Light SemiCondensed" pitchFamily="34" charset="0"/>
              </a:rPr>
              <a:t>Алгоритмы планировщика задач</a:t>
            </a:r>
          </a:p>
          <a:p>
            <a:pPr algn="just">
              <a:buNone/>
            </a:pPr>
            <a:r>
              <a:rPr lang="ru-RU" dirty="0" smtClean="0">
                <a:latin typeface="Bahnschrift Light SemiCondensed" pitchFamily="34" charset="0"/>
              </a:rPr>
              <a:t>Функции работы с памятью</a:t>
            </a:r>
          </a:p>
          <a:p>
            <a:pPr algn="just">
              <a:buNone/>
            </a:pPr>
            <a:r>
              <a:rPr lang="ru-RU" dirty="0" smtClean="0">
                <a:latin typeface="Bahnschrift Light SemiCondensed" pitchFamily="34" charset="0"/>
              </a:rPr>
              <a:t>Каждую строку кода на ошибки</a:t>
            </a:r>
          </a:p>
          <a:p>
            <a:pPr algn="just">
              <a:buNone/>
            </a:pPr>
            <a:r>
              <a:rPr lang="ru-RU" b="1" dirty="0" smtClean="0">
                <a:latin typeface="Bahnschrift Light SemiCondensed" pitchFamily="34" charset="0"/>
              </a:rPr>
              <a:t>Кто тестирует:</a:t>
            </a:r>
            <a:r>
              <a:rPr lang="ru-RU" dirty="0" smtClean="0">
                <a:latin typeface="Bahnschrift Light SemiCondensed" pitchFamily="34" charset="0"/>
              </a:rPr>
              <a:t> Разработчики ядра, аналитики кода</a:t>
            </a:r>
          </a:p>
          <a:p>
            <a:pPr algn="just">
              <a:buNone/>
            </a:pPr>
            <a:r>
              <a:rPr lang="ru-RU" b="1" dirty="0" smtClean="0">
                <a:latin typeface="Bahnschrift Light SemiCondensed" pitchFamily="34" charset="0"/>
              </a:rPr>
              <a:t>Пример:</a:t>
            </a:r>
            <a:r>
              <a:rPr lang="ru-RU" dirty="0" smtClean="0">
                <a:latin typeface="Bahnschrift Light SemiCondensed" pitchFamily="34" charset="0"/>
              </a:rPr>
              <a:t> "В функции </a:t>
            </a:r>
            <a:r>
              <a:rPr lang="ru-RU" dirty="0" err="1" smtClean="0">
                <a:latin typeface="Bahnschrift Light SemiCondensed" pitchFamily="34" charset="0"/>
              </a:rPr>
              <a:t>kmalloc</a:t>
            </a:r>
            <a:r>
              <a:rPr lang="ru-RU" dirty="0" smtClean="0">
                <a:latin typeface="Bahnschrift Light SemiCondensed" pitchFamily="34" charset="0"/>
              </a:rPr>
              <a:t>() нет проверки на NULL"</a:t>
            </a:r>
          </a:p>
          <a:p>
            <a:pPr algn="just">
              <a:buNone/>
            </a:pPr>
            <a:r>
              <a:rPr lang="ru-RU" b="1" dirty="0" smtClean="0">
                <a:latin typeface="Bahnschrift Light SemiCondensed" pitchFamily="34" charset="0"/>
              </a:rPr>
              <a:t>Плюсы:</a:t>
            </a:r>
            <a:r>
              <a:rPr lang="ru-RU" dirty="0" smtClean="0">
                <a:latin typeface="Bahnschrift Light SemiCondensed" pitchFamily="34" charset="0"/>
              </a:rPr>
              <a:t> Находим сложные </a:t>
            </a:r>
            <a:r>
              <a:rPr lang="ru-RU" dirty="0" err="1" smtClean="0">
                <a:latin typeface="Bahnschrift Light SemiCondensed" pitchFamily="34" charset="0"/>
              </a:rPr>
              <a:t>баги</a:t>
            </a:r>
            <a:r>
              <a:rPr lang="ru-RU" dirty="0" smtClean="0">
                <a:latin typeface="Bahnschrift Light SemiCondensed" pitchFamily="34" charset="0"/>
              </a:rPr>
              <a:t>, проверяем 100% </a:t>
            </a:r>
            <a:r>
              <a:rPr lang="ru-RU" dirty="0" smtClean="0">
                <a:latin typeface="Bahnschrift Light SemiCondensed" pitchFamily="34" charset="0"/>
              </a:rPr>
              <a:t>кода</a:t>
            </a:r>
          </a:p>
          <a:p>
            <a:pPr algn="just">
              <a:buNone/>
            </a:pPr>
            <a:r>
              <a:rPr lang="ru-RU" b="1" dirty="0" smtClean="0">
                <a:latin typeface="Bahnschrift Light SemiCondensed" pitchFamily="34" charset="0"/>
              </a:rPr>
              <a:t>Минусы</a:t>
            </a:r>
            <a:r>
              <a:rPr lang="ru-RU" b="1" dirty="0" smtClean="0">
                <a:latin typeface="Bahnschrift Light SemiCondensed" pitchFamily="34" charset="0"/>
              </a:rPr>
              <a:t>:</a:t>
            </a:r>
            <a:r>
              <a:rPr lang="ru-RU" dirty="0" smtClean="0">
                <a:latin typeface="Bahnschrift Light SemiCondensed" pitchFamily="34" charset="0"/>
              </a:rPr>
              <a:t> Дорого, нужны эксперты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565212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Серый ящик – самый практичный </a:t>
            </a:r>
            <a:r>
              <a:rPr lang="ru-RU" dirty="0" smtClean="0">
                <a:latin typeface="Bahnschrift Condensed" pitchFamily="34" charset="0"/>
              </a:rPr>
              <a:t>подход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412776"/>
            <a:ext cx="5616624" cy="544522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Что проверяем:</a:t>
            </a:r>
            <a:endParaRPr lang="ru-RU" dirty="0" smtClean="0">
              <a:latin typeface="Bahnschrift Light SemiCondensed" pitchFamily="34" charset="0"/>
            </a:endParaRP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Взаимодействие компонентов</a:t>
            </a: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Системные вызовы (API)</a:t>
            </a:r>
          </a:p>
          <a:p>
            <a:pPr>
              <a:buNone/>
            </a:pPr>
            <a:r>
              <a:rPr lang="ru-RU" dirty="0" err="1" smtClean="0">
                <a:latin typeface="Bahnschrift Light SemiCondensed" pitchFamily="34" charset="0"/>
              </a:rPr>
              <a:t>Логи</a:t>
            </a:r>
            <a:r>
              <a:rPr lang="ru-RU" dirty="0" smtClean="0">
                <a:latin typeface="Bahnschrift Light SemiCondensed" pitchFamily="34" charset="0"/>
              </a:rPr>
              <a:t> и дампы после сбоев</a:t>
            </a: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Интеграцию драйверов и ядра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Кто тестирует:</a:t>
            </a:r>
            <a:r>
              <a:rPr lang="ru-RU" dirty="0" smtClean="0">
                <a:latin typeface="Bahnschrift Light SemiCondensed" pitchFamily="34" charset="0"/>
              </a:rPr>
              <a:t> Инженеры QA, специалисты по безопасности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Пример:</a:t>
            </a:r>
            <a:r>
              <a:rPr lang="ru-RU" dirty="0" smtClean="0">
                <a:latin typeface="Bahnschrift Light SemiCondensed" pitchFamily="34" charset="0"/>
              </a:rPr>
              <a:t> </a:t>
            </a:r>
            <a:r>
              <a:rPr lang="ru-RU" dirty="0" err="1" smtClean="0">
                <a:latin typeface="Bahnschrift Light SemiCondensed" pitchFamily="34" charset="0"/>
              </a:rPr>
              <a:t>Фаззинг</a:t>
            </a:r>
            <a:r>
              <a:rPr lang="ru-RU" dirty="0" smtClean="0">
                <a:latin typeface="Bahnschrift Light SemiCondensed" pitchFamily="34" charset="0"/>
              </a:rPr>
              <a:t> системных вызовов, анализ дампа памяти после краха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Плюсы:</a:t>
            </a:r>
            <a:r>
              <a:rPr lang="ru-RU" dirty="0" smtClean="0">
                <a:latin typeface="Bahnschrift Light SemiCondensed" pitchFamily="34" charset="0"/>
              </a:rPr>
              <a:t> Находим сложные ошибки, эффективнее черного ящика</a:t>
            </a:r>
            <a:br>
              <a:rPr lang="ru-RU" dirty="0" smtClean="0">
                <a:latin typeface="Bahnschrift Light SemiCondensed" pitchFamily="34" charset="0"/>
              </a:rPr>
            </a:br>
            <a:r>
              <a:rPr lang="ru-RU" b="1" dirty="0" smtClean="0">
                <a:latin typeface="Bahnschrift Light SemiCondensed" pitchFamily="34" charset="0"/>
              </a:rPr>
              <a:t>Минусы:</a:t>
            </a:r>
            <a:r>
              <a:rPr lang="ru-RU" dirty="0" smtClean="0">
                <a:latin typeface="Bahnschrift Light SemiCondensed" pitchFamily="34" charset="0"/>
              </a:rPr>
              <a:t> Требует знаний архитектуры </a:t>
            </a:r>
            <a:r>
              <a:rPr lang="ru-RU" dirty="0" smtClean="0">
                <a:latin typeface="Bahnschrift Light SemiCondensed" pitchFamily="34" charset="0"/>
              </a:rPr>
              <a:t>ОС</a:t>
            </a:r>
            <a:endParaRPr lang="ru-RU" dirty="0" smtClean="0">
              <a:latin typeface="Bahnschrift Light SemiCondensed" pitchFamily="34" charset="0"/>
            </a:endParaRPr>
          </a:p>
        </p:txBody>
      </p:sp>
      <p:pic>
        <p:nvPicPr>
          <p:cNvPr id="18434" name="Picture 2" descr="https://i.pinimg.com/736x/ca/96/48/ca9648995f29fce4c53c093d7a3dc66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0"/>
            <a:ext cx="3419872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s://i.pinimg.com/736x/64/3d/8b/643d8bee31da25d120cf993fd9a85a4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0"/>
            <a:ext cx="3975019" cy="6858000"/>
          </a:xfrm>
          <a:prstGeom prst="rect">
            <a:avLst/>
          </a:prstGeom>
          <a:noFill/>
        </p:spPr>
      </p:pic>
      <p:pic>
        <p:nvPicPr>
          <p:cNvPr id="5" name="Picture 2" descr="https://i.pinimg.com/736x/64/3d/8b/643d8bee31da25d120cf993fd9a85a4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0"/>
            <a:ext cx="3975019" cy="6858000"/>
          </a:xfrm>
          <a:prstGeom prst="rect">
            <a:avLst/>
          </a:prstGeom>
          <a:noFill/>
        </p:spPr>
      </p:pic>
      <p:pic>
        <p:nvPicPr>
          <p:cNvPr id="19458" name="Picture 2" descr="https://i.pinimg.com/736x/64/3d/8b/643d8bee31da25d120cf993fd9a85a4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3975019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1640" y="404664"/>
            <a:ext cx="6707088" cy="1143000"/>
          </a:xfrm>
          <a:solidFill>
            <a:srgbClr val="FFFFFF">
              <a:alpha val="69804"/>
            </a:srgbClr>
          </a:solidFill>
          <a:ln>
            <a:noFill/>
          </a:ln>
          <a:effectLst/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Уровни тестирования </a:t>
            </a:r>
            <a:r>
              <a:rPr lang="ru-RU" dirty="0" smtClean="0">
                <a:latin typeface="Bahnschrift Condensed" pitchFamily="34" charset="0"/>
              </a:rPr>
              <a:t>ОС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2132856"/>
            <a:ext cx="8568952" cy="4032448"/>
          </a:xfrm>
          <a:solidFill>
            <a:srgbClr val="FFFFFF">
              <a:alpha val="65098"/>
            </a:srgbClr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Модульное тестирование</a:t>
            </a:r>
            <a:r>
              <a:rPr lang="ru-RU" dirty="0" smtClean="0">
                <a:latin typeface="Bahnschrift Light SemiCondensed" pitchFamily="34" charset="0"/>
              </a:rPr>
              <a:t> – проверяем "кирпичики" (функции ядра)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Интеграционное тестирование</a:t>
            </a:r>
            <a:r>
              <a:rPr lang="ru-RU" dirty="0" smtClean="0">
                <a:latin typeface="Bahnschrift Light SemiCondensed" pitchFamily="34" charset="0"/>
              </a:rPr>
              <a:t> – проверяем, как "кирпичики" работают вместе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Системное тестирование</a:t>
            </a:r>
            <a:r>
              <a:rPr lang="ru-RU" dirty="0" smtClean="0">
                <a:latin typeface="Bahnschrift Light SemiCondensed" pitchFamily="34" charset="0"/>
              </a:rPr>
              <a:t> – проверяем ОС как целое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Приемочное тестирование</a:t>
            </a:r>
            <a:r>
              <a:rPr lang="ru-RU" dirty="0" smtClean="0">
                <a:latin typeface="Bahnschrift Light SemiCondensed" pitchFamily="34" charset="0"/>
              </a:rPr>
              <a:t> – проверяют пользователи (альфа/бета</a:t>
            </a:r>
            <a:r>
              <a:rPr lang="ru-RU" dirty="0" smtClean="0">
                <a:latin typeface="Bahnschrift Light SemiCondensed" pitchFamily="34" charset="0"/>
              </a:rPr>
              <a:t>)</a:t>
            </a:r>
            <a:endParaRPr lang="ru-RU" dirty="0" smtClean="0"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4" descr="https://i.pinimg.com/736x/95/1c/bc/951cbcf11236e2f3f81142dfc2fd18c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52535" y="-243408"/>
            <a:ext cx="9721080" cy="7416824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24744"/>
            <a:ext cx="7848872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Системное тестирование – проверяем все</a:t>
            </a:r>
            <a:r>
              <a:rPr lang="ru-RU" dirty="0" smtClean="0">
                <a:latin typeface="Bahnschrift Condensed" pitchFamily="34" charset="0"/>
              </a:rPr>
              <a:t>!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093296"/>
            <a:ext cx="107504" cy="205483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20482" name="Picture 2" descr="C:\Users\79774\Downloads\2026-02-05_17-18-3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276872"/>
            <a:ext cx="7548253" cy="3915027"/>
          </a:xfrm>
          <a:prstGeom prst="rect">
            <a:avLst/>
          </a:prstGeom>
          <a:noFill/>
        </p:spPr>
      </p:pic>
      <p:pic>
        <p:nvPicPr>
          <p:cNvPr id="20486" name="Picture 6" descr="https://i.pinimg.com/736x/b2/4a/31/b24a3143174f1176096b209e158a356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0312" y="1916832"/>
            <a:ext cx="1008112" cy="8400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 Современные методы – </a:t>
            </a:r>
            <a:r>
              <a:rPr lang="ru-RU" dirty="0" err="1" smtClean="0">
                <a:latin typeface="Bahnschrift Condensed" pitchFamily="34" charset="0"/>
              </a:rPr>
              <a:t>Фаззинг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6588224" cy="5805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dirty="0" smtClean="0">
                <a:latin typeface="Bahnschrift Light SemiCondensed" pitchFamily="34" charset="0"/>
              </a:rPr>
              <a:t>Программа-фаззер генерирует мусор</a:t>
            </a:r>
          </a:p>
          <a:p>
            <a:pPr>
              <a:buNone/>
            </a:pPr>
            <a:r>
              <a:rPr lang="ru-RU" sz="2800" dirty="0" smtClean="0">
                <a:latin typeface="Bahnschrift Light SemiCondensed" pitchFamily="34" charset="0"/>
              </a:rPr>
              <a:t>Подает его в ОС (системные вызовы, драйверы)</a:t>
            </a:r>
          </a:p>
          <a:p>
            <a:pPr>
              <a:buNone/>
            </a:pPr>
            <a:r>
              <a:rPr lang="ru-RU" sz="2800" dirty="0" smtClean="0">
                <a:latin typeface="Bahnschrift Light SemiCondensed" pitchFamily="34" charset="0"/>
              </a:rPr>
              <a:t>Смотрит – не упала ли система?</a:t>
            </a:r>
          </a:p>
          <a:p>
            <a:pPr>
              <a:buNone/>
            </a:pPr>
            <a:r>
              <a:rPr lang="ru-RU" sz="2800" dirty="0" smtClean="0">
                <a:latin typeface="Bahnschrift Light SemiCondensed" pitchFamily="34" charset="0"/>
              </a:rPr>
              <a:t>Если упала – нашли критическую ошибку!</a:t>
            </a:r>
          </a:p>
          <a:p>
            <a:pPr>
              <a:buNone/>
            </a:pPr>
            <a:r>
              <a:rPr lang="ru-RU" sz="2800" b="1" dirty="0" smtClean="0">
                <a:latin typeface="Bahnschrift Light SemiCondensed" pitchFamily="34" charset="0"/>
              </a:rPr>
              <a:t>Пример инструмента:</a:t>
            </a:r>
            <a:r>
              <a:rPr lang="ru-RU" sz="2800" dirty="0" smtClean="0">
                <a:latin typeface="Bahnschrift Light SemiCondensed" pitchFamily="34" charset="0"/>
              </a:rPr>
              <a:t> </a:t>
            </a:r>
            <a:r>
              <a:rPr lang="ru-RU" sz="2800" b="1" dirty="0" err="1" smtClean="0">
                <a:latin typeface="Bahnschrift Light SemiCondensed" pitchFamily="34" charset="0"/>
              </a:rPr>
              <a:t>syzkaller</a:t>
            </a:r>
            <a:r>
              <a:rPr lang="ru-RU" sz="2800" dirty="0" smtClean="0">
                <a:latin typeface="Bahnschrift Light SemiCondensed" pitchFamily="34" charset="0"/>
              </a:rPr>
              <a:t> для </a:t>
            </a:r>
            <a:r>
              <a:rPr lang="ru-RU" sz="2800" dirty="0" err="1" smtClean="0">
                <a:latin typeface="Bahnschrift Light SemiCondensed" pitchFamily="34" charset="0"/>
              </a:rPr>
              <a:t>Linux</a:t>
            </a:r>
            <a:r>
              <a:rPr lang="ru-RU" sz="2800" dirty="0" smtClean="0">
                <a:latin typeface="Bahnschrift Light SemiCondensed" pitchFamily="34" charset="0"/>
              </a:rPr>
              <a:t> – нашел тысячи </a:t>
            </a:r>
            <a:r>
              <a:rPr lang="ru-RU" sz="2800" dirty="0" err="1" smtClean="0">
                <a:latin typeface="Bahnschrift Light SemiCondensed" pitchFamily="34" charset="0"/>
              </a:rPr>
              <a:t>багов</a:t>
            </a:r>
            <a:endParaRPr lang="ru-RU" sz="2800" dirty="0" smtClean="0">
              <a:latin typeface="Bahnschrift Light SemiCondensed" pitchFamily="34" charset="0"/>
            </a:endParaRPr>
          </a:p>
          <a:p>
            <a:pPr>
              <a:buNone/>
            </a:pPr>
            <a:r>
              <a:rPr lang="ru-RU" sz="2800" b="1" dirty="0" smtClean="0">
                <a:latin typeface="Bahnschrift Light SemiCondensed" pitchFamily="34" charset="0"/>
              </a:rPr>
              <a:t>Результат:</a:t>
            </a:r>
            <a:r>
              <a:rPr lang="ru-RU" sz="2800" dirty="0" smtClean="0">
                <a:latin typeface="Bahnschrift Light SemiCondensed" pitchFamily="34" charset="0"/>
              </a:rPr>
              <a:t> Более безопасные и стабильные </a:t>
            </a:r>
            <a:r>
              <a:rPr lang="ru-RU" sz="2800" dirty="0" smtClean="0">
                <a:latin typeface="Bahnschrift Light SemiCondensed" pitchFamily="34" charset="0"/>
              </a:rPr>
              <a:t>ОС</a:t>
            </a:r>
            <a:endParaRPr lang="ru-RU" sz="2800" dirty="0" smtClean="0">
              <a:latin typeface="Bahnschrift Light SemiCondensed" pitchFamily="34" charset="0"/>
            </a:endParaRPr>
          </a:p>
        </p:txBody>
      </p:sp>
      <p:pic>
        <p:nvPicPr>
          <p:cNvPr id="21506" name="Picture 2" descr="https://i.pinimg.com/736x/7c/a5/b1/7ca5b10ad6ae9ae60a01a5cae926d6d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1124744"/>
            <a:ext cx="2483768" cy="2483768"/>
          </a:xfrm>
          <a:prstGeom prst="rect">
            <a:avLst/>
          </a:prstGeom>
          <a:noFill/>
          <a:effectLst>
            <a:softEdge rad="127000"/>
          </a:effectLst>
        </p:spPr>
      </p:pic>
      <p:pic>
        <p:nvPicPr>
          <p:cNvPr id="21508" name="Picture 4" descr="https://i.pinimg.com/736x/18/24/eb/1824eb57a4ca2077614bff48828b042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3903026"/>
            <a:ext cx="2376264" cy="2074110"/>
          </a:xfrm>
          <a:prstGeom prst="rect">
            <a:avLst/>
          </a:prstGeom>
          <a:noFill/>
          <a:effectLst>
            <a:softEdge rad="1270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https://i.pinimg.com/736x/15/1c/14/151c14adfd51738368522bac5874591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340768"/>
            <a:ext cx="2714625" cy="2857500"/>
          </a:xfrm>
          <a:prstGeom prst="rect">
            <a:avLst/>
          </a:prstGeom>
          <a:noFill/>
        </p:spPr>
      </p:pic>
      <p:pic>
        <p:nvPicPr>
          <p:cNvPr id="22530" name="Picture 2" descr="https://i.pinimg.com/736x/a0/37/bd/a037bd3a0214922a7f8cc525ce2da6f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4653136"/>
            <a:ext cx="7010400" cy="2204864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Автоматизация – без нее </a:t>
            </a:r>
            <a:r>
              <a:rPr lang="ru-RU" dirty="0" smtClean="0">
                <a:latin typeface="Bahnschrift Condensed" pitchFamily="34" charset="0"/>
              </a:rPr>
              <a:t>никак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80729"/>
            <a:ext cx="8352928" cy="417646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Проблема:</a:t>
            </a:r>
            <a:r>
              <a:rPr lang="ru-RU" dirty="0" smtClean="0">
                <a:latin typeface="Bahnschrift Light SemiCondensed" pitchFamily="34" charset="0"/>
              </a:rPr>
              <a:t> Невозможно вручную проверить миллионы строк кода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Решение:</a:t>
            </a:r>
            <a:endParaRPr lang="ru-RU" dirty="0" smtClean="0">
              <a:latin typeface="Bahnschrift Light SemiCondensed" pitchFamily="34" charset="0"/>
            </a:endParaRP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Специальные </a:t>
            </a:r>
            <a:r>
              <a:rPr lang="ru-RU" b="1" dirty="0" smtClean="0">
                <a:latin typeface="Bahnschrift Light SemiCondensed" pitchFamily="34" charset="0"/>
              </a:rPr>
              <a:t>стенды-серверы</a:t>
            </a:r>
            <a:endParaRPr lang="ru-RU" dirty="0" smtClean="0">
              <a:latin typeface="Bahnschrift Light SemiCondensed" pitchFamily="34" charset="0"/>
            </a:endParaRP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Автоматическая установка ОС</a:t>
            </a: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Запуск тысяч тестов</a:t>
            </a:r>
          </a:p>
          <a:p>
            <a:pPr>
              <a:buNone/>
            </a:pPr>
            <a:r>
              <a:rPr lang="ru-RU" dirty="0" smtClean="0">
                <a:latin typeface="Bahnschrift Light SemiCondensed" pitchFamily="34" charset="0"/>
              </a:rPr>
              <a:t>Формирование отчетов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CI/CD системы:</a:t>
            </a:r>
            <a:r>
              <a:rPr lang="ru-RU" dirty="0" smtClean="0">
                <a:latin typeface="Bahnschrift Light SemiCondensed" pitchFamily="34" charset="0"/>
              </a:rPr>
              <a:t> </a:t>
            </a:r>
            <a:r>
              <a:rPr lang="ru-RU" dirty="0" err="1" smtClean="0">
                <a:latin typeface="Bahnschrift Light SemiCondensed" pitchFamily="34" charset="0"/>
              </a:rPr>
              <a:t>Jenkins</a:t>
            </a:r>
            <a:r>
              <a:rPr lang="ru-RU" dirty="0" smtClean="0">
                <a:latin typeface="Bahnschrift Light SemiCondensed" pitchFamily="34" charset="0"/>
              </a:rPr>
              <a:t>, </a:t>
            </a:r>
            <a:r>
              <a:rPr lang="ru-RU" dirty="0" err="1" smtClean="0">
                <a:latin typeface="Bahnschrift Light SemiCondensed" pitchFamily="34" charset="0"/>
              </a:rPr>
              <a:t>GitLab</a:t>
            </a:r>
            <a:r>
              <a:rPr lang="ru-RU" dirty="0" smtClean="0">
                <a:latin typeface="Bahnschrift Light SemiCondensed" pitchFamily="34" charset="0"/>
              </a:rPr>
              <a:t> </a:t>
            </a:r>
            <a:r>
              <a:rPr lang="ru-RU" dirty="0" smtClean="0">
                <a:latin typeface="Bahnschrift Light SemiCondensed" pitchFamily="34" charset="0"/>
              </a:rPr>
              <a:t>CI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Пример</a:t>
            </a:r>
            <a:r>
              <a:rPr lang="ru-RU" b="1" dirty="0" smtClean="0">
                <a:latin typeface="Bahnschrift Light SemiCondensed" pitchFamily="34" charset="0"/>
              </a:rPr>
              <a:t>:</a:t>
            </a:r>
            <a:r>
              <a:rPr lang="ru-RU" dirty="0" smtClean="0">
                <a:latin typeface="Bahnschrift Light SemiCondensed" pitchFamily="34" charset="0"/>
              </a:rPr>
              <a:t> </a:t>
            </a:r>
            <a:r>
              <a:rPr lang="ru-RU" dirty="0" err="1" smtClean="0">
                <a:latin typeface="Bahnschrift Light SemiCondensed" pitchFamily="34" charset="0"/>
                <a:hlinkClick r:id="rId4"/>
              </a:rPr>
              <a:t>KernelCI.org</a:t>
            </a:r>
            <a:r>
              <a:rPr lang="ru-RU" dirty="0" smtClean="0">
                <a:latin typeface="Bahnschrift Light SemiCondensed" pitchFamily="34" charset="0"/>
              </a:rPr>
              <a:t> – автоматически тестирует каждое изменение в ядре </a:t>
            </a:r>
            <a:r>
              <a:rPr lang="ru-RU" dirty="0" err="1" smtClean="0">
                <a:latin typeface="Bahnschrift Light SemiCondensed" pitchFamily="34" charset="0"/>
              </a:rPr>
              <a:t>Linux</a:t>
            </a:r>
            <a:endParaRPr lang="ru-RU" dirty="0" smtClean="0">
              <a:latin typeface="Bahnschrift Light SemiCondensed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7848872" cy="836712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Главные </a:t>
            </a:r>
            <a:r>
              <a:rPr lang="ru-RU" dirty="0" smtClean="0">
                <a:latin typeface="Bahnschrift Condensed" pitchFamily="34" charset="0"/>
              </a:rPr>
              <a:t>трудности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964488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 smtClean="0">
                <a:latin typeface="Bahnschrift Light SemiCondensed" pitchFamily="34" charset="0"/>
              </a:rPr>
              <a:t>С чем сталкиваются </a:t>
            </a:r>
            <a:r>
              <a:rPr lang="ru-RU" sz="2400" b="1" dirty="0" err="1" smtClean="0">
                <a:latin typeface="Bahnschrift Light SemiCondensed" pitchFamily="34" charset="0"/>
              </a:rPr>
              <a:t>тестировщики</a:t>
            </a:r>
            <a:r>
              <a:rPr lang="ru-RU" sz="2400" b="1" dirty="0" smtClean="0">
                <a:latin typeface="Bahnschrift Light SemiCondensed" pitchFamily="34" charset="0"/>
              </a:rPr>
              <a:t> ОС:</a:t>
            </a:r>
            <a:endParaRPr lang="ru-RU" sz="2400" dirty="0" smtClean="0">
              <a:latin typeface="Bahnschrift Light SemiCondensed" pitchFamily="34" charset="0"/>
            </a:endParaRPr>
          </a:p>
          <a:p>
            <a:pPr>
              <a:buNone/>
            </a:pPr>
            <a:r>
              <a:rPr lang="ru-RU" sz="2400" b="1" dirty="0" smtClean="0">
                <a:latin typeface="Bahnschrift Light SemiCondensed" pitchFamily="34" charset="0"/>
              </a:rPr>
              <a:t>Огромный </a:t>
            </a:r>
            <a:r>
              <a:rPr lang="ru-RU" sz="2400" b="1" dirty="0" smtClean="0">
                <a:latin typeface="Bahnschrift Light SemiCondensed" pitchFamily="34" charset="0"/>
              </a:rPr>
              <a:t>размер</a:t>
            </a:r>
            <a:r>
              <a:rPr lang="ru-RU" sz="2400" dirty="0" smtClean="0">
                <a:latin typeface="Bahnschrift Light SemiCondensed" pitchFamily="34" charset="0"/>
              </a:rPr>
              <a:t> – десятки миллионов строк кода</a:t>
            </a:r>
          </a:p>
          <a:p>
            <a:pPr>
              <a:buNone/>
            </a:pPr>
            <a:r>
              <a:rPr lang="ru-RU" sz="2400" b="1" dirty="0" smtClean="0">
                <a:latin typeface="Bahnschrift Light SemiCondensed" pitchFamily="34" charset="0"/>
              </a:rPr>
              <a:t>Бесконечное </a:t>
            </a:r>
            <a:r>
              <a:rPr lang="ru-RU" sz="2400" b="1" dirty="0" smtClean="0">
                <a:latin typeface="Bahnschrift Light SemiCondensed" pitchFamily="34" charset="0"/>
              </a:rPr>
              <a:t>железо</a:t>
            </a:r>
            <a:r>
              <a:rPr lang="ru-RU" sz="2400" dirty="0" smtClean="0">
                <a:latin typeface="Bahnschrift Light SemiCondensed" pitchFamily="34" charset="0"/>
              </a:rPr>
              <a:t> – невозможно протестировать на всех устройствах</a:t>
            </a:r>
          </a:p>
          <a:p>
            <a:pPr>
              <a:buNone/>
            </a:pPr>
            <a:r>
              <a:rPr lang="ru-RU" sz="2400" b="1" dirty="0" smtClean="0">
                <a:latin typeface="Bahnschrift Light SemiCondensed" pitchFamily="34" charset="0"/>
              </a:rPr>
              <a:t>Странные </a:t>
            </a:r>
            <a:r>
              <a:rPr lang="ru-RU" sz="2400" b="1" dirty="0" err="1" smtClean="0">
                <a:latin typeface="Bahnschrift Light SemiCondensed" pitchFamily="34" charset="0"/>
              </a:rPr>
              <a:t>баги</a:t>
            </a:r>
            <a:r>
              <a:rPr lang="ru-RU" sz="2400" dirty="0" smtClean="0">
                <a:latin typeface="Bahnschrift Light SemiCondensed" pitchFamily="34" charset="0"/>
              </a:rPr>
              <a:t> – ошибки, проявляющиеся раз в месяц</a:t>
            </a:r>
          </a:p>
          <a:p>
            <a:pPr>
              <a:buNone/>
            </a:pPr>
            <a:r>
              <a:rPr lang="ru-RU" sz="2400" dirty="0" smtClean="0">
                <a:latin typeface="Bahnschrift Light SemiCondensed" pitchFamily="34" charset="0"/>
              </a:rPr>
              <a:t> </a:t>
            </a:r>
            <a:r>
              <a:rPr lang="ru-RU" sz="2400" b="1" dirty="0" smtClean="0">
                <a:latin typeface="Bahnschrift Light SemiCondensed" pitchFamily="34" charset="0"/>
              </a:rPr>
              <a:t>Компромиссы</a:t>
            </a:r>
            <a:r>
              <a:rPr lang="ru-RU" sz="2400" dirty="0" smtClean="0">
                <a:latin typeface="Bahnschrift Light SemiCondensed" pitchFamily="34" charset="0"/>
              </a:rPr>
              <a:t> – что важнее: скорость или стабильность?</a:t>
            </a:r>
          </a:p>
          <a:p>
            <a:pPr>
              <a:buNone/>
            </a:pPr>
            <a:r>
              <a:rPr lang="ru-RU" sz="2400" b="1" dirty="0" smtClean="0">
                <a:latin typeface="Bahnschrift Light SemiCondensed" pitchFamily="34" charset="0"/>
              </a:rPr>
              <a:t>Человеческий </a:t>
            </a:r>
            <a:r>
              <a:rPr lang="ru-RU" sz="2400" b="1" dirty="0" smtClean="0">
                <a:latin typeface="Bahnschrift Light SemiCondensed" pitchFamily="34" charset="0"/>
              </a:rPr>
              <a:t>фактор</a:t>
            </a:r>
            <a:r>
              <a:rPr lang="ru-RU" sz="2400" dirty="0" smtClean="0">
                <a:latin typeface="Bahnschrift Light SemiCondensed" pitchFamily="34" charset="0"/>
              </a:rPr>
              <a:t> – пользователи делают неожиданные </a:t>
            </a:r>
            <a:r>
              <a:rPr lang="ru-RU" sz="2400" dirty="0" smtClean="0">
                <a:latin typeface="Bahnschrift Light SemiCondensed" pitchFamily="34" charset="0"/>
              </a:rPr>
              <a:t>вещи</a:t>
            </a:r>
            <a:endParaRPr lang="ru-RU" sz="2400" dirty="0" smtClean="0">
              <a:latin typeface="Bahnschrift Light SemiCondensed" pitchFamily="34" charset="0"/>
            </a:endParaRPr>
          </a:p>
        </p:txBody>
      </p:sp>
      <p:pic>
        <p:nvPicPr>
          <p:cNvPr id="23554" name="Picture 2" descr="https://i.pinimg.com/736x/05/6c/9b/056c9b58db28fd340b647aed35ae863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77072"/>
            <a:ext cx="9144000" cy="27809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40568" y="0"/>
            <a:ext cx="7488832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Процесс в реальной </a:t>
            </a:r>
            <a:r>
              <a:rPr lang="ru-RU" dirty="0" smtClean="0">
                <a:latin typeface="Bahnschrift Condensed" pitchFamily="34" charset="0"/>
              </a:rPr>
              <a:t>компании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24744"/>
            <a:ext cx="6228184" cy="573325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Как это выглядит на практике:</a:t>
            </a:r>
            <a:endParaRPr lang="ru-RU" dirty="0" smtClean="0">
              <a:latin typeface="Bahnschrift Light SemiCondensed" pitchFamily="34" charset="0"/>
            </a:endParaRP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Разработка</a:t>
            </a:r>
            <a:r>
              <a:rPr lang="ru-RU" dirty="0" smtClean="0">
                <a:latin typeface="Bahnschrift Light SemiCondensed" pitchFamily="34" charset="0"/>
              </a:rPr>
              <a:t> </a:t>
            </a:r>
            <a:r>
              <a:rPr lang="ru-RU" dirty="0" smtClean="0">
                <a:latin typeface="Bahnschrift Light SemiCondensed" pitchFamily="34" charset="0"/>
              </a:rPr>
              <a:t>- Программисты </a:t>
            </a:r>
            <a:r>
              <a:rPr lang="ru-RU" dirty="0" smtClean="0">
                <a:latin typeface="Bahnschrift Light SemiCondensed" pitchFamily="34" charset="0"/>
              </a:rPr>
              <a:t>пишут код</a:t>
            </a:r>
          </a:p>
          <a:p>
            <a:pPr>
              <a:buNone/>
            </a:pPr>
            <a:r>
              <a:rPr lang="ru-RU" b="1" dirty="0" err="1" smtClean="0">
                <a:latin typeface="Bahnschrift Light SemiCondensed" pitchFamily="34" charset="0"/>
              </a:rPr>
              <a:t>Code</a:t>
            </a:r>
            <a:r>
              <a:rPr lang="ru-RU" b="1" dirty="0" smtClean="0">
                <a:latin typeface="Bahnschrift Light SemiCondensed" pitchFamily="34" charset="0"/>
              </a:rPr>
              <a:t> </a:t>
            </a:r>
            <a:r>
              <a:rPr lang="ru-RU" b="1" dirty="0" err="1" smtClean="0">
                <a:latin typeface="Bahnschrift Light SemiCondensed" pitchFamily="34" charset="0"/>
              </a:rPr>
              <a:t>Review</a:t>
            </a:r>
            <a:r>
              <a:rPr lang="ru-RU" dirty="0" smtClean="0">
                <a:latin typeface="Bahnschrift Light SemiCondensed" pitchFamily="34" charset="0"/>
              </a:rPr>
              <a:t>  </a:t>
            </a:r>
            <a:r>
              <a:rPr lang="ru-RU" dirty="0" smtClean="0">
                <a:latin typeface="Bahnschrift Light SemiCondensed" pitchFamily="34" charset="0"/>
              </a:rPr>
              <a:t>- Коллеги </a:t>
            </a:r>
            <a:r>
              <a:rPr lang="ru-RU" dirty="0" smtClean="0">
                <a:latin typeface="Bahnschrift Light SemiCondensed" pitchFamily="34" charset="0"/>
              </a:rPr>
              <a:t>проверяют код (белый ящик)</a:t>
            </a:r>
          </a:p>
          <a:p>
            <a:pPr>
              <a:buNone/>
            </a:pPr>
            <a:r>
              <a:rPr lang="ru-RU" b="1" dirty="0" err="1" smtClean="0">
                <a:latin typeface="Bahnschrift Light SemiCondensed" pitchFamily="34" charset="0"/>
              </a:rPr>
              <a:t>Автотесты</a:t>
            </a:r>
            <a:r>
              <a:rPr lang="ru-RU" dirty="0" smtClean="0">
                <a:latin typeface="Bahnschrift Light SemiCondensed" pitchFamily="34" charset="0"/>
              </a:rPr>
              <a:t> </a:t>
            </a:r>
            <a:r>
              <a:rPr lang="ru-RU" dirty="0" smtClean="0">
                <a:latin typeface="Bahnschrift Light SemiCondensed" pitchFamily="34" charset="0"/>
              </a:rPr>
              <a:t>- Запускаются </a:t>
            </a:r>
            <a:r>
              <a:rPr lang="ru-RU" dirty="0" smtClean="0">
                <a:latin typeface="Bahnschrift Light SemiCondensed" pitchFamily="34" charset="0"/>
              </a:rPr>
              <a:t>тысячи тестов автоматически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Ручное тестирование</a:t>
            </a:r>
            <a:r>
              <a:rPr lang="ru-RU" dirty="0" smtClean="0">
                <a:latin typeface="Bahnschrift Light SemiCondensed" pitchFamily="34" charset="0"/>
              </a:rPr>
              <a:t> </a:t>
            </a:r>
            <a:r>
              <a:rPr lang="ru-RU" dirty="0" smtClean="0">
                <a:latin typeface="Bahnschrift Light SemiCondensed" pitchFamily="34" charset="0"/>
              </a:rPr>
              <a:t>- </a:t>
            </a:r>
            <a:r>
              <a:rPr lang="ru-RU" dirty="0" err="1" smtClean="0">
                <a:latin typeface="Bahnschrift Light SemiCondensed" pitchFamily="34" charset="0"/>
              </a:rPr>
              <a:t>Тестировщики</a:t>
            </a:r>
            <a:r>
              <a:rPr lang="ru-RU" dirty="0" smtClean="0">
                <a:latin typeface="Bahnschrift Light SemiCondensed" pitchFamily="34" charset="0"/>
              </a:rPr>
              <a:t> проверяют сценарии (серый/черный ящик)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Бета-тестирование</a:t>
            </a:r>
            <a:r>
              <a:rPr lang="ru-RU" dirty="0" smtClean="0">
                <a:latin typeface="Bahnschrift Light SemiCondensed" pitchFamily="34" charset="0"/>
              </a:rPr>
              <a:t> </a:t>
            </a:r>
            <a:r>
              <a:rPr lang="ru-RU" dirty="0" smtClean="0">
                <a:latin typeface="Bahnschrift Light SemiCondensed" pitchFamily="34" charset="0"/>
              </a:rPr>
              <a:t>- </a:t>
            </a:r>
            <a:r>
              <a:rPr lang="ru-RU" dirty="0" smtClean="0">
                <a:latin typeface="Bahnschrift Light SemiCondensed" pitchFamily="34" charset="0"/>
              </a:rPr>
              <a:t>Выпуск для миллионов пользователей</a:t>
            </a:r>
          </a:p>
          <a:p>
            <a:pPr>
              <a:buNone/>
            </a:pPr>
            <a:r>
              <a:rPr lang="ru-RU" b="1" dirty="0" smtClean="0">
                <a:latin typeface="Bahnschrift Light SemiCondensed" pitchFamily="34" charset="0"/>
              </a:rPr>
              <a:t>Сбор обратной связи</a:t>
            </a:r>
            <a:r>
              <a:rPr lang="ru-RU" dirty="0" smtClean="0">
                <a:latin typeface="Bahnschrift Light SemiCondensed" pitchFamily="34" charset="0"/>
              </a:rPr>
              <a:t> </a:t>
            </a:r>
            <a:r>
              <a:rPr lang="ru-RU" dirty="0" smtClean="0">
                <a:latin typeface="Bahnschrift Light SemiCondensed" pitchFamily="34" charset="0"/>
              </a:rPr>
              <a:t>- </a:t>
            </a:r>
            <a:r>
              <a:rPr lang="ru-RU" dirty="0" smtClean="0">
                <a:latin typeface="Bahnschrift Light SemiCondensed" pitchFamily="34" charset="0"/>
              </a:rPr>
              <a:t>Исправление ошибок </a:t>
            </a:r>
            <a:r>
              <a:rPr lang="ru-RU" dirty="0" smtClean="0">
                <a:latin typeface="Bahnschrift Light SemiCondensed" pitchFamily="34" charset="0"/>
              </a:rPr>
              <a:t>- </a:t>
            </a:r>
            <a:r>
              <a:rPr lang="ru-RU" dirty="0" smtClean="0">
                <a:latin typeface="Bahnschrift Light SemiCondensed" pitchFamily="34" charset="0"/>
              </a:rPr>
              <a:t>Выпуск финальной </a:t>
            </a:r>
            <a:r>
              <a:rPr lang="ru-RU" dirty="0" smtClean="0">
                <a:latin typeface="Bahnschrift Light SemiCondensed" pitchFamily="34" charset="0"/>
              </a:rPr>
              <a:t>версии</a:t>
            </a:r>
            <a:endParaRPr lang="ru-RU" dirty="0" smtClean="0">
              <a:latin typeface="Bahnschrift Light SemiCondensed" pitchFamily="34" charset="0"/>
            </a:endParaRPr>
          </a:p>
        </p:txBody>
      </p:sp>
      <p:pic>
        <p:nvPicPr>
          <p:cNvPr id="24578" name="Picture 2" descr="https://i.pinimg.com/736x/c2/98/c1/c298c13859ab4163ba7843438eefd38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116632"/>
            <a:ext cx="2274587" cy="2160240"/>
          </a:xfrm>
          <a:prstGeom prst="rect">
            <a:avLst/>
          </a:prstGeom>
          <a:noFill/>
        </p:spPr>
      </p:pic>
      <p:pic>
        <p:nvPicPr>
          <p:cNvPr id="24580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2348880"/>
            <a:ext cx="2291164" cy="2160240"/>
          </a:xfrm>
          <a:prstGeom prst="rect">
            <a:avLst/>
          </a:prstGeom>
          <a:noFill/>
        </p:spPr>
      </p:pic>
      <p:pic>
        <p:nvPicPr>
          <p:cNvPr id="24582" name="Picture 6" descr="https://i.pinimg.com/736x/26/35/74/2635742b8e97b77dfb01d3f4a8c2219d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0232" y="4581128"/>
            <a:ext cx="2305878" cy="20894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Итог: почему это важно</a:t>
            </a:r>
            <a:r>
              <a:rPr lang="ru-RU" dirty="0" smtClean="0">
                <a:latin typeface="Bahnschrift Condensed" pitchFamily="34" charset="0"/>
              </a:rPr>
              <a:t>?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949280"/>
            <a:ext cx="154360" cy="176883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25603" name="Picture 3" descr="C:\Users\79774\Downloads\2026-02-05_17-43-3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980728"/>
            <a:ext cx="7927776" cy="3688618"/>
          </a:xfrm>
          <a:prstGeom prst="rect">
            <a:avLst/>
          </a:prstGeom>
          <a:noFill/>
        </p:spPr>
      </p:pic>
      <p:pic>
        <p:nvPicPr>
          <p:cNvPr id="25605" name="Picture 5" descr="https://i.pinimg.com/736x/55/95/13/55951386a763a865850f0576264e5d9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869160"/>
            <a:ext cx="9144000" cy="19888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s://i.pinimg.com/736x/96/8a/66/968a66a8d0e01cd4cdac5ad341967b5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5517232"/>
            <a:ext cx="8229600" cy="1143000"/>
          </a:xfrm>
          <a:solidFill>
            <a:srgbClr val="FFFFFF"/>
          </a:solidFill>
        </p:spPr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Спасибо за внимание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877272"/>
            <a:ext cx="82352" cy="248891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ru-RU" dirty="0" smtClean="0"/>
              <a:t>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234</Words>
  <Application>Microsoft Office PowerPoint</Application>
  <PresentationFormat>Экран (4:3)</PresentationFormat>
  <Paragraphs>85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Тестирование операционных систем</vt:lpstr>
      <vt:lpstr>Почему ОС необходимо особое тестирование?</vt:lpstr>
      <vt:lpstr>Методологии тестирования: 3 подхода</vt:lpstr>
      <vt:lpstr>Черный ящик – взгляд пользователя</vt:lpstr>
      <vt:lpstr>Белый ящик – взгляд разработчика</vt:lpstr>
      <vt:lpstr>Серый ящик – самый практичный подход</vt:lpstr>
      <vt:lpstr>Уровни тестирования ОС</vt:lpstr>
      <vt:lpstr>Системное тестирование – проверяем все!</vt:lpstr>
      <vt:lpstr> Современные методы – Фаззинг</vt:lpstr>
      <vt:lpstr>Автоматизация – без нее никак</vt:lpstr>
      <vt:lpstr>Главные трудности</vt:lpstr>
      <vt:lpstr>Процесс в реальной компании</vt:lpstr>
      <vt:lpstr>Итог: почему это важно?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Тестирование операционных систем</dc:title>
  <dc:creator>79774</dc:creator>
  <cp:lastModifiedBy>79774075648</cp:lastModifiedBy>
  <cp:revision>9</cp:revision>
  <dcterms:created xsi:type="dcterms:W3CDTF">2026-02-05T13:21:09Z</dcterms:created>
  <dcterms:modified xsi:type="dcterms:W3CDTF">2026-02-05T14:46:24Z</dcterms:modified>
</cp:coreProperties>
</file>