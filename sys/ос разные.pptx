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avatars.mds.yandex.net/i?id=5fb01a4440ec50a42a3c6924377d8803d6b0a7fb-5858868-images-thumbs&amp;n=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700808"/>
            <a:ext cx="6732240" cy="3366121"/>
          </a:xfrm>
          <a:prstGeom prst="rect">
            <a:avLst/>
          </a:prstGeom>
          <a:noFill/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75656" y="4653136"/>
            <a:ext cx="5940152" cy="1752600"/>
          </a:xfrm>
        </p:spPr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Ключевые вехи в развитии вычислительной техники</a:t>
            </a:r>
            <a:endParaRPr lang="ru-RU" dirty="0">
              <a:latin typeface="Bahnschrift SemiCondensed" pitchFamily="34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0" y="404664"/>
            <a:ext cx="9144000" cy="1470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 </a:t>
            </a:r>
            <a:r>
              <a:rPr lang="ru-RU" dirty="0" smtClean="0">
                <a:latin typeface="Bahnschrift Condensed" pitchFamily="34" charset="0"/>
              </a:rPr>
              <a:t>Эволюция операционных систем: от UNIX до </a:t>
            </a:r>
            <a:r>
              <a:rPr lang="ru-RU" dirty="0" err="1" smtClean="0">
                <a:latin typeface="Bahnschrift Condensed" pitchFamily="34" charset="0"/>
              </a:rPr>
              <a:t>iOS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1032" name="Picture 8" descr="https://avatars.mds.yandex.net/i?id=d65dcaff479fdd5c6ddf3b093639a7d73fa492dd-4079994-images-thumbs&amp;n=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2276872"/>
            <a:ext cx="2088232" cy="2088233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i.pinimg.com/736x/98/e7/d5/98e7d51fb41c7aedd9cb1d2fe4f8283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429125"/>
            <a:ext cx="9144000" cy="2428875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Что такое ОС и почему ее история важна?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Bahnschrift SemiCondensed" pitchFamily="34" charset="0"/>
              </a:rPr>
              <a:t>ПО, которое управляет ресурсами компьютера и связывает пользователя, программы и «железо».</a:t>
            </a:r>
          </a:p>
          <a:p>
            <a:r>
              <a:rPr lang="ru-RU" dirty="0" smtClean="0">
                <a:latin typeface="Bahnschrift SemiCondensed" pitchFamily="34" charset="0"/>
              </a:rPr>
              <a:t>История ОС = история эволюции компьютеров: </a:t>
            </a:r>
            <a:r>
              <a:rPr lang="ru-RU" dirty="0" err="1" smtClean="0">
                <a:latin typeface="Bahnschrift SemiCondensed" pitchFamily="34" charset="0"/>
              </a:rPr>
              <a:t>мейнфреймы</a:t>
            </a:r>
            <a:r>
              <a:rPr lang="ru-RU" dirty="0" smtClean="0">
                <a:latin typeface="Bahnschrift SemiCondensed" pitchFamily="34" charset="0"/>
              </a:rPr>
              <a:t> → ПК → мобильные устройства.</a:t>
            </a:r>
          </a:p>
          <a:p>
            <a:r>
              <a:rPr lang="ru-RU" dirty="0" smtClean="0">
                <a:latin typeface="Bahnschrift SemiCondensed" pitchFamily="34" charset="0"/>
              </a:rPr>
              <a:t>Сегодня рассмотрим 5 ОС, изменивших мир.</a:t>
            </a:r>
          </a:p>
          <a:p>
            <a:endParaRPr lang="ru-RU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i.pinimg.com/736x/75/75/2c/75752c8a6c7616abda09f78e43bec73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96346"/>
            <a:ext cx="9144000" cy="3361654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F1115"/>
                </a:solidFill>
                <a:latin typeface="Bahnschrift Condensed" pitchFamily="34" charset="0"/>
              </a:rPr>
              <a:t>UNIX (1969) — </a:t>
            </a:r>
            <a:r>
              <a:rPr lang="ru-RU" b="1" dirty="0" smtClean="0">
                <a:solidFill>
                  <a:srgbClr val="0F1115"/>
                </a:solidFill>
                <a:latin typeface="Bahnschrift Condensed" pitchFamily="34" charset="0"/>
              </a:rPr>
              <a:t>Вечный фундамент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48680"/>
            <a:ext cx="8229600" cy="3096344"/>
          </a:xfrm>
        </p:spPr>
        <p:txBody>
          <a:bodyPr>
            <a:noAutofit/>
          </a:bodyPr>
          <a:lstStyle/>
          <a:p>
            <a:r>
              <a:rPr lang="ru-RU" sz="2400" b="1" dirty="0" smtClean="0">
                <a:latin typeface="Bahnschrift SemiCondensed" pitchFamily="34" charset="0"/>
              </a:rPr>
              <a:t>Создатели</a:t>
            </a:r>
            <a:r>
              <a:rPr lang="ru-RU" sz="2400" dirty="0" smtClean="0">
                <a:latin typeface="Bahnschrift SemiCondensed" pitchFamily="34" charset="0"/>
              </a:rPr>
              <a:t>: Кен Томпсон, </a:t>
            </a:r>
            <a:r>
              <a:rPr lang="ru-RU" sz="2400" dirty="0" err="1" smtClean="0">
                <a:latin typeface="Bahnschrift SemiCondensed" pitchFamily="34" charset="0"/>
              </a:rPr>
              <a:t>Деннис</a:t>
            </a:r>
            <a:r>
              <a:rPr lang="ru-RU" sz="2400" dirty="0" smtClean="0">
                <a:latin typeface="Bahnschrift SemiCondensed" pitchFamily="34" charset="0"/>
              </a:rPr>
              <a:t> </a:t>
            </a:r>
            <a:r>
              <a:rPr lang="ru-RU" sz="2400" dirty="0" err="1" smtClean="0">
                <a:latin typeface="Bahnschrift SemiCondensed" pitchFamily="34" charset="0"/>
              </a:rPr>
              <a:t>Ритчи</a:t>
            </a:r>
            <a:r>
              <a:rPr lang="ru-RU" sz="2400" dirty="0" smtClean="0">
                <a:latin typeface="Bahnschrift SemiCondensed" pitchFamily="34" charset="0"/>
              </a:rPr>
              <a:t> (</a:t>
            </a:r>
            <a:r>
              <a:rPr lang="ru-RU" sz="2400" dirty="0" err="1" smtClean="0">
                <a:latin typeface="Bahnschrift SemiCondensed" pitchFamily="34" charset="0"/>
              </a:rPr>
              <a:t>Bell</a:t>
            </a:r>
            <a:r>
              <a:rPr lang="ru-RU" sz="2400" dirty="0" smtClean="0">
                <a:latin typeface="Bahnschrift SemiCondensed" pitchFamily="34" charset="0"/>
              </a:rPr>
              <a:t> </a:t>
            </a:r>
            <a:r>
              <a:rPr lang="ru-RU" sz="2400" dirty="0" err="1" smtClean="0">
                <a:latin typeface="Bahnschrift SemiCondensed" pitchFamily="34" charset="0"/>
              </a:rPr>
              <a:t>Labs</a:t>
            </a:r>
            <a:r>
              <a:rPr lang="ru-RU" sz="2400" dirty="0" smtClean="0">
                <a:latin typeface="Bahnschrift SemiCondensed" pitchFamily="34" charset="0"/>
              </a:rPr>
              <a:t>).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Написана на языке Си → переносимость.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Философия: «Все есть файл».</a:t>
            </a:r>
          </a:p>
          <a:p>
            <a:r>
              <a:rPr lang="ru-RU" sz="2400" dirty="0" smtClean="0">
                <a:latin typeface="Bahnschrift SemiCondensed" pitchFamily="34" charset="0"/>
              </a:rPr>
              <a:t>Множество маленьких утилит, объединяемых конвейерами (</a:t>
            </a:r>
            <a:r>
              <a:rPr lang="ru-RU" sz="2400" dirty="0" err="1" smtClean="0">
                <a:latin typeface="Bahnschrift SemiCondensed" pitchFamily="34" charset="0"/>
              </a:rPr>
              <a:t>pipes</a:t>
            </a:r>
            <a:r>
              <a:rPr lang="ru-RU" sz="2400" dirty="0" smtClean="0">
                <a:latin typeface="Bahnschrift SemiCondensed" pitchFamily="34" charset="0"/>
              </a:rPr>
              <a:t>).</a:t>
            </a:r>
          </a:p>
          <a:p>
            <a:r>
              <a:rPr lang="ru-RU" sz="2400" b="1" dirty="0" smtClean="0">
                <a:latin typeface="Bahnschrift SemiCondensed" pitchFamily="34" charset="0"/>
              </a:rPr>
              <a:t>Значение:</a:t>
            </a:r>
            <a:r>
              <a:rPr lang="ru-RU" sz="2400" dirty="0" smtClean="0">
                <a:latin typeface="Bahnschrift SemiCondensed" pitchFamily="34" charset="0"/>
              </a:rPr>
              <a:t> Заложила архитектурную и философскую основу для большинства современных ОС.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4847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u="sng" dirty="0" smtClean="0">
                <a:latin typeface="Bahnschrift Condensed" pitchFamily="34" charset="0"/>
              </a:rPr>
              <a:t>MS-DOS (1981) — Эра командной строки для ПК</a:t>
            </a:r>
            <a:endParaRPr lang="ru-RU" u="sng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2332037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latin typeface="Bahnschrift SemiCondensed" pitchFamily="34" charset="0"/>
              </a:rPr>
              <a:t>Контекст: Создана </a:t>
            </a:r>
            <a:r>
              <a:rPr lang="ru-RU" dirty="0" err="1" smtClean="0">
                <a:latin typeface="Bahnschrift SemiCondensed" pitchFamily="34" charset="0"/>
              </a:rPr>
              <a:t>Microsoft</a:t>
            </a:r>
            <a:r>
              <a:rPr lang="ru-RU" dirty="0" smtClean="0">
                <a:latin typeface="Bahnschrift SemiCondensed" pitchFamily="34" charset="0"/>
              </a:rPr>
              <a:t> для IBM PC на основе 86-DOS.</a:t>
            </a:r>
          </a:p>
          <a:p>
            <a:r>
              <a:rPr lang="ru-RU" dirty="0" smtClean="0">
                <a:latin typeface="Bahnschrift SemiCondensed" pitchFamily="34" charset="0"/>
              </a:rPr>
              <a:t>Особенности: Однозадачная, командная строка, ограничение памяти (640 КБ).</a:t>
            </a:r>
          </a:p>
          <a:p>
            <a:r>
              <a:rPr lang="ru-RU" dirty="0" smtClean="0">
                <a:latin typeface="Bahnschrift SemiCondensed" pitchFamily="34" charset="0"/>
              </a:rPr>
              <a:t>Успех: Стала стандартом благодаря открытой архитектуре IBM PC-совместимых компьютеров.</a:t>
            </a:r>
          </a:p>
          <a:p>
            <a:r>
              <a:rPr lang="ru-RU" dirty="0" smtClean="0">
                <a:latin typeface="Bahnschrift SemiCondensed" pitchFamily="34" charset="0"/>
              </a:rPr>
              <a:t>Закат: Устаревшая архитектура, вытеснена графическими ОС.</a:t>
            </a:r>
          </a:p>
          <a:p>
            <a:endParaRPr lang="ru-RU" dirty="0"/>
          </a:p>
        </p:txBody>
      </p:sp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700808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1"/>
            <a:ext cx="3275856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52536" y="0"/>
            <a:ext cx="648072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Bahnschrift Condensed" pitchFamily="34" charset="0"/>
              </a:rPr>
              <a:t>Microsoft Windows — </a:t>
            </a:r>
            <a:r>
              <a:rPr lang="ru-RU" dirty="0" smtClean="0">
                <a:latin typeface="Bahnschrift Condensed" pitchFamily="34" charset="0"/>
              </a:rPr>
              <a:t>Демократизация графики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340768"/>
            <a:ext cx="6228184" cy="551723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 smtClean="0">
                <a:latin typeface="Bahnschrift SemiCondensed" pitchFamily="34" charset="0"/>
              </a:rPr>
              <a:t>1985-1992:</a:t>
            </a:r>
            <a:r>
              <a:rPr lang="ru-RU" dirty="0" smtClean="0">
                <a:latin typeface="Bahnschrift SemiCondensed" pitchFamily="34" charset="0"/>
              </a:rPr>
              <a:t> Оболочка над DOS (</a:t>
            </a:r>
            <a:r>
              <a:rPr lang="ru-RU" dirty="0" err="1" smtClean="0">
                <a:latin typeface="Bahnschrift SemiCondensed" pitchFamily="34" charset="0"/>
              </a:rPr>
              <a:t>Win</a:t>
            </a:r>
            <a:r>
              <a:rPr lang="ru-RU" dirty="0" smtClean="0">
                <a:latin typeface="Bahnschrift SemiCondensed" pitchFamily="34" charset="0"/>
              </a:rPr>
              <a:t> 1.0-3.1).</a:t>
            </a:r>
          </a:p>
          <a:p>
            <a:pPr>
              <a:buNone/>
            </a:pPr>
            <a:r>
              <a:rPr lang="ru-RU" b="1" dirty="0" smtClean="0">
                <a:latin typeface="Bahnschrift SemiCondensed" pitchFamily="34" charset="0"/>
              </a:rPr>
              <a:t>1995-2000:</a:t>
            </a:r>
            <a:r>
              <a:rPr lang="ru-RU" dirty="0" smtClean="0">
                <a:latin typeface="Bahnschrift SemiCondensed" pitchFamily="34" charset="0"/>
              </a:rPr>
              <a:t> Революция интерфейса («Пуск», панель задач) — </a:t>
            </a:r>
            <a:r>
              <a:rPr lang="ru-RU" dirty="0" err="1" smtClean="0">
                <a:latin typeface="Bahnschrift SemiCondensed" pitchFamily="34" charset="0"/>
              </a:rPr>
              <a:t>Win</a:t>
            </a:r>
            <a:r>
              <a:rPr lang="ru-RU" dirty="0" smtClean="0">
                <a:latin typeface="Bahnschrift SemiCondensed" pitchFamily="34" charset="0"/>
              </a:rPr>
              <a:t> 95/98, но все еще на базе DOS.</a:t>
            </a:r>
          </a:p>
          <a:p>
            <a:pPr>
              <a:buNone/>
            </a:pPr>
            <a:r>
              <a:rPr lang="ru-RU" b="1" dirty="0" smtClean="0">
                <a:latin typeface="Bahnschrift SemiCondensed" pitchFamily="34" charset="0"/>
              </a:rPr>
              <a:t>С 1993:</a:t>
            </a:r>
            <a:r>
              <a:rPr lang="ru-RU" dirty="0" smtClean="0">
                <a:latin typeface="Bahnschrift SemiCondensed" pitchFamily="34" charset="0"/>
              </a:rPr>
              <a:t> Параллельно — мощная </a:t>
            </a:r>
            <a:r>
              <a:rPr lang="ru-RU" b="1" dirty="0" err="1" smtClean="0">
                <a:latin typeface="Bahnschrift SemiCondensed" pitchFamily="34" charset="0"/>
              </a:rPr>
              <a:t>Windows</a:t>
            </a:r>
            <a:r>
              <a:rPr lang="ru-RU" b="1" dirty="0" smtClean="0">
                <a:latin typeface="Bahnschrift SemiCondensed" pitchFamily="34" charset="0"/>
              </a:rPr>
              <a:t> NT</a:t>
            </a:r>
            <a:r>
              <a:rPr lang="ru-RU" dirty="0" smtClean="0">
                <a:latin typeface="Bahnschrift SemiCondensed" pitchFamily="34" charset="0"/>
              </a:rPr>
              <a:t> (новая архитектура).</a:t>
            </a:r>
          </a:p>
          <a:p>
            <a:pPr>
              <a:buNone/>
            </a:pPr>
            <a:r>
              <a:rPr lang="ru-RU" b="1" dirty="0" smtClean="0">
                <a:latin typeface="Bahnschrift SemiCondensed" pitchFamily="34" charset="0"/>
              </a:rPr>
              <a:t>2001:</a:t>
            </a:r>
            <a:r>
              <a:rPr lang="ru-RU" dirty="0" smtClean="0">
                <a:latin typeface="Bahnschrift SemiCondensed" pitchFamily="34" charset="0"/>
              </a:rPr>
              <a:t> Конвергенция → </a:t>
            </a:r>
            <a:r>
              <a:rPr lang="ru-RU" b="1" dirty="0" err="1" smtClean="0">
                <a:latin typeface="Bahnschrift SemiCondensed" pitchFamily="34" charset="0"/>
              </a:rPr>
              <a:t>Windows</a:t>
            </a:r>
            <a:r>
              <a:rPr lang="ru-RU" b="1" dirty="0" smtClean="0">
                <a:latin typeface="Bahnschrift SemiCondensed" pitchFamily="34" charset="0"/>
              </a:rPr>
              <a:t> XP</a:t>
            </a:r>
            <a:r>
              <a:rPr lang="ru-RU" dirty="0" smtClean="0">
                <a:latin typeface="Bahnschrift SemiCondensed" pitchFamily="34" charset="0"/>
              </a:rPr>
              <a:t> (стабильность и массовость).</a:t>
            </a:r>
          </a:p>
          <a:p>
            <a:pPr>
              <a:buNone/>
            </a:pPr>
            <a:r>
              <a:rPr lang="ru-RU" b="1" dirty="0" smtClean="0">
                <a:latin typeface="Bahnschrift SemiCondensed" pitchFamily="34" charset="0"/>
              </a:rPr>
              <a:t>Современность:</a:t>
            </a:r>
            <a:r>
              <a:rPr lang="ru-RU" dirty="0" smtClean="0">
                <a:latin typeface="Bahnschrift SemiCondensed" pitchFamily="34" charset="0"/>
              </a:rPr>
              <a:t> Платформа NT (</a:t>
            </a:r>
            <a:r>
              <a:rPr lang="ru-RU" dirty="0" err="1" smtClean="0">
                <a:latin typeface="Bahnschrift SemiCondensed" pitchFamily="34" charset="0"/>
              </a:rPr>
              <a:t>Win</a:t>
            </a:r>
            <a:r>
              <a:rPr lang="ru-RU" dirty="0" smtClean="0">
                <a:latin typeface="Bahnschrift SemiCondensed" pitchFamily="34" charset="0"/>
              </a:rPr>
              <a:t> 10/11), доминирование на ПК.</a:t>
            </a:r>
            <a:endParaRPr lang="ru-RU" dirty="0">
              <a:latin typeface="Bahnschrift SemiCondensed" pitchFamily="34" charset="0"/>
            </a:endParaRP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8" name="Picture 6" descr="https://i.pinimg.com/736x/f5/0c/be/f50cbe468208f2997a35518a64e342e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6084168" y="1052736"/>
            <a:ext cx="3203848" cy="3563889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08720"/>
          </a:xfrm>
        </p:spPr>
        <p:txBody>
          <a:bodyPr>
            <a:normAutofit/>
          </a:bodyPr>
          <a:lstStyle/>
          <a:p>
            <a:r>
              <a:rPr lang="ru-RU" dirty="0" err="1" smtClean="0">
                <a:latin typeface="Bahnschrift Condensed" pitchFamily="34" charset="0"/>
              </a:rPr>
              <a:t>Linux</a:t>
            </a:r>
            <a:r>
              <a:rPr lang="ru-RU" dirty="0" smtClean="0">
                <a:latin typeface="Bahnschrift Condensed" pitchFamily="34" charset="0"/>
              </a:rPr>
              <a:t> (1991) — Триумф открытого кода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8229600" cy="4741987"/>
          </a:xfrm>
        </p:spPr>
        <p:txBody>
          <a:bodyPr/>
          <a:lstStyle/>
          <a:p>
            <a:r>
              <a:rPr lang="ru-RU" b="1" dirty="0" smtClean="0">
                <a:latin typeface="Bahnschrift SemiCondensed" pitchFamily="34" charset="0"/>
              </a:rPr>
              <a:t>Создатель:</a:t>
            </a:r>
            <a:r>
              <a:rPr lang="ru-RU" dirty="0" smtClean="0">
                <a:latin typeface="Bahnschrift SemiCondensed" pitchFamily="34" charset="0"/>
              </a:rPr>
              <a:t> </a:t>
            </a:r>
            <a:r>
              <a:rPr lang="ru-RU" dirty="0" err="1" smtClean="0">
                <a:latin typeface="Bahnschrift SemiCondensed" pitchFamily="34" charset="0"/>
              </a:rPr>
              <a:t>Линус</a:t>
            </a:r>
            <a:r>
              <a:rPr lang="ru-RU" dirty="0" smtClean="0">
                <a:latin typeface="Bahnschrift SemiCondensed" pitchFamily="34" charset="0"/>
              </a:rPr>
              <a:t> </a:t>
            </a:r>
            <a:r>
              <a:rPr lang="ru-RU" dirty="0" err="1" smtClean="0">
                <a:latin typeface="Bahnschrift SemiCondensed" pitchFamily="34" charset="0"/>
              </a:rPr>
              <a:t>Торвальдс</a:t>
            </a:r>
            <a:r>
              <a:rPr lang="ru-RU" dirty="0" smtClean="0">
                <a:latin typeface="Bahnschrift SemiCondensed" pitchFamily="34" charset="0"/>
              </a:rPr>
              <a:t> (1991 г.).</a:t>
            </a:r>
          </a:p>
          <a:p>
            <a:r>
              <a:rPr lang="ru-RU" b="1" dirty="0" smtClean="0">
                <a:latin typeface="Bahnschrift SemiCondensed" pitchFamily="34" charset="0"/>
              </a:rPr>
              <a:t>Философия:</a:t>
            </a:r>
            <a:r>
              <a:rPr lang="ru-RU" dirty="0" smtClean="0">
                <a:latin typeface="Bahnschrift SemiCondensed" pitchFamily="34" charset="0"/>
              </a:rPr>
              <a:t> Свободное и открытое ПО (FOSS), лицензия GPL.</a:t>
            </a:r>
          </a:p>
          <a:p>
            <a:r>
              <a:rPr lang="ru-RU" b="1" dirty="0" smtClean="0">
                <a:latin typeface="Bahnschrift SemiCondensed" pitchFamily="34" charset="0"/>
              </a:rPr>
              <a:t>Феномен дистрибутивов:</a:t>
            </a:r>
            <a:r>
              <a:rPr lang="ru-RU" dirty="0" smtClean="0">
                <a:latin typeface="Bahnschrift SemiCondensed" pitchFamily="34" charset="0"/>
              </a:rPr>
              <a:t> Ядро + наборы утилит (</a:t>
            </a:r>
            <a:r>
              <a:rPr lang="ru-RU" dirty="0" err="1" smtClean="0">
                <a:latin typeface="Bahnschrift SemiCondensed" pitchFamily="34" charset="0"/>
              </a:rPr>
              <a:t>Ubuntu</a:t>
            </a:r>
            <a:r>
              <a:rPr lang="ru-RU" dirty="0" smtClean="0">
                <a:latin typeface="Bahnschrift SemiCondensed" pitchFamily="34" charset="0"/>
              </a:rPr>
              <a:t>, </a:t>
            </a:r>
            <a:r>
              <a:rPr lang="ru-RU" dirty="0" err="1" smtClean="0">
                <a:latin typeface="Bahnschrift SemiCondensed" pitchFamily="34" charset="0"/>
              </a:rPr>
              <a:t>Fedora</a:t>
            </a:r>
            <a:r>
              <a:rPr lang="ru-RU" dirty="0" smtClean="0">
                <a:latin typeface="Bahnschrift SemiCondensed" pitchFamily="34" charset="0"/>
              </a:rPr>
              <a:t>, RHEL, </a:t>
            </a:r>
            <a:r>
              <a:rPr lang="ru-RU" dirty="0" err="1" smtClean="0">
                <a:latin typeface="Bahnschrift SemiCondensed" pitchFamily="34" charset="0"/>
              </a:rPr>
              <a:t>Android</a:t>
            </a:r>
            <a:r>
              <a:rPr lang="ru-RU" dirty="0" smtClean="0">
                <a:latin typeface="Bahnschrift SemiCondensed" pitchFamily="34" charset="0"/>
              </a:rPr>
              <a:t>).</a:t>
            </a:r>
          </a:p>
          <a:p>
            <a:r>
              <a:rPr lang="ru-RU" b="1" dirty="0" smtClean="0">
                <a:latin typeface="Bahnschrift SemiCondensed" pitchFamily="34" charset="0"/>
              </a:rPr>
              <a:t>Где правит?:</a:t>
            </a:r>
            <a:r>
              <a:rPr lang="ru-RU" dirty="0" smtClean="0">
                <a:latin typeface="Bahnschrift SemiCondensed" pitchFamily="34" charset="0"/>
              </a:rPr>
              <a:t> Серверы (~80% интернета), суперкомпьютеры (&gt;90%), встраиваемые системы, </a:t>
            </a:r>
            <a:r>
              <a:rPr lang="ru-RU" dirty="0" err="1" smtClean="0">
                <a:latin typeface="Bahnschrift SemiCondensed" pitchFamily="34" charset="0"/>
              </a:rPr>
              <a:t>Android</a:t>
            </a:r>
            <a:r>
              <a:rPr lang="ru-RU" dirty="0" smtClean="0">
                <a:latin typeface="Bahnschrift SemiCondensed" pitchFamily="34" charset="0"/>
              </a:rPr>
              <a:t>.</a:t>
            </a:r>
          </a:p>
          <a:p>
            <a:endParaRPr lang="ru-RU" dirty="0"/>
          </a:p>
        </p:txBody>
      </p:sp>
      <p:pic>
        <p:nvPicPr>
          <p:cNvPr id="18434" name="Picture 2" descr="https://i.pinimg.com/736x/9b/30/33/9b303395ba765e67d49c06497db9a41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229200"/>
            <a:ext cx="9144000" cy="1628800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77072"/>
            <a:ext cx="9144000" cy="3273638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ru-RU" b="1" dirty="0" err="1" smtClean="0">
                <a:solidFill>
                  <a:srgbClr val="0F1115"/>
                </a:solidFill>
                <a:latin typeface="Bahnschrift Condensed" pitchFamily="34" charset="0"/>
              </a:rPr>
              <a:t>iOS</a:t>
            </a:r>
            <a:r>
              <a:rPr lang="ru-RU" b="1" dirty="0" smtClean="0">
                <a:solidFill>
                  <a:srgbClr val="0F1115"/>
                </a:solidFill>
                <a:latin typeface="Bahnschrift Condensed" pitchFamily="34" charset="0"/>
              </a:rPr>
              <a:t> (2007) — ОС для пост-ПК эры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4525963"/>
          </a:xfrm>
        </p:spPr>
        <p:txBody>
          <a:bodyPr>
            <a:normAutofit/>
          </a:bodyPr>
          <a:lstStyle/>
          <a:p>
            <a:r>
              <a:rPr lang="ru-RU" b="1" dirty="0" smtClean="0">
                <a:latin typeface="Bahnschrift SemiCondensed" pitchFamily="34" charset="0"/>
              </a:rPr>
              <a:t>Представлена:</a:t>
            </a:r>
            <a:r>
              <a:rPr lang="ru-RU" dirty="0" smtClean="0">
                <a:latin typeface="Bahnschrift SemiCondensed" pitchFamily="34" charset="0"/>
              </a:rPr>
              <a:t> В 2007 году с первым </a:t>
            </a:r>
            <a:r>
              <a:rPr lang="en-US" dirty="0" err="1" smtClean="0">
                <a:latin typeface="Bahnschrift SemiCondensed" pitchFamily="34" charset="0"/>
              </a:rPr>
              <a:t>iPhone</a:t>
            </a:r>
            <a:r>
              <a:rPr lang="en-US" dirty="0" smtClean="0">
                <a:latin typeface="Bahnschrift SemiCondensed" pitchFamily="34" charset="0"/>
              </a:rPr>
              <a:t>.</a:t>
            </a:r>
          </a:p>
          <a:p>
            <a:r>
              <a:rPr lang="ru-RU" b="1" dirty="0" smtClean="0">
                <a:latin typeface="Bahnschrift SemiCondensed" pitchFamily="34" charset="0"/>
              </a:rPr>
              <a:t>Происхождение:</a:t>
            </a:r>
            <a:r>
              <a:rPr lang="ru-RU" dirty="0" smtClean="0">
                <a:latin typeface="Bahnschrift SemiCondensed" pitchFamily="34" charset="0"/>
              </a:rPr>
              <a:t> Потомок </a:t>
            </a:r>
            <a:r>
              <a:rPr lang="en-US" dirty="0" smtClean="0">
                <a:latin typeface="Bahnschrift SemiCondensed" pitchFamily="34" charset="0"/>
              </a:rPr>
              <a:t>UNIX (</a:t>
            </a:r>
            <a:r>
              <a:rPr lang="ru-RU" dirty="0" smtClean="0">
                <a:latin typeface="Bahnschrift SemiCondensed" pitchFamily="34" charset="0"/>
              </a:rPr>
              <a:t>основана на </a:t>
            </a:r>
            <a:r>
              <a:rPr lang="en-US" dirty="0" smtClean="0">
                <a:latin typeface="Bahnschrift SemiCondensed" pitchFamily="34" charset="0"/>
              </a:rPr>
              <a:t>Darwin — Mach + BSD).</a:t>
            </a:r>
          </a:p>
          <a:p>
            <a:r>
              <a:rPr lang="ru-RU" b="1" dirty="0" smtClean="0">
                <a:latin typeface="Bahnschrift SemiCondensed" pitchFamily="34" charset="0"/>
              </a:rPr>
              <a:t>Философия:</a:t>
            </a:r>
            <a:r>
              <a:rPr lang="ru-RU" dirty="0" smtClean="0">
                <a:latin typeface="Bahnschrift SemiCondensed" pitchFamily="34" charset="0"/>
              </a:rPr>
              <a:t> Полный контроль </a:t>
            </a:r>
            <a:r>
              <a:rPr lang="en-US" dirty="0" smtClean="0">
                <a:latin typeface="Bahnschrift SemiCondensed" pitchFamily="34" charset="0"/>
              </a:rPr>
              <a:t>Apple, </a:t>
            </a:r>
            <a:r>
              <a:rPr lang="ru-RU" dirty="0" smtClean="0">
                <a:latin typeface="Bahnschrift SemiCondensed" pitchFamily="34" charset="0"/>
              </a:rPr>
              <a:t>оптимизация под сенсор, безопасность («песочница»), безупречный </a:t>
            </a:r>
            <a:r>
              <a:rPr lang="en-US" dirty="0" smtClean="0">
                <a:latin typeface="Bahnschrift SemiCondensed" pitchFamily="34" charset="0"/>
              </a:rPr>
              <a:t>UX.</a:t>
            </a:r>
          </a:p>
          <a:p>
            <a:r>
              <a:rPr lang="ru-RU" b="1" dirty="0" smtClean="0">
                <a:latin typeface="Bahnschrift SemiCondensed" pitchFamily="34" charset="0"/>
              </a:rPr>
              <a:t>Эволюция:</a:t>
            </a:r>
            <a:r>
              <a:rPr lang="ru-RU" dirty="0" smtClean="0">
                <a:latin typeface="Bahnschrift SemiCondensed" pitchFamily="34" charset="0"/>
              </a:rPr>
              <a:t> Из ОС для </a:t>
            </a:r>
            <a:r>
              <a:rPr lang="en-US" dirty="0" err="1" smtClean="0">
                <a:latin typeface="Bahnschrift SemiCondensed" pitchFamily="34" charset="0"/>
              </a:rPr>
              <a:t>iPhone</a:t>
            </a:r>
            <a:r>
              <a:rPr lang="en-US" dirty="0" smtClean="0">
                <a:latin typeface="Bahnschrift SemiCondensed" pitchFamily="34" charset="0"/>
              </a:rPr>
              <a:t> </a:t>
            </a:r>
            <a:r>
              <a:rPr lang="ru-RU" dirty="0" smtClean="0">
                <a:latin typeface="Bahnschrift SemiCondensed" pitchFamily="34" charset="0"/>
              </a:rPr>
              <a:t>в семейство (</a:t>
            </a:r>
            <a:r>
              <a:rPr lang="en-US" dirty="0" err="1" smtClean="0">
                <a:latin typeface="Bahnschrift SemiCondensed" pitchFamily="34" charset="0"/>
              </a:rPr>
              <a:t>iPadOS</a:t>
            </a:r>
            <a:r>
              <a:rPr lang="en-US" dirty="0" smtClean="0">
                <a:latin typeface="Bahnschrift SemiCondensed" pitchFamily="34" charset="0"/>
              </a:rPr>
              <a:t>, </a:t>
            </a:r>
            <a:r>
              <a:rPr lang="en-US" dirty="0" err="1" smtClean="0">
                <a:latin typeface="Bahnschrift SemiCondensed" pitchFamily="34" charset="0"/>
              </a:rPr>
              <a:t>tvOS</a:t>
            </a:r>
            <a:r>
              <a:rPr lang="en-US" dirty="0" smtClean="0">
                <a:latin typeface="Bahnschrift SemiCondensed" pitchFamily="34" charset="0"/>
              </a:rPr>
              <a:t>, </a:t>
            </a:r>
            <a:r>
              <a:rPr lang="en-US" dirty="0" err="1" smtClean="0">
                <a:latin typeface="Bahnschrift SemiCondensed" pitchFamily="34" charset="0"/>
              </a:rPr>
              <a:t>watchOS</a:t>
            </a:r>
            <a:r>
              <a:rPr lang="en-US" dirty="0" smtClean="0">
                <a:latin typeface="Bahnschrift SemiCondensed" pitchFamily="34" charset="0"/>
              </a:rPr>
              <a:t>).</a:t>
            </a:r>
          </a:p>
          <a:p>
            <a:endParaRPr lang="ru-RU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052736"/>
          </a:xfrm>
        </p:spPr>
        <p:txBody>
          <a:bodyPr/>
          <a:lstStyle/>
          <a:p>
            <a:r>
              <a:rPr lang="ru-RU" dirty="0" smtClean="0">
                <a:solidFill>
                  <a:srgbClr val="0F1115"/>
                </a:solidFill>
                <a:latin typeface="Bahnschrift Condensed" pitchFamily="34" charset="0"/>
              </a:rPr>
              <a:t>Ключевые различия платформ</a:t>
            </a:r>
            <a:endParaRPr lang="ru-RU" dirty="0">
              <a:latin typeface="Bahnschrift Condensed" pitchFamily="34" charset="0"/>
            </a:endParaRPr>
          </a:p>
        </p:txBody>
      </p:sp>
      <p:pic>
        <p:nvPicPr>
          <p:cNvPr id="4" name="Содержимое 3" descr="2026-01-24_16-15-0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052736"/>
            <a:ext cx="9144000" cy="2880320"/>
          </a:xfrm>
        </p:spPr>
      </p:pic>
      <p:pic>
        <p:nvPicPr>
          <p:cNvPr id="1026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005064"/>
            <a:ext cx="9144000" cy="2852936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dd8676b4d307d4c36e4c06a50f6f0eb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20272" y="0"/>
            <a:ext cx="2421632" cy="624234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Заключение: Наследие и будущее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556792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>
                <a:latin typeface="Bahnschrift SemiLight Condensed" pitchFamily="34" charset="0"/>
              </a:rPr>
              <a:t>Каждая ОС решала задачи своей эпохи.</a:t>
            </a:r>
          </a:p>
          <a:p>
            <a:pPr>
              <a:buNone/>
            </a:pPr>
            <a:r>
              <a:rPr lang="ru-RU" dirty="0" smtClean="0">
                <a:latin typeface="Bahnschrift SemiLight Condensed" pitchFamily="34" charset="0"/>
              </a:rPr>
              <a:t>Итог эволюции: Специализация → массовость → удобство → повсеместность.</a:t>
            </a:r>
          </a:p>
          <a:p>
            <a:pPr>
              <a:buNone/>
            </a:pPr>
            <a:r>
              <a:rPr lang="ru-RU" dirty="0" smtClean="0">
                <a:latin typeface="Bahnschrift SemiLight Condensed" pitchFamily="34" charset="0"/>
              </a:rPr>
              <a:t>Тренды: Конвергенция (одинаковые ОС на разных устройствах), облачные ОС, интерфейсы будущего (AR, голос).</a:t>
            </a:r>
          </a:p>
          <a:p>
            <a:pPr>
              <a:buNone/>
            </a:pPr>
            <a:r>
              <a:rPr lang="ru-RU" dirty="0" smtClean="0">
                <a:latin typeface="Bahnschrift SemiLight Condensed" pitchFamily="34" charset="0"/>
              </a:rPr>
              <a:t>Наследие UNIX, открытость </a:t>
            </a:r>
            <a:r>
              <a:rPr lang="ru-RU" dirty="0" err="1" smtClean="0">
                <a:latin typeface="Bahnschrift SemiLight Condensed" pitchFamily="34" charset="0"/>
              </a:rPr>
              <a:t>Linux</a:t>
            </a:r>
            <a:r>
              <a:rPr lang="ru-RU" dirty="0" smtClean="0">
                <a:latin typeface="Bahnschrift SemiLight Condensed" pitchFamily="34" charset="0"/>
              </a:rPr>
              <a:t>, </a:t>
            </a:r>
            <a:r>
              <a:rPr lang="ru-RU" dirty="0" err="1" smtClean="0">
                <a:latin typeface="Bahnschrift SemiLight Condensed" pitchFamily="34" charset="0"/>
              </a:rPr>
              <a:t>экосистемность</a:t>
            </a:r>
            <a:r>
              <a:rPr lang="ru-RU" dirty="0" smtClean="0">
                <a:latin typeface="Bahnschrift SemiLight Condensed" pitchFamily="34" charset="0"/>
              </a:rPr>
              <a:t> </a:t>
            </a:r>
            <a:r>
              <a:rPr lang="ru-RU" dirty="0" err="1" smtClean="0">
                <a:latin typeface="Bahnschrift SemiLight Condensed" pitchFamily="34" charset="0"/>
              </a:rPr>
              <a:t>Windows</a:t>
            </a:r>
            <a:r>
              <a:rPr lang="ru-RU" dirty="0" smtClean="0">
                <a:latin typeface="Bahnschrift SemiLight Condensed" pitchFamily="34" charset="0"/>
              </a:rPr>
              <a:t> и </a:t>
            </a:r>
            <a:r>
              <a:rPr lang="ru-RU" dirty="0" err="1" smtClean="0">
                <a:latin typeface="Bahnschrift SemiLight Condensed" pitchFamily="34" charset="0"/>
              </a:rPr>
              <a:t>iOS</a:t>
            </a:r>
            <a:r>
              <a:rPr lang="ru-RU" dirty="0" smtClean="0">
                <a:latin typeface="Bahnschrift SemiLight Condensed" pitchFamily="34" charset="0"/>
              </a:rPr>
              <a:t> продолжают формировать цифровой мир.</a:t>
            </a:r>
          </a:p>
          <a:p>
            <a:endParaRPr lang="ru-RU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8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76672"/>
            <a:ext cx="7000875" cy="5629276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110</Words>
  <Application>Microsoft Office PowerPoint</Application>
  <PresentationFormat>Экран (4:3)</PresentationFormat>
  <Paragraphs>39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 Эволюция операционных систем: от UNIX до iOS</vt:lpstr>
      <vt:lpstr>Что такое ОС и почему ее история важна?</vt:lpstr>
      <vt:lpstr>UNIX (1969) — Вечный фундамент</vt:lpstr>
      <vt:lpstr>MS-DOS (1981) — Эра командной строки для ПК</vt:lpstr>
      <vt:lpstr>Microsoft Windows — Демократизация графики</vt:lpstr>
      <vt:lpstr>Linux (1991) — Триумф открытого кода</vt:lpstr>
      <vt:lpstr> iOS (2007) — ОС для пост-ПК эры</vt:lpstr>
      <vt:lpstr>Ключевые различия платформ</vt:lpstr>
      <vt:lpstr>Заключение: Наследие и будущее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Эволюция операционных систем: от UNIX до iOS</dc:title>
  <dc:creator>79774</dc:creator>
  <cp:lastModifiedBy>79774075648</cp:lastModifiedBy>
  <cp:revision>11</cp:revision>
  <dcterms:created xsi:type="dcterms:W3CDTF">2026-01-24T12:05:06Z</dcterms:created>
  <dcterms:modified xsi:type="dcterms:W3CDTF">2026-01-25T15:20:00Z</dcterms:modified>
</cp:coreProperties>
</file>